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80356" cy="453588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2962656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9A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t_tmu_logo_320x1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87552"/>
            <a:ext cx="2926080" cy="1234440"/>
          </a:xfrm>
          <a:prstGeom prst="rect">
            <a:avLst/>
          </a:prstGeom>
        </p:spPr>
      </p:pic>
      <p:pic>
        <p:nvPicPr>
          <p:cNvPr id="4" name="Picture 3" descr="fit_wcci2026_logo_254x16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0" y="621792"/>
            <a:ext cx="2331720" cy="1508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438912"/>
            <a:ext cx="21854160" cy="1078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100" b="1" i="0">
                <a:solidFill>
                  <a:srgbClr val="163158"/>
                </a:solidFill>
                <a:latin typeface="Aptos"/>
              </a:rPr>
              <a:t>Edge-Cell Graph Encoding and Fixed-Point Arithmetic for FPGA Growing Neural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627632"/>
            <a:ext cx="150876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1" i="0">
                <a:solidFill>
                  <a:srgbClr val="2D5C97"/>
                </a:solidFill>
                <a:latin typeface="Aptos"/>
              </a:rPr>
              <a:t>Integer-only online topology learning on a sub-10K-LUT FPGA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176272"/>
            <a:ext cx="204825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40" b="0" i="0">
                <a:solidFill>
                  <a:srgbClr val="465870"/>
                </a:solidFill>
                <a:latin typeface="Aptos"/>
              </a:rPr>
              <a:t>Teuku Zikri Fatahillah1 · Raditya Artha Rochmanto1,2 · Achmad Fahrul Aji1,2 · Anhar Risnumawan1,3 · Chyan Zheng Siow1,4 · Naoyuki Kubota1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17739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80" b="0" i="0">
                <a:solidFill>
                  <a:srgbClr val="465870"/>
                </a:solidFill>
                <a:latin typeface="Aptos"/>
              </a:rPr>
              <a:t>1 Tokyo Metropolitan University, Japan · 2 Politeknik Negeri Semarang, Indonesia · 3 PENS, Indonesia · 4 Changsha CCAVC, 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26160" y="2304288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60" b="0" i="0">
                <a:solidFill>
                  <a:srgbClr val="465870"/>
                </a:solidFill>
                <a:latin typeface="Aptos"/>
              </a:rPr>
              <a:t>IEEE WCCI 2026
Maastricht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401568"/>
            <a:ext cx="71780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520440"/>
            <a:ext cx="681227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 i="0">
                <a:solidFill>
                  <a:srgbClr val="B26F14"/>
                </a:solidFill>
                <a:latin typeface="Aptos"/>
              </a:rPr>
              <a:t>-41%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68496"/>
            <a:ext cx="681227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63158"/>
                </a:solidFill>
                <a:latin typeface="Aptos"/>
              </a:rPr>
              <a:t>total graph-state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24528"/>
            <a:ext cx="681227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30" b="0" i="0">
                <a:solidFill>
                  <a:srgbClr val="465870"/>
                </a:solidFill>
                <a:latin typeface="Aptos"/>
              </a:rPr>
              <a:t>2,000 B -&gt; 1,180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401568"/>
            <a:ext cx="71780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520440"/>
            <a:ext cx="681227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 i="0">
                <a:solidFill>
                  <a:srgbClr val="2D5C97"/>
                </a:solidFill>
                <a:latin typeface="Aptos"/>
              </a:rPr>
              <a:t>~625 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968496"/>
            <a:ext cx="681227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63158"/>
                </a:solidFill>
                <a:latin typeface="Aptos"/>
              </a:rPr>
              <a:t>deterministic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224528"/>
            <a:ext cx="681227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30" b="0" i="0">
                <a:solidFill>
                  <a:srgbClr val="465870"/>
                </a:solidFill>
                <a:latin typeface="Aptos"/>
              </a:rPr>
              <a:t>~16.9k cycles @ 27 MHz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499080" y="3401568"/>
            <a:ext cx="71780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681959" y="3520440"/>
            <a:ext cx="681227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 i="0">
                <a:solidFill>
                  <a:srgbClr val="2EA05E"/>
                </a:solidFill>
                <a:latin typeface="Aptos"/>
              </a:rPr>
              <a:t>38%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81959" y="3968496"/>
            <a:ext cx="681227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63158"/>
                </a:solidFill>
                <a:latin typeface="Aptos"/>
              </a:rPr>
              <a:t>LUT utilization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81959" y="4224528"/>
            <a:ext cx="681227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30" b="0" i="0">
                <a:solidFill>
                  <a:srgbClr val="465870"/>
                </a:solidFill>
                <a:latin typeface="Aptos"/>
              </a:rPr>
              <a:t>3,205 / 8,640 LUTs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088600" y="3401568"/>
            <a:ext cx="68580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71480" y="3520440"/>
            <a:ext cx="6492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 i="0">
                <a:solidFill>
                  <a:srgbClr val="6F4FB2"/>
                </a:solidFill>
                <a:latin typeface="Aptos"/>
              </a:rPr>
              <a:t>~1,600/s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71480" y="3968496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63158"/>
                </a:solidFill>
                <a:latin typeface="Aptos"/>
              </a:rPr>
              <a:t>online throughput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71480" y="4224528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30" b="0" i="0">
                <a:solidFill>
                  <a:srgbClr val="465870"/>
                </a:solidFill>
                <a:latin typeface="Aptos"/>
              </a:rPr>
              <a:t>UART-measured FPGA snapshots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800600"/>
            <a:ext cx="9646920" cy="6720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800600"/>
            <a:ext cx="9646920" cy="530352"/>
          </a:xfrm>
          <a:prstGeom prst="rect">
            <a:avLst/>
          </a:prstGeom>
          <a:solidFill>
            <a:srgbClr val="163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" y="4882896"/>
            <a:ext cx="9354312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1 · Problem &amp; Motivation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486400"/>
            <a:ext cx="90068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63158"/>
                </a:solidFill>
                <a:latin typeface="Aptos"/>
              </a:rPr>
              <a:t>Edge robots need on-board unsupervised adaptation.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6190488"/>
            <a:ext cx="146304" cy="146304"/>
          </a:xfrm>
          <a:prstGeom prst="ellipse">
            <a:avLst/>
          </a:prstGeom>
          <a:solidFill>
            <a:srgbClr val="2D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6135624"/>
            <a:ext cx="873252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60" b="0" i="0">
                <a:solidFill>
                  <a:srgbClr val="18222E"/>
                </a:solidFill>
                <a:latin typeface="Aptos"/>
              </a:rPr>
              <a:t>Streaming raw sensor data to the cloud is often impractical under intermittent links and latency limits.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6812279"/>
            <a:ext cx="146304" cy="146304"/>
          </a:xfrm>
          <a:prstGeom prst="ellipse">
            <a:avLst/>
          </a:prstGeom>
          <a:solidFill>
            <a:srgbClr val="2D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6757416"/>
            <a:ext cx="873252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60" b="0" i="0">
                <a:solidFill>
                  <a:srgbClr val="18222E"/>
                </a:solidFill>
                <a:latin typeface="Aptos"/>
              </a:rPr>
              <a:t>GNG learns a topology incrementally, but dynamic edges and floating point are expensive on tiny FPGAs.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" y="7434072"/>
            <a:ext cx="146304" cy="146304"/>
          </a:xfrm>
          <a:prstGeom prst="ellipse">
            <a:avLst/>
          </a:prstGeom>
          <a:solidFill>
            <a:srgbClr val="2D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7379208"/>
            <a:ext cx="873252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60" b="0" i="0">
                <a:solidFill>
                  <a:srgbClr val="18222E"/>
                </a:solidFill>
                <a:latin typeface="Aptos"/>
              </a:rPr>
              <a:t>The target is bounded memory, deterministic per-sample time, and an integer-only datapath.</a:t>
            </a:r>
          </a:p>
        </p:txBody>
      </p:sp>
      <p:pic>
        <p:nvPicPr>
          <p:cNvPr id="36" name="Picture 35" descr="scene_flo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8503920"/>
            <a:ext cx="2743200" cy="1874519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749039" y="8659368"/>
            <a:ext cx="196596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it_tang-nano-9k_175x9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8915400"/>
            <a:ext cx="1600200" cy="84124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776472" y="973836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10" b="0" i="0">
                <a:solidFill>
                  <a:srgbClr val="163158"/>
                </a:solidFill>
                <a:latin typeface="Aptos"/>
              </a:rPr>
              <a:t>Tang Nano 9K</a:t>
            </a:r>
          </a:p>
        </p:txBody>
      </p:sp>
      <p:pic>
        <p:nvPicPr>
          <p:cNvPr id="40" name="Picture 39" descr="topology_flow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8503920"/>
            <a:ext cx="3291840" cy="1874519"/>
          </a:xfrm>
          <a:prstGeom prst="rect">
            <a:avLst/>
          </a:prstGeom>
        </p:spPr>
      </p:pic>
      <p:cxnSp>
        <p:nvCxnSpPr>
          <p:cNvPr id="41" name="Connector 40"/>
          <p:cNvCxnSpPr/>
          <p:nvPr/>
        </p:nvCxnSpPr>
        <p:spPr>
          <a:xfrm>
            <a:off x="3410712" y="9464040"/>
            <a:ext cx="310896" cy="0"/>
          </a:xfrm>
          <a:prstGeom prst="line">
            <a:avLst/>
          </a:prstGeom>
          <a:ln w="19050">
            <a:solidFill>
              <a:srgbClr val="E6A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733288" y="9464040"/>
            <a:ext cx="484632" cy="0"/>
          </a:xfrm>
          <a:prstGeom prst="line">
            <a:avLst/>
          </a:prstGeom>
          <a:ln w="19050">
            <a:solidFill>
              <a:srgbClr val="E6A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" y="10561320"/>
            <a:ext cx="90068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40" b="1" i="0">
                <a:solidFill>
                  <a:srgbClr val="925B19"/>
                </a:solidFill>
                <a:latin typeface="Aptos"/>
              </a:rPr>
              <a:t>Unstructured field scene -&gt; integer FPGA engine -&gt; online topology graph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" y="11750040"/>
            <a:ext cx="9646920" cy="480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11750040"/>
            <a:ext cx="9646920" cy="530352"/>
          </a:xfrm>
          <a:prstGeom prst="rect">
            <a:avLst/>
          </a:prstGeom>
          <a:solidFill>
            <a:srgbClr val="163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4" y="11832336"/>
            <a:ext cx="9354312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2 · Contributions in the Paper</a:t>
            </a:r>
          </a:p>
        </p:txBody>
      </p:sp>
      <p:sp>
        <p:nvSpPr>
          <p:cNvPr id="47" name="Oval 46"/>
          <p:cNvSpPr/>
          <p:nvPr/>
        </p:nvSpPr>
        <p:spPr>
          <a:xfrm>
            <a:off x="640080" y="12573000"/>
            <a:ext cx="146304" cy="146304"/>
          </a:xfrm>
          <a:prstGeom prst="ellipse">
            <a:avLst/>
          </a:prstGeom>
          <a:solidFill>
            <a:srgbClr val="E6A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6112" y="12518136"/>
            <a:ext cx="87325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10" b="0" i="0">
                <a:solidFill>
                  <a:srgbClr val="18222E"/>
                </a:solidFill>
                <a:latin typeface="Aptos"/>
              </a:rPr>
              <a:t>Synthesized GNG engine on Gowin GW1NR-9C with no CPU, no FPU, and no PLL.</a:t>
            </a:r>
          </a:p>
        </p:txBody>
      </p:sp>
      <p:sp>
        <p:nvSpPr>
          <p:cNvPr id="49" name="Oval 48"/>
          <p:cNvSpPr/>
          <p:nvPr/>
        </p:nvSpPr>
        <p:spPr>
          <a:xfrm>
            <a:off x="640080" y="13231368"/>
            <a:ext cx="146304" cy="146304"/>
          </a:xfrm>
          <a:prstGeom prst="ellipse">
            <a:avLst/>
          </a:prstGeom>
          <a:solidFill>
            <a:srgbClr val="E6A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112" y="13176504"/>
            <a:ext cx="87325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10" b="0" i="0">
                <a:solidFill>
                  <a:srgbClr val="18222E"/>
                </a:solidFill>
                <a:latin typeface="Aptos"/>
              </a:rPr>
              <a:t>Edge-cell graph storage: upper triangle only, one 8-bit age+1 cell per possible undirected edge.</a:t>
            </a:r>
          </a:p>
        </p:txBody>
      </p:sp>
      <p:sp>
        <p:nvSpPr>
          <p:cNvPr id="51" name="Oval 50"/>
          <p:cNvSpPr/>
          <p:nvPr/>
        </p:nvSpPr>
        <p:spPr>
          <a:xfrm>
            <a:off x="640080" y="13889736"/>
            <a:ext cx="146304" cy="146304"/>
          </a:xfrm>
          <a:prstGeom prst="ellipse">
            <a:avLst/>
          </a:prstGeom>
          <a:solidFill>
            <a:srgbClr val="E6A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6112" y="13834872"/>
            <a:ext cx="87325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10" b="0" i="0">
                <a:solidFill>
                  <a:srgbClr val="18222E"/>
                </a:solidFill>
                <a:latin typeface="Aptos"/>
              </a:rPr>
              <a:t>Q8/Q16 shift-scaled learning rates mapped to DSP-friendly multiply-and-shift updates.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" y="14548104"/>
            <a:ext cx="146304" cy="146304"/>
          </a:xfrm>
          <a:prstGeom prst="ellipse">
            <a:avLst/>
          </a:prstGeom>
          <a:solidFill>
            <a:srgbClr val="E6A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6112" y="14493240"/>
            <a:ext cx="87325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10" b="0" i="0">
                <a:solidFill>
                  <a:srgbClr val="18222E"/>
                </a:solidFill>
                <a:latin typeface="Aptos"/>
              </a:rPr>
              <a:t>Winner-indexed fused NB_SCAN combines error decay, edge aging, neighbor movement, and pruning.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" y="15681959"/>
            <a:ext cx="2697480" cy="868680"/>
          </a:xfrm>
          <a:prstGeom prst="roundRect">
            <a:avLst/>
          </a:prstGeom>
          <a:solidFill>
            <a:srgbClr val="F0F6FD"/>
          </a:solidFill>
          <a:ln w="10160">
            <a:solidFill>
              <a:srgbClr val="CD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15828263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19" b="1" i="0">
                <a:solidFill>
                  <a:srgbClr val="163158"/>
                </a:solidFill>
                <a:latin typeface="Aptos"/>
              </a:rPr>
              <a:t>No soft-core CPU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16157447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80" b="0" i="0">
                <a:solidFill>
                  <a:srgbClr val="465870"/>
                </a:solidFill>
                <a:latin typeface="Aptos"/>
              </a:rPr>
              <a:t>FSM datapath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794760" y="15681959"/>
            <a:ext cx="2697480" cy="868680"/>
          </a:xfrm>
          <a:prstGeom prst="roundRect">
            <a:avLst/>
          </a:prstGeom>
          <a:solidFill>
            <a:srgbClr val="F0F6FD"/>
          </a:solidFill>
          <a:ln w="10160">
            <a:solidFill>
              <a:srgbClr val="CD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86200" y="15828263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19" b="1" i="0">
                <a:solidFill>
                  <a:srgbClr val="163158"/>
                </a:solidFill>
                <a:latin typeface="Aptos"/>
              </a:rPr>
              <a:t>No FPU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86200" y="16157447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80" b="0" i="0">
                <a:solidFill>
                  <a:srgbClr val="465870"/>
                </a:solidFill>
                <a:latin typeface="Aptos"/>
              </a:rPr>
              <a:t>Q8/Q16 shifts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766560" y="15681959"/>
            <a:ext cx="2697480" cy="868680"/>
          </a:xfrm>
          <a:prstGeom prst="roundRect">
            <a:avLst/>
          </a:prstGeom>
          <a:solidFill>
            <a:srgbClr val="F0F6FD"/>
          </a:solidFill>
          <a:ln w="10160">
            <a:solidFill>
              <a:srgbClr val="CD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0" y="15828263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19" b="1" i="0">
                <a:solidFill>
                  <a:srgbClr val="163158"/>
                </a:solidFill>
                <a:latin typeface="Aptos"/>
              </a:rPr>
              <a:t>No dynamic memory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0" y="16157447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80" b="0" i="0">
                <a:solidFill>
                  <a:srgbClr val="465870"/>
                </a:solidFill>
                <a:latin typeface="Aptos"/>
              </a:rPr>
              <a:t>fixed BRAM arrays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0040" y="16779240"/>
            <a:ext cx="9646920" cy="6309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0040" y="16779240"/>
            <a:ext cx="9646920" cy="530352"/>
          </a:xfrm>
          <a:prstGeom prst="rect">
            <a:avLst/>
          </a:prstGeom>
          <a:solidFill>
            <a:srgbClr val="163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6344" y="16861536"/>
            <a:ext cx="9354312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3 · FPGA Architecture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17465040"/>
            <a:ext cx="90068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163158"/>
                </a:solidFill>
                <a:latin typeface="Aptos"/>
              </a:rPr>
              <a:t>Single-clock FSM at 27 MHz with BRAM-mapped state.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18150840"/>
            <a:ext cx="4315968" cy="786384"/>
          </a:xfrm>
          <a:prstGeom prst="roundRect">
            <a:avLst/>
          </a:prstGeom>
          <a:solidFill>
            <a:srgbClr val="EFF5FC"/>
          </a:solidFill>
          <a:ln w="889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" y="18251424"/>
            <a:ext cx="409651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60" b="1" i="0">
                <a:solidFill>
                  <a:srgbClr val="163158"/>
                </a:solidFill>
                <a:latin typeface="Aptos"/>
              </a:rPr>
              <a:t>UART input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8" y="18571464"/>
            <a:ext cx="409651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80" b="0" i="0">
                <a:solidFill>
                  <a:srgbClr val="465870"/>
                </a:solidFill>
                <a:latin typeface="Aptos"/>
              </a:rPr>
              <a:t>100-sample dataset ROM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257800" y="18150840"/>
            <a:ext cx="4315968" cy="786384"/>
          </a:xfrm>
          <a:prstGeom prst="roundRect">
            <a:avLst/>
          </a:prstGeom>
          <a:solidFill>
            <a:srgbClr val="EFF5FC"/>
          </a:solidFill>
          <a:ln w="889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67528" y="18251424"/>
            <a:ext cx="409651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60" b="1" i="0">
                <a:solidFill>
                  <a:srgbClr val="163158"/>
                </a:solidFill>
                <a:latin typeface="Aptos"/>
              </a:rPr>
              <a:t>WIN_SCAN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67528" y="18571464"/>
            <a:ext cx="409651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80" b="0" i="0">
                <a:solidFill>
                  <a:srgbClr val="465870"/>
                </a:solidFill>
                <a:latin typeface="Aptos"/>
              </a:rPr>
              <a:t>nearest s1, runner-up s2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0080" y="19202400"/>
            <a:ext cx="4315968" cy="786384"/>
          </a:xfrm>
          <a:prstGeom prst="roundRect">
            <a:avLst/>
          </a:prstGeom>
          <a:solidFill>
            <a:srgbClr val="EFF5FC"/>
          </a:solidFill>
          <a:ln w="889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9808" y="19302984"/>
            <a:ext cx="409651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60" b="1" i="0">
                <a:solidFill>
                  <a:srgbClr val="163158"/>
                </a:solidFill>
                <a:latin typeface="Aptos"/>
              </a:rPr>
              <a:t>UPDATE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9808" y="19623024"/>
            <a:ext cx="409651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80" b="0" i="0">
                <a:solidFill>
                  <a:srgbClr val="465870"/>
                </a:solidFill>
                <a:latin typeface="Aptos"/>
              </a:rPr>
              <a:t>winner error + Q8 move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257800" y="19202400"/>
            <a:ext cx="4315968" cy="786384"/>
          </a:xfrm>
          <a:prstGeom prst="roundRect">
            <a:avLst/>
          </a:prstGeom>
          <a:solidFill>
            <a:srgbClr val="163158"/>
          </a:solidFill>
          <a:ln w="889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67528" y="19302984"/>
            <a:ext cx="409651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60" b="1" i="0">
                <a:solidFill>
                  <a:srgbClr val="FFFFFF"/>
                </a:solidFill>
                <a:latin typeface="Aptos"/>
              </a:rPr>
              <a:t>NB_SCAN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67528" y="19623024"/>
            <a:ext cx="409651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80" b="0" i="0">
                <a:solidFill>
                  <a:srgbClr val="FFFFFF"/>
                </a:solidFill>
                <a:latin typeface="Aptos"/>
              </a:rPr>
              <a:t>node BRAM + edge BRAM RMW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0080" y="20253960"/>
            <a:ext cx="4315968" cy="786384"/>
          </a:xfrm>
          <a:prstGeom prst="roundRect">
            <a:avLst/>
          </a:prstGeom>
          <a:solidFill>
            <a:srgbClr val="EFF5FC"/>
          </a:solidFill>
          <a:ln w="889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9808" y="20354544"/>
            <a:ext cx="409651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60" b="1" i="0">
                <a:solidFill>
                  <a:srgbClr val="163158"/>
                </a:solidFill>
                <a:latin typeface="Aptos"/>
              </a:rPr>
              <a:t>CONNECT / INSERT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9808" y="20674584"/>
            <a:ext cx="409651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80" b="0" i="0">
                <a:solidFill>
                  <a:srgbClr val="465870"/>
                </a:solidFill>
                <a:latin typeface="Aptos"/>
              </a:rPr>
              <a:t>degree counters + split edge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257800" y="20253960"/>
            <a:ext cx="4315968" cy="786384"/>
          </a:xfrm>
          <a:prstGeom prst="roundRect">
            <a:avLst/>
          </a:prstGeom>
          <a:solidFill>
            <a:srgbClr val="EFF5FC"/>
          </a:solidFill>
          <a:ln w="889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67528" y="20354544"/>
            <a:ext cx="409651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60" b="1" i="0">
                <a:solidFill>
                  <a:srgbClr val="163158"/>
                </a:solidFill>
                <a:latin typeface="Aptos"/>
              </a:rPr>
              <a:t>DBG/SNAP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7528" y="20674584"/>
            <a:ext cx="409651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80" b="0" i="0">
                <a:solidFill>
                  <a:srgbClr val="465870"/>
                </a:solidFill>
                <a:latin typeface="Aptos"/>
              </a:rPr>
              <a:t>cycle counter + topology stream</a:t>
            </a:r>
          </a:p>
        </p:txBody>
      </p:sp>
      <p:pic>
        <p:nvPicPr>
          <p:cNvPr id="86" name="Picture 85" descr="fit_tang-nano-9k_229x1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0" y="21534120"/>
            <a:ext cx="2103120" cy="96012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640080" y="22539960"/>
            <a:ext cx="90068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80" b="0" i="0">
                <a:solidFill>
                  <a:srgbClr val="465870"/>
                </a:solidFill>
                <a:latin typeface="Aptos"/>
              </a:rPr>
              <a:t>Node, edge, and dataset BRAMs use synchronous read-modify-write access; each sequence costs at least 3 cycles.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20040" y="23317200"/>
            <a:ext cx="9646920" cy="156819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20040" y="23317200"/>
            <a:ext cx="9646920" cy="530352"/>
          </a:xfrm>
          <a:prstGeom prst="rect">
            <a:avLst/>
          </a:prstGeom>
          <a:solidFill>
            <a:srgbClr val="163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66344" y="23399496"/>
            <a:ext cx="9354312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4 · GNG Loop and Fused NB_SCAN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24003000"/>
            <a:ext cx="90068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163158"/>
                </a:solidFill>
                <a:latin typeface="Aptos"/>
              </a:rPr>
              <a:t>Paper-aligned FSM sequence per input sample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22960" y="24661368"/>
            <a:ext cx="8641080" cy="502920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CF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60120" y="24771096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40" b="1" i="0">
                <a:solidFill>
                  <a:srgbClr val="163158"/>
                </a:solidFill>
                <a:latin typeface="Aptos"/>
              </a:rPr>
              <a:t>SAMPLE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86000" y="24771096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0" i="0">
                <a:solidFill>
                  <a:srgbClr val="18222E"/>
                </a:solidFill>
                <a:latin typeface="Aptos"/>
              </a:rPr>
              <a:t>fetch input xi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5143500" y="25164288"/>
            <a:ext cx="0" cy="134965"/>
          </a:xfrm>
          <a:prstGeom prst="line">
            <a:avLst/>
          </a:prstGeom>
          <a:ln w="1143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822960" y="25328880"/>
            <a:ext cx="8641080" cy="502920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CF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60120" y="25438608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40" b="1" i="0">
                <a:solidFill>
                  <a:srgbClr val="163158"/>
                </a:solidFill>
                <a:latin typeface="Aptos"/>
              </a:rPr>
              <a:t>WIN_SCAN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286000" y="25438608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0" i="0">
                <a:solidFill>
                  <a:srgbClr val="18222E"/>
                </a:solidFill>
                <a:latin typeface="Aptos"/>
              </a:rPr>
              <a:t>find s1 and s2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5143500" y="25831800"/>
            <a:ext cx="0" cy="134965"/>
          </a:xfrm>
          <a:prstGeom prst="line">
            <a:avLst/>
          </a:prstGeom>
          <a:ln w="1143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822960" y="25996392"/>
            <a:ext cx="8641080" cy="502920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CF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60120" y="26106120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40" b="1" i="0">
                <a:solidFill>
                  <a:srgbClr val="163158"/>
                </a:solidFill>
                <a:latin typeface="Aptos"/>
              </a:rPr>
              <a:t>UPDATE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286000" y="26106120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0" i="0">
                <a:solidFill>
                  <a:srgbClr val="18222E"/>
                </a:solidFill>
                <a:latin typeface="Aptos"/>
              </a:rPr>
              <a:t>err_s1 += d2 &gt;&gt; ERR_SHIFT; move s1 by EPS_WIN_Q8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5143500" y="26499312"/>
            <a:ext cx="0" cy="134965"/>
          </a:xfrm>
          <a:prstGeom prst="line">
            <a:avLst/>
          </a:prstGeom>
          <a:ln w="1143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822960" y="26663904"/>
            <a:ext cx="8641080" cy="502920"/>
          </a:xfrm>
          <a:prstGeom prst="roundRect">
            <a:avLst/>
          </a:prstGeom>
          <a:solidFill>
            <a:srgbClr val="E6AA3E"/>
          </a:solidFill>
          <a:ln w="10160">
            <a:solidFill>
              <a:srgbClr val="CF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60120" y="26773632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40" b="1" i="0">
                <a:solidFill>
                  <a:srgbClr val="FFFFFF"/>
                </a:solidFill>
                <a:latin typeface="Aptos"/>
              </a:rPr>
              <a:t>NB_SCAN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286000" y="26773632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0" i="0">
                <a:solidFill>
                  <a:srgbClr val="FFFFFF"/>
                </a:solidFill>
                <a:latin typeface="Aptos"/>
              </a:rPr>
              <a:t>decay err_n; probe edge_cell[idx(s1,n)]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5143500" y="27166824"/>
            <a:ext cx="0" cy="134965"/>
          </a:xfrm>
          <a:prstGeom prst="line">
            <a:avLst/>
          </a:prstGeom>
          <a:ln w="1143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822960" y="27331416"/>
            <a:ext cx="8641080" cy="502920"/>
          </a:xfrm>
          <a:prstGeom prst="roundRect">
            <a:avLst/>
          </a:prstGeom>
          <a:solidFill>
            <a:srgbClr val="E6AA3E"/>
          </a:solidFill>
          <a:ln w="10160">
            <a:solidFill>
              <a:srgbClr val="CF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60120" y="27441144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40" b="1" i="0">
                <a:solidFill>
                  <a:srgbClr val="FFFFFF"/>
                </a:solidFill>
                <a:latin typeface="Aptos"/>
              </a:rPr>
              <a:t>ACTIVE EDGE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286000" y="27441144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0" i="0">
                <a:solidFill>
                  <a:srgbClr val="FFFFFF"/>
                </a:solidFill>
                <a:latin typeface="Aptos"/>
              </a:rPr>
              <a:t>age/prune edge; move neighbor by EPS_N_Q16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5143500" y="27834336"/>
            <a:ext cx="0" cy="134965"/>
          </a:xfrm>
          <a:prstGeom prst="line">
            <a:avLst/>
          </a:prstGeom>
          <a:ln w="1143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822960" y="27998927"/>
            <a:ext cx="8641080" cy="502920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CF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60120" y="28108656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40" b="1" i="0">
                <a:solidFill>
                  <a:srgbClr val="163158"/>
                </a:solidFill>
                <a:latin typeface="Aptos"/>
              </a:rPr>
              <a:t>CONNECT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286000" y="28108656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0" i="0">
                <a:solidFill>
                  <a:srgbClr val="18222E"/>
                </a:solidFill>
                <a:latin typeface="Aptos"/>
              </a:rPr>
              <a:t>reset edge(s1,s2) age; update degree counters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5143500" y="28501848"/>
            <a:ext cx="0" cy="134965"/>
          </a:xfrm>
          <a:prstGeom prst="line">
            <a:avLst/>
          </a:prstGeom>
          <a:ln w="1143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115"/>
          <p:cNvSpPr/>
          <p:nvPr/>
        </p:nvSpPr>
        <p:spPr>
          <a:xfrm>
            <a:off x="822960" y="28666439"/>
            <a:ext cx="8641080" cy="502920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CF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60120" y="28776168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40" b="1" i="0">
                <a:solidFill>
                  <a:srgbClr val="163158"/>
                </a:solidFill>
                <a:latin typeface="Aptos"/>
              </a:rPr>
              <a:t>INSERT / SNAP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286000" y="28776168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0" i="0">
                <a:solidFill>
                  <a:srgbClr val="18222E"/>
                </a:solidFill>
                <a:latin typeface="Aptos"/>
              </a:rPr>
              <a:t>every lambda split max-error edge; stream UART snapshots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22960" y="29489400"/>
            <a:ext cx="8641080" cy="3291840"/>
          </a:xfrm>
          <a:prstGeom prst="roundRect">
            <a:avLst/>
          </a:prstGeom>
          <a:solidFill>
            <a:srgbClr val="FFFAF0"/>
          </a:solidFill>
          <a:ln w="10160">
            <a:solidFill>
              <a:srgbClr val="E6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05840" y="29653992"/>
            <a:ext cx="82753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9F5B0E"/>
                </a:solidFill>
                <a:latin typeface="Aptos"/>
              </a:rPr>
              <a:t>Why fused?</a:t>
            </a:r>
          </a:p>
        </p:txBody>
      </p:sp>
      <p:sp>
        <p:nvSpPr>
          <p:cNvPr id="121" name="Oval 120"/>
          <p:cNvSpPr/>
          <p:nvPr/>
        </p:nvSpPr>
        <p:spPr>
          <a:xfrm>
            <a:off x="1005840" y="30175200"/>
            <a:ext cx="146304" cy="146304"/>
          </a:xfrm>
          <a:prstGeom prst="ellipse">
            <a:avLst/>
          </a:prstGeom>
          <a:solidFill>
            <a:srgbClr val="E6A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261872" y="30120336"/>
            <a:ext cx="800100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0" i="0">
                <a:solidFill>
                  <a:srgbClr val="18222E"/>
                </a:solidFill>
                <a:latin typeface="Aptos"/>
              </a:rPr>
              <a:t>Canonical GNG separates global error decay from winner-neighbor edge updates.</a:t>
            </a:r>
          </a:p>
        </p:txBody>
      </p:sp>
      <p:sp>
        <p:nvSpPr>
          <p:cNvPr id="123" name="Oval 122"/>
          <p:cNvSpPr/>
          <p:nvPr/>
        </p:nvSpPr>
        <p:spPr>
          <a:xfrm>
            <a:off x="1005840" y="30778703"/>
            <a:ext cx="146304" cy="146304"/>
          </a:xfrm>
          <a:prstGeom prst="ellipse">
            <a:avLst/>
          </a:prstGeom>
          <a:solidFill>
            <a:srgbClr val="E6A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261872" y="30723840"/>
            <a:ext cx="800100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0" i="0">
                <a:solidFill>
                  <a:srgbClr val="18222E"/>
                </a:solidFill>
                <a:latin typeface="Aptos"/>
              </a:rPr>
              <a:t>The FPGA already scans all node slots around s1, so decay is folded into the same NB_SCAN.</a:t>
            </a:r>
          </a:p>
        </p:txBody>
      </p:sp>
      <p:sp>
        <p:nvSpPr>
          <p:cNvPr id="125" name="Oval 124"/>
          <p:cNvSpPr/>
          <p:nvPr/>
        </p:nvSpPr>
        <p:spPr>
          <a:xfrm>
            <a:off x="1005840" y="31382207"/>
            <a:ext cx="146304" cy="146304"/>
          </a:xfrm>
          <a:prstGeom prst="ellipse">
            <a:avLst/>
          </a:prstGeom>
          <a:solidFill>
            <a:srgbClr val="E6A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261872" y="31327344"/>
            <a:ext cx="800100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0" i="0">
                <a:solidFill>
                  <a:srgbClr val="18222E"/>
                </a:solidFill>
                <a:latin typeface="Aptos"/>
              </a:rPr>
              <a:t>Per-node degree counters detect isolated nodes without a second full edge-array scan.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22960" y="33101280"/>
            <a:ext cx="8641080" cy="4572000"/>
          </a:xfrm>
          <a:prstGeom prst="roundRect">
            <a:avLst/>
          </a:prstGeom>
          <a:solidFill>
            <a:srgbClr val="F7FAFD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33271" y="33329880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20" b="1" i="0">
                <a:solidFill>
                  <a:srgbClr val="163158"/>
                </a:solidFill>
                <a:latin typeface="Aptos"/>
              </a:rPr>
              <a:t>Hardware invariant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33271" y="338328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8222E"/>
                </a:solidFill>
                <a:latin typeface="Aptos"/>
              </a:rPr>
              <a:t>Only fixed-capacity arrays are used: node state is stored once, edge state is stored once, and dynamic topology is expressed by age+1 cells and degree counters. This keeps memory bounded even as GNG rewires.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033271" y="35204400"/>
            <a:ext cx="8229600" cy="1755648"/>
          </a:xfrm>
          <a:prstGeom prst="roundRect">
            <a:avLst/>
          </a:prstGeom>
          <a:solidFill>
            <a:srgbClr val="F7FAFD"/>
          </a:solidFill>
          <a:ln w="762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33271" y="35204400"/>
            <a:ext cx="1371599" cy="438912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69848" y="35240976"/>
            <a:ext cx="1298447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ptos"/>
              </a:rPr>
              <a:t>State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404872" y="35204400"/>
            <a:ext cx="2155371" cy="438912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441448" y="35240976"/>
            <a:ext cx="208221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ptos"/>
              </a:rPr>
              <a:t>BRAM word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560243" y="35204400"/>
            <a:ext cx="4702628" cy="438912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596819" y="35240976"/>
            <a:ext cx="462947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ptos"/>
              </a:rPr>
              <a:t>Role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33271" y="35643312"/>
            <a:ext cx="1371599" cy="438912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69848" y="35679888"/>
            <a:ext cx="1298447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80" b="0" i="0">
                <a:solidFill>
                  <a:srgbClr val="18222E"/>
                </a:solidFill>
                <a:latin typeface="Aptos"/>
              </a:rPr>
              <a:t>node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404872" y="35643312"/>
            <a:ext cx="2155371" cy="438912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441448" y="35679888"/>
            <a:ext cx="208221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80" b="0" i="0">
                <a:solidFill>
                  <a:srgbClr val="18222E"/>
                </a:solidFill>
                <a:latin typeface="Aptos"/>
              </a:rPr>
              <a:t>x,y,deg,err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560243" y="35643312"/>
            <a:ext cx="4702628" cy="438912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596819" y="35679888"/>
            <a:ext cx="462947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80" b="0" i="0">
                <a:solidFill>
                  <a:srgbClr val="18222E"/>
                </a:solidFill>
                <a:latin typeface="Aptos"/>
              </a:rPr>
              <a:t>coordinates + degree + error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33271" y="36082224"/>
            <a:ext cx="1371599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69848" y="36118800"/>
            <a:ext cx="1298447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80" b="0" i="0">
                <a:solidFill>
                  <a:srgbClr val="18222E"/>
                </a:solidFill>
                <a:latin typeface="Aptos"/>
              </a:rPr>
              <a:t>edge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404872" y="36082224"/>
            <a:ext cx="2155371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441448" y="36118800"/>
            <a:ext cx="208221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80" b="0" i="0">
                <a:solidFill>
                  <a:srgbClr val="18222E"/>
                </a:solidFill>
                <a:latin typeface="Aptos"/>
              </a:rPr>
              <a:t>age+1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560243" y="36082224"/>
            <a:ext cx="4702628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596819" y="36118800"/>
            <a:ext cx="462947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80" b="0" i="0">
                <a:solidFill>
                  <a:srgbClr val="18222E"/>
                </a:solidFill>
                <a:latin typeface="Aptos"/>
              </a:rPr>
              <a:t>0 = inactive; v&gt;0 = age v-1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33271" y="36521136"/>
            <a:ext cx="1371599" cy="438912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69848" y="36557712"/>
            <a:ext cx="1298447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80" b="0" i="0">
                <a:solidFill>
                  <a:srgbClr val="18222E"/>
                </a:solidFill>
                <a:latin typeface="Aptos"/>
              </a:rPr>
              <a:t>dataset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404872" y="36521136"/>
            <a:ext cx="2155371" cy="438912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441448" y="36557712"/>
            <a:ext cx="208221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80" b="0" i="0">
                <a:solidFill>
                  <a:srgbClr val="18222E"/>
                </a:solidFill>
                <a:latin typeface="Aptos"/>
              </a:rPr>
              <a:t>x,y sample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560243" y="36521136"/>
            <a:ext cx="4702628" cy="438912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596819" y="36557712"/>
            <a:ext cx="462947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80" b="0" i="0">
                <a:solidFill>
                  <a:srgbClr val="18222E"/>
                </a:solidFill>
                <a:latin typeface="Aptos"/>
              </a:rPr>
              <a:t>100-entry on-chip input set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0287000" y="4800600"/>
            <a:ext cx="9646920" cy="1554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0287000" y="4800600"/>
            <a:ext cx="9646920" cy="530352"/>
          </a:xfrm>
          <a:prstGeom prst="rect">
            <a:avLst/>
          </a:prstGeom>
          <a:solidFill>
            <a:srgbClr val="163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0433304" y="4882896"/>
            <a:ext cx="9354312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5 · Edge-Cell Encoding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607040" y="5486400"/>
            <a:ext cx="90068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163158"/>
                </a:solidFill>
                <a:latin typeface="Aptos"/>
              </a:rPr>
              <a:t>Flatten only the upper triangle of an undirected graph.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750040" y="61081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80" b="1" i="0">
                <a:solidFill>
                  <a:srgbClr val="B0771F"/>
                </a:solidFill>
                <a:latin typeface="Aptos"/>
              </a:rPr>
              <a:t>node j -&gt;</a:t>
            </a:r>
          </a:p>
        </p:txBody>
      </p:sp>
      <p:sp>
        <p:nvSpPr>
          <p:cNvPr id="160" name="TextBox 159"/>
          <p:cNvSpPr txBox="1"/>
          <p:nvPr/>
        </p:nvSpPr>
        <p:spPr>
          <a:xfrm rot="16200000">
            <a:off x="10213848" y="7909560"/>
            <a:ext cx="56692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80" b="1" i="0">
                <a:solidFill>
                  <a:srgbClr val="B0771F"/>
                </a:solidFill>
                <a:latin typeface="Aptos"/>
              </a:rPr>
              <a:t>&lt;- node i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365992" y="6419088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465870"/>
                </a:solidFill>
                <a:latin typeface="Aptos"/>
              </a:rPr>
              <a:t>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896344" y="6419088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465870"/>
                </a:solidFill>
                <a:latin typeface="Aptos"/>
              </a:rPr>
              <a:t>1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2426696" y="6419088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465870"/>
                </a:solidFill>
                <a:latin typeface="Aptos"/>
              </a:rPr>
              <a:t>2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2957048" y="6419088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465870"/>
                </a:solidFill>
                <a:latin typeface="Aptos"/>
              </a:rPr>
              <a:t>3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3487400" y="6419088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465870"/>
                </a:solidFill>
                <a:latin typeface="Aptos"/>
              </a:rPr>
              <a:t>4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4017751" y="6419088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465870"/>
                </a:solidFill>
                <a:latin typeface="Aptos"/>
              </a:rPr>
              <a:t>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881360" y="6693408"/>
            <a:ext cx="37124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465870"/>
                </a:solidFill>
                <a:latin typeface="Aptos"/>
              </a:rPr>
              <a:t>0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1365992" y="6583680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11896344" y="6583680"/>
            <a:ext cx="493775" cy="493775"/>
          </a:xfrm>
          <a:prstGeom prst="roundRect">
            <a:avLst/>
          </a:prstGeom>
          <a:solidFill>
            <a:srgbClr val="E6A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1905488" y="6665976"/>
            <a:ext cx="475488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2426696" y="6583680"/>
            <a:ext cx="493775" cy="493775"/>
          </a:xfrm>
          <a:prstGeom prst="roundRect">
            <a:avLst/>
          </a:prstGeom>
          <a:solidFill>
            <a:srgbClr val="E6A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2435840" y="6665976"/>
            <a:ext cx="475488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2957048" y="6583680"/>
            <a:ext cx="493775" cy="493775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2966192" y="6665976"/>
            <a:ext cx="475488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465870"/>
                </a:solidFill>
                <a:latin typeface="Aptos"/>
              </a:rPr>
              <a:t>0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13487400" y="6583680"/>
            <a:ext cx="493775" cy="493775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3496544" y="6665976"/>
            <a:ext cx="475488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465870"/>
                </a:solidFill>
                <a:latin typeface="Aptos"/>
              </a:rPr>
              <a:t>0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14017751" y="6583680"/>
            <a:ext cx="493775" cy="493775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4026895" y="6665976"/>
            <a:ext cx="475488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465870"/>
                </a:solidFill>
                <a:latin typeface="Aptos"/>
              </a:rPr>
              <a:t>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881360" y="7223760"/>
            <a:ext cx="37124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465870"/>
                </a:solidFill>
                <a:latin typeface="Aptos"/>
              </a:rPr>
              <a:t>1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1365992" y="7114032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11896344" y="7114032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12426696" y="7114032"/>
            <a:ext cx="493775" cy="493775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2435840" y="7196328"/>
            <a:ext cx="475488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465870"/>
                </a:solidFill>
                <a:latin typeface="Aptos"/>
              </a:rPr>
              <a:t>0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12957048" y="7114032"/>
            <a:ext cx="493775" cy="493775"/>
          </a:xfrm>
          <a:prstGeom prst="roundRect">
            <a:avLst/>
          </a:prstGeom>
          <a:solidFill>
            <a:srgbClr val="E6A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2966192" y="7196328"/>
            <a:ext cx="475488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13487400" y="7114032"/>
            <a:ext cx="493775" cy="493775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3496544" y="7196328"/>
            <a:ext cx="475488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465870"/>
                </a:solidFill>
                <a:latin typeface="Aptos"/>
              </a:rPr>
              <a:t>0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14017751" y="7114032"/>
            <a:ext cx="493775" cy="493775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4026895" y="7196328"/>
            <a:ext cx="475488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465870"/>
                </a:solidFill>
                <a:latin typeface="Aptos"/>
              </a:rPr>
              <a:t>0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0881360" y="7754111"/>
            <a:ext cx="37124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465870"/>
                </a:solidFill>
                <a:latin typeface="Aptos"/>
              </a:rPr>
              <a:t>2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1365992" y="7644383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11896344" y="7644383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ounded Rectangle 192"/>
          <p:cNvSpPr/>
          <p:nvPr/>
        </p:nvSpPr>
        <p:spPr>
          <a:xfrm>
            <a:off x="12426696" y="7644383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12957048" y="7644383"/>
            <a:ext cx="493775" cy="493775"/>
          </a:xfrm>
          <a:prstGeom prst="roundRect">
            <a:avLst/>
          </a:prstGeom>
          <a:solidFill>
            <a:srgbClr val="E6A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2966192" y="7726679"/>
            <a:ext cx="475488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13487400" y="7644383"/>
            <a:ext cx="493775" cy="493775"/>
          </a:xfrm>
          <a:prstGeom prst="roundRect">
            <a:avLst/>
          </a:prstGeom>
          <a:solidFill>
            <a:srgbClr val="E6A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3496544" y="7726679"/>
            <a:ext cx="475488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14017751" y="7644383"/>
            <a:ext cx="493775" cy="493775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4026895" y="7726679"/>
            <a:ext cx="475488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465870"/>
                </a:solidFill>
                <a:latin typeface="Aptos"/>
              </a:rPr>
              <a:t>0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0881360" y="8284463"/>
            <a:ext cx="37124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465870"/>
                </a:solidFill>
                <a:latin typeface="Aptos"/>
              </a:rPr>
              <a:t>3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11365992" y="8174736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11896344" y="8174736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ounded Rectangle 202"/>
          <p:cNvSpPr/>
          <p:nvPr/>
        </p:nvSpPr>
        <p:spPr>
          <a:xfrm>
            <a:off x="12426696" y="8174736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12957048" y="8174736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13487400" y="8174736"/>
            <a:ext cx="493775" cy="493775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3496544" y="8257031"/>
            <a:ext cx="475488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465870"/>
                </a:solidFill>
                <a:latin typeface="Aptos"/>
              </a:rPr>
              <a:t>0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14017751" y="8174736"/>
            <a:ext cx="493775" cy="493775"/>
          </a:xfrm>
          <a:prstGeom prst="roundRect">
            <a:avLst/>
          </a:prstGeom>
          <a:solidFill>
            <a:srgbClr val="E6A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4026895" y="8257031"/>
            <a:ext cx="475488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0881360" y="8814815"/>
            <a:ext cx="37124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465870"/>
                </a:solidFill>
                <a:latin typeface="Aptos"/>
              </a:rPr>
              <a:t>4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11365992" y="8705088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11896344" y="8705088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12426696" y="8705088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12957048" y="8705088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ounded Rectangle 213"/>
          <p:cNvSpPr/>
          <p:nvPr/>
        </p:nvSpPr>
        <p:spPr>
          <a:xfrm>
            <a:off x="13487400" y="8705088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14017751" y="8705088"/>
            <a:ext cx="493775" cy="493775"/>
          </a:xfrm>
          <a:prstGeom prst="roundRect">
            <a:avLst/>
          </a:prstGeom>
          <a:solidFill>
            <a:srgbClr val="E6A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4026895" y="8787384"/>
            <a:ext cx="475488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0881360" y="9345167"/>
            <a:ext cx="37124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465870"/>
                </a:solidFill>
                <a:latin typeface="Aptos"/>
              </a:rPr>
              <a:t>5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11365992" y="9235440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ounded Rectangle 218"/>
          <p:cNvSpPr/>
          <p:nvPr/>
        </p:nvSpPr>
        <p:spPr>
          <a:xfrm>
            <a:off x="11896344" y="9235440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ounded Rectangle 219"/>
          <p:cNvSpPr/>
          <p:nvPr/>
        </p:nvSpPr>
        <p:spPr>
          <a:xfrm>
            <a:off x="12426696" y="9235440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ounded Rectangle 220"/>
          <p:cNvSpPr/>
          <p:nvPr/>
        </p:nvSpPr>
        <p:spPr>
          <a:xfrm>
            <a:off x="12957048" y="9235440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ounded Rectangle 221"/>
          <p:cNvSpPr/>
          <p:nvPr/>
        </p:nvSpPr>
        <p:spPr>
          <a:xfrm>
            <a:off x="13487400" y="9235440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ounded Rectangle 222"/>
          <p:cNvSpPr/>
          <p:nvPr/>
        </p:nvSpPr>
        <p:spPr>
          <a:xfrm>
            <a:off x="14017751" y="9235440"/>
            <a:ext cx="493775" cy="493775"/>
          </a:xfrm>
          <a:prstGeom prst="roundRect">
            <a:avLst/>
          </a:prstGeom>
          <a:solidFill>
            <a:srgbClr val="E6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ounded Rectangle 223"/>
          <p:cNvSpPr/>
          <p:nvPr/>
        </p:nvSpPr>
        <p:spPr>
          <a:xfrm>
            <a:off x="15864840" y="6400800"/>
            <a:ext cx="3657600" cy="2011680"/>
          </a:xfrm>
          <a:prstGeom prst="roundRect">
            <a:avLst/>
          </a:prstGeom>
          <a:solidFill>
            <a:srgbClr val="F7FAFD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6066008" y="65653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 b="1" i="0">
                <a:solidFill>
                  <a:srgbClr val="A5671C"/>
                </a:solidFill>
                <a:latin typeface="Aptos"/>
              </a:rPr>
              <a:t>cell = age + 1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6093440" y="708660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20" b="0" i="0">
                <a:solidFill>
                  <a:srgbClr val="465870"/>
                </a:solidFill>
                <a:latin typeface="Aptos"/>
              </a:rPr>
              <a:t>0 means no edge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6093440" y="7424928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20" b="0" i="0">
                <a:solidFill>
                  <a:srgbClr val="465870"/>
                </a:solidFill>
                <a:latin typeface="Aptos"/>
              </a:rPr>
              <a:t>v &gt; 0 means true age = v - 1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0698480" y="10012680"/>
            <a:ext cx="8823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40" b="1" i="0">
                <a:solidFill>
                  <a:srgbClr val="163158"/>
                </a:solidFill>
                <a:latin typeface="Aptos"/>
              </a:rPr>
              <a:t>Half-adjacency indexing, row by row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10698480" y="10469880"/>
            <a:ext cx="569976" cy="530352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0698480" y="105338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163158"/>
                </a:solidFill>
                <a:latin typeface="Aptos"/>
              </a:rPr>
              <a:t>0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0698480" y="107624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80" b="0" i="0">
                <a:solidFill>
                  <a:srgbClr val="788CA6"/>
                </a:solidFill>
                <a:latin typeface="Aptos"/>
              </a:rPr>
              <a:t>0,1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11286743" y="10469880"/>
            <a:ext cx="569976" cy="530352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1286743" y="105338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163158"/>
                </a:solidFill>
                <a:latin typeface="Aptos"/>
              </a:rPr>
              <a:t>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1286743" y="107624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80" b="0" i="0">
                <a:solidFill>
                  <a:srgbClr val="788CA6"/>
                </a:solidFill>
                <a:latin typeface="Aptos"/>
              </a:rPr>
              <a:t>0,2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11875008" y="10469880"/>
            <a:ext cx="569976" cy="530352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1875008" y="105338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163158"/>
                </a:solidFill>
                <a:latin typeface="Aptos"/>
              </a:rPr>
              <a:t>2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1875008" y="107624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80" b="0" i="0">
                <a:solidFill>
                  <a:srgbClr val="788CA6"/>
                </a:solidFill>
                <a:latin typeface="Aptos"/>
              </a:rPr>
              <a:t>0,3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12463272" y="10469880"/>
            <a:ext cx="569976" cy="530352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2463272" y="105338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163158"/>
                </a:solidFill>
                <a:latin typeface="Aptos"/>
              </a:rPr>
              <a:t>3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2463272" y="107624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80" b="0" i="0">
                <a:solidFill>
                  <a:srgbClr val="788CA6"/>
                </a:solidFill>
                <a:latin typeface="Aptos"/>
              </a:rPr>
              <a:t>0,4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13051536" y="10469880"/>
            <a:ext cx="569976" cy="530352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3051536" y="105338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163158"/>
                </a:solidFill>
                <a:latin typeface="Aptos"/>
              </a:rPr>
              <a:t>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3051536" y="107624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80" b="0" i="0">
                <a:solidFill>
                  <a:srgbClr val="788CA6"/>
                </a:solidFill>
                <a:latin typeface="Aptos"/>
              </a:rPr>
              <a:t>0,5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13639800" y="10469880"/>
            <a:ext cx="569976" cy="530352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13639800" y="105338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163158"/>
                </a:solidFill>
                <a:latin typeface="Aptos"/>
              </a:rPr>
              <a:t>5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3639800" y="107624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80" b="0" i="0">
                <a:solidFill>
                  <a:srgbClr val="788CA6"/>
                </a:solidFill>
                <a:latin typeface="Aptos"/>
              </a:rPr>
              <a:t>1,2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14228063" y="10469880"/>
            <a:ext cx="569976" cy="530352"/>
          </a:xfrm>
          <a:prstGeom prst="roundRect">
            <a:avLst/>
          </a:prstGeom>
          <a:solidFill>
            <a:srgbClr val="E6AA3E"/>
          </a:solidFill>
          <a:ln w="6350">
            <a:solidFill>
              <a:srgbClr val="E6A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14228063" y="105338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4228063" y="107624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80" b="0" i="0">
                <a:solidFill>
                  <a:srgbClr val="FFFFFF"/>
                </a:solidFill>
                <a:latin typeface="Aptos"/>
              </a:rPr>
              <a:t>1,3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14816328" y="10469880"/>
            <a:ext cx="569976" cy="530352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14816328" y="105338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163158"/>
                </a:solidFill>
                <a:latin typeface="Aptos"/>
              </a:rPr>
              <a:t>7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14816328" y="107624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80" b="0" i="0">
                <a:solidFill>
                  <a:srgbClr val="788CA6"/>
                </a:solidFill>
                <a:latin typeface="Aptos"/>
              </a:rPr>
              <a:t>1,4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15404591" y="10469880"/>
            <a:ext cx="569976" cy="530352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15404591" y="105338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163158"/>
                </a:solidFill>
                <a:latin typeface="Aptos"/>
              </a:rPr>
              <a:t>8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5404591" y="107624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80" b="0" i="0">
                <a:solidFill>
                  <a:srgbClr val="788CA6"/>
                </a:solidFill>
                <a:latin typeface="Aptos"/>
              </a:rPr>
              <a:t>1,5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15992855" y="10469880"/>
            <a:ext cx="569976" cy="530352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15992855" y="105338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163158"/>
                </a:solidFill>
                <a:latin typeface="Aptos"/>
              </a:rPr>
              <a:t>9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5992855" y="107624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80" b="0" i="0">
                <a:solidFill>
                  <a:srgbClr val="788CA6"/>
                </a:solidFill>
                <a:latin typeface="Aptos"/>
              </a:rPr>
              <a:t>2,3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16581120" y="10469880"/>
            <a:ext cx="569976" cy="530352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6581120" y="105338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163158"/>
                </a:solidFill>
                <a:latin typeface="Aptos"/>
              </a:rPr>
              <a:t>10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6581120" y="107624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80" b="0" i="0">
                <a:solidFill>
                  <a:srgbClr val="788CA6"/>
                </a:solidFill>
                <a:latin typeface="Aptos"/>
              </a:rPr>
              <a:t>2,4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17169383" y="10469880"/>
            <a:ext cx="569976" cy="530352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17169383" y="105338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163158"/>
                </a:solidFill>
                <a:latin typeface="Aptos"/>
              </a:rPr>
              <a:t>11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7169383" y="107624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80" b="0" i="0">
                <a:solidFill>
                  <a:srgbClr val="788CA6"/>
                </a:solidFill>
                <a:latin typeface="Aptos"/>
              </a:rPr>
              <a:t>2,5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17757648" y="10469880"/>
            <a:ext cx="569976" cy="530352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7757648" y="105338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163158"/>
                </a:solidFill>
                <a:latin typeface="Aptos"/>
              </a:rPr>
              <a:t>12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7757648" y="107624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80" b="0" i="0">
                <a:solidFill>
                  <a:srgbClr val="788CA6"/>
                </a:solidFill>
                <a:latin typeface="Aptos"/>
              </a:rPr>
              <a:t>3,4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18345912" y="10469880"/>
            <a:ext cx="569976" cy="530352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18345912" y="105338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163158"/>
                </a:solidFill>
                <a:latin typeface="Aptos"/>
              </a:rPr>
              <a:t>13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8345912" y="107624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80" b="0" i="0">
                <a:solidFill>
                  <a:srgbClr val="788CA6"/>
                </a:solidFill>
                <a:latin typeface="Aptos"/>
              </a:rPr>
              <a:t>3,5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18934175" y="10469880"/>
            <a:ext cx="569976" cy="530352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18934175" y="105338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163158"/>
                </a:solidFill>
                <a:latin typeface="Aptos"/>
              </a:rPr>
              <a:t>14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8934175" y="10762488"/>
            <a:ext cx="5699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80" b="0" i="0">
                <a:solidFill>
                  <a:srgbClr val="788CA6"/>
                </a:solidFill>
                <a:latin typeface="Aptos"/>
              </a:rPr>
              <a:t>4,5</a:t>
            </a:r>
          </a:p>
        </p:txBody>
      </p:sp>
      <p:sp>
        <p:nvSpPr>
          <p:cNvPr id="274" name="Rounded Rectangle 273"/>
          <p:cNvSpPr/>
          <p:nvPr/>
        </p:nvSpPr>
        <p:spPr>
          <a:xfrm>
            <a:off x="10698480" y="11338560"/>
            <a:ext cx="882396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D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10972800" y="117957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63158"/>
                </a:solidFill>
                <a:latin typeface="Aptos"/>
              </a:rPr>
              <a:t>idx(i,j) = i(2Nmax - i - 1)/2 + (j - i - 1)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7145000" y="119329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 b="1" i="0">
                <a:solidFill>
                  <a:srgbClr val="9F5B0E"/>
                </a:solidFill>
                <a:latin typeface="Aptos"/>
              </a:rPr>
              <a:t>(1,3) -&gt; cell 6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0972800" y="12637008"/>
            <a:ext cx="84124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60" b="0" i="0">
                <a:solidFill>
                  <a:srgbClr val="465870"/>
                </a:solidFill>
                <a:latin typeface="Aptos"/>
              </a:rPr>
              <a:t>Example uses Nmax = 6: 1(12 - 1 - 1)/2 + (3 - 1 - 1) = 5 + 1 = 6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10698480" y="14127480"/>
            <a:ext cx="8823960" cy="2697480"/>
          </a:xfrm>
          <a:prstGeom prst="roundRect">
            <a:avLst/>
          </a:prstGeom>
          <a:solidFill>
            <a:srgbClr val="F8FAFE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10945368" y="1438351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20" b="1" i="0">
                <a:solidFill>
                  <a:srgbClr val="163158"/>
                </a:solidFill>
                <a:latin typeface="Aptos"/>
              </a:rPr>
              <a:t>Dense matrix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6002000" y="14383512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20" b="1" i="0">
                <a:solidFill>
                  <a:srgbClr val="163158"/>
                </a:solidFill>
                <a:latin typeface="Aptos"/>
              </a:rPr>
              <a:t>Edge-cell array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0945368" y="14877288"/>
            <a:ext cx="297180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 b="1" i="0">
                <a:solidFill>
                  <a:srgbClr val="BF3737"/>
                </a:solidFill>
                <a:latin typeface="Aptos"/>
              </a:rPr>
              <a:t>40 x 40 x 8-bit
= 1,600 B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4356080" y="1506931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b="1" i="0">
                <a:solidFill>
                  <a:srgbClr val="E6AA3E"/>
                </a:solidFill>
                <a:latin typeface="Aptos"/>
              </a:rPr>
              <a:t>-&gt;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6002000" y="14877288"/>
            <a:ext cx="324612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 b="1" i="0">
                <a:solidFill>
                  <a:srgbClr val="2EA05E"/>
                </a:solidFill>
                <a:latin typeface="Aptos"/>
              </a:rPr>
              <a:t>40 x 39 / 2 bytes
= 780 B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2115800" y="16111727"/>
            <a:ext cx="61264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60" b="1" i="0">
                <a:solidFill>
                  <a:srgbClr val="A16216"/>
                </a:solidFill>
                <a:latin typeface="Aptos"/>
              </a:rPr>
              <a:t>51.25% less edge storage; total graph state drops 2,000 B -&gt; 1,180 B.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0698480" y="17327880"/>
            <a:ext cx="88239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0" i="0">
                <a:solidFill>
                  <a:srgbClr val="18222E"/>
                </a:solidFill>
                <a:latin typeface="Aptos"/>
              </a:rPr>
              <a:t>This matches the paper's fixed-capacity allocation: graph growth and rewiring do not allocate memory dynamically; they only update existing node and edge BRAM cells.</a:t>
            </a:r>
          </a:p>
        </p:txBody>
      </p:sp>
      <p:sp>
        <p:nvSpPr>
          <p:cNvPr id="286" name="Rounded Rectangle 285"/>
          <p:cNvSpPr/>
          <p:nvPr/>
        </p:nvSpPr>
        <p:spPr>
          <a:xfrm>
            <a:off x="10698480" y="18516600"/>
            <a:ext cx="2697480" cy="1143000"/>
          </a:xfrm>
          <a:prstGeom prst="roundRect">
            <a:avLst/>
          </a:prstGeom>
          <a:solidFill>
            <a:srgbClr val="F0F6FD"/>
          </a:solidFill>
          <a:ln w="10160">
            <a:solidFill>
              <a:srgbClr val="CD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10789919" y="18726912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60" b="1" i="0">
                <a:solidFill>
                  <a:srgbClr val="163158"/>
                </a:solidFill>
                <a:latin typeface="Aptos"/>
              </a:rPr>
              <a:t>Presence + age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10789919" y="19092672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80" b="0" i="0">
                <a:solidFill>
                  <a:srgbClr val="465870"/>
                </a:solidFill>
                <a:latin typeface="Aptos"/>
              </a:rPr>
              <a:t>one byte encodes both</a:t>
            </a:r>
          </a:p>
        </p:txBody>
      </p:sp>
      <p:sp>
        <p:nvSpPr>
          <p:cNvPr id="289" name="Rounded Rectangle 288"/>
          <p:cNvSpPr/>
          <p:nvPr/>
        </p:nvSpPr>
        <p:spPr>
          <a:xfrm>
            <a:off x="13670280" y="18516600"/>
            <a:ext cx="2697480" cy="1143000"/>
          </a:xfrm>
          <a:prstGeom prst="roundRect">
            <a:avLst/>
          </a:prstGeom>
          <a:solidFill>
            <a:srgbClr val="F0F6FD"/>
          </a:solidFill>
          <a:ln w="10160">
            <a:solidFill>
              <a:srgbClr val="CD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3761719" y="18726912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60" b="1" i="0">
                <a:solidFill>
                  <a:srgbClr val="163158"/>
                </a:solidFill>
                <a:latin typeface="Aptos"/>
              </a:rPr>
              <a:t>Deterministic address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3761719" y="19092672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80" b="0" i="0">
                <a:solidFill>
                  <a:srgbClr val="465870"/>
                </a:solidFill>
                <a:latin typeface="Aptos"/>
              </a:rPr>
              <a:t>13-bit BRAM index at Nmax=40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16642080" y="18516600"/>
            <a:ext cx="2697480" cy="1143000"/>
          </a:xfrm>
          <a:prstGeom prst="roundRect">
            <a:avLst/>
          </a:prstGeom>
          <a:solidFill>
            <a:srgbClr val="F0F6FD"/>
          </a:solidFill>
          <a:ln w="10160">
            <a:solidFill>
              <a:srgbClr val="CD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6733520" y="18726912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60" b="1" i="0">
                <a:solidFill>
                  <a:srgbClr val="163158"/>
                </a:solidFill>
                <a:latin typeface="Aptos"/>
              </a:rPr>
              <a:t>Degree counters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6733520" y="19092672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80" b="0" i="0">
                <a:solidFill>
                  <a:srgbClr val="465870"/>
                </a:solidFill>
                <a:latin typeface="Aptos"/>
              </a:rPr>
              <a:t>isolated nodes need no edge scan</a:t>
            </a:r>
          </a:p>
        </p:txBody>
      </p:sp>
      <p:sp>
        <p:nvSpPr>
          <p:cNvPr id="295" name="Rounded Rectangle 294"/>
          <p:cNvSpPr/>
          <p:nvPr/>
        </p:nvSpPr>
        <p:spPr>
          <a:xfrm>
            <a:off x="10287000" y="20574000"/>
            <a:ext cx="9646920" cy="18196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287000" y="20574000"/>
            <a:ext cx="9646920" cy="530352"/>
          </a:xfrm>
          <a:prstGeom prst="rect">
            <a:avLst/>
          </a:prstGeom>
          <a:solidFill>
            <a:srgbClr val="163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10433304" y="20656296"/>
            <a:ext cx="9354312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6 · Fixed-Point Arithmetic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0607040" y="21259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163158"/>
                </a:solidFill>
                <a:latin typeface="Aptos"/>
              </a:rPr>
              <a:t>Integer-only datapath</a:t>
            </a:r>
          </a:p>
        </p:txBody>
      </p:sp>
      <p:pic>
        <p:nvPicPr>
          <p:cNvPr id="299" name="Picture 298" descr="fit_tang-nano-9k_245x11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16400" y="21214080"/>
            <a:ext cx="2240280" cy="1051560"/>
          </a:xfrm>
          <a:prstGeom prst="rect">
            <a:avLst/>
          </a:prstGeom>
        </p:spPr>
      </p:pic>
      <p:sp>
        <p:nvSpPr>
          <p:cNvPr id="300" name="TextBox 299"/>
          <p:cNvSpPr txBox="1"/>
          <p:nvPr/>
        </p:nvSpPr>
        <p:spPr>
          <a:xfrm>
            <a:off x="10607040" y="21717000"/>
            <a:ext cx="90068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20" b="0" i="0">
                <a:solidFill>
                  <a:srgbClr val="465870"/>
                </a:solidFill>
                <a:latin typeface="Aptos"/>
              </a:rPr>
              <a:t>Coordinates are 16-bit signed integers in [-1000, 1000] after min-max normalization.</a:t>
            </a:r>
          </a:p>
        </p:txBody>
      </p:sp>
      <p:sp>
        <p:nvSpPr>
          <p:cNvPr id="301" name="Rounded Rectangle 300"/>
          <p:cNvSpPr/>
          <p:nvPr/>
        </p:nvSpPr>
        <p:spPr>
          <a:xfrm>
            <a:off x="10607040" y="22402800"/>
            <a:ext cx="9006840" cy="1417320"/>
          </a:xfrm>
          <a:prstGeom prst="roundRect">
            <a:avLst/>
          </a:prstGeom>
          <a:solidFill>
            <a:srgbClr val="F7FAFD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10835640" y="22585680"/>
            <a:ext cx="8549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80" b="1" i="0">
                <a:solidFill>
                  <a:srgbClr val="163158"/>
                </a:solidFill>
                <a:latin typeface="Aptos"/>
              </a:rPr>
              <a:t>Coordinate representation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0835640" y="22997160"/>
            <a:ext cx="8549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 i="0">
                <a:solidFill>
                  <a:srgbClr val="18222E"/>
                </a:solidFill>
                <a:latin typeface="Aptos"/>
              </a:rPr>
              <a:t>x_norm = ((x - x_min) / (x_max - x_min)) * 2S - S,    S = 1000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0607040" y="240761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80" b="1" i="0">
                <a:solidFill>
                  <a:srgbClr val="163158"/>
                </a:solidFill>
                <a:latin typeface="Aptos"/>
              </a:rPr>
              <a:t>80-bit node word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13075920" y="23984712"/>
            <a:ext cx="1484985" cy="411480"/>
          </a:xfrm>
          <a:prstGeom prst="roundRect">
            <a:avLst/>
          </a:prstGeom>
          <a:solidFill>
            <a:srgbClr val="EFF5FC"/>
          </a:solidFill>
          <a:ln w="762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13075920" y="24103584"/>
            <a:ext cx="1484985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19" b="1" i="0">
                <a:solidFill>
                  <a:srgbClr val="163158"/>
                </a:solidFill>
                <a:latin typeface="Aptos"/>
              </a:rPr>
              <a:t>x [16]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14579193" y="23984712"/>
            <a:ext cx="1484985" cy="411480"/>
          </a:xfrm>
          <a:prstGeom prst="roundRect">
            <a:avLst/>
          </a:prstGeom>
          <a:solidFill>
            <a:srgbClr val="EFF5FC"/>
          </a:solidFill>
          <a:ln w="762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14579193" y="24103584"/>
            <a:ext cx="1484985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19" b="1" i="0">
                <a:solidFill>
                  <a:srgbClr val="163158"/>
                </a:solidFill>
                <a:latin typeface="Aptos"/>
              </a:rPr>
              <a:t>y [16]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16082467" y="23984712"/>
            <a:ext cx="733348" cy="411480"/>
          </a:xfrm>
          <a:prstGeom prst="roundRect">
            <a:avLst/>
          </a:prstGeom>
          <a:solidFill>
            <a:srgbClr val="EFF5FC"/>
          </a:solidFill>
          <a:ln w="762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16082467" y="24103584"/>
            <a:ext cx="73334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19" b="1" i="0">
                <a:solidFill>
                  <a:srgbClr val="B0771F"/>
                </a:solidFill>
                <a:latin typeface="Aptos"/>
              </a:rPr>
              <a:t>deg [8]</a:t>
            </a:r>
          </a:p>
        </p:txBody>
      </p:sp>
      <p:sp>
        <p:nvSpPr>
          <p:cNvPr id="311" name="Rounded Rectangle 310"/>
          <p:cNvSpPr/>
          <p:nvPr/>
        </p:nvSpPr>
        <p:spPr>
          <a:xfrm>
            <a:off x="16834104" y="23984712"/>
            <a:ext cx="2487168" cy="411480"/>
          </a:xfrm>
          <a:prstGeom prst="roundRect">
            <a:avLst/>
          </a:prstGeom>
          <a:solidFill>
            <a:srgbClr val="EFF5FC"/>
          </a:solidFill>
          <a:ln w="762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16834104" y="24103584"/>
            <a:ext cx="248716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19" b="1" i="0">
                <a:solidFill>
                  <a:srgbClr val="163158"/>
                </a:solidFill>
                <a:latin typeface="Aptos"/>
              </a:rPr>
              <a:t>err [32]</a:t>
            </a:r>
          </a:p>
        </p:txBody>
      </p:sp>
      <p:sp>
        <p:nvSpPr>
          <p:cNvPr id="313" name="Rounded Rectangle 312"/>
          <p:cNvSpPr/>
          <p:nvPr/>
        </p:nvSpPr>
        <p:spPr>
          <a:xfrm>
            <a:off x="10607040" y="24688800"/>
            <a:ext cx="9006840" cy="1325880"/>
          </a:xfrm>
          <a:prstGeom prst="roundRect">
            <a:avLst/>
          </a:prstGeom>
          <a:solidFill>
            <a:srgbClr val="F9FCFF"/>
          </a:solidFill>
          <a:ln w="10160"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10817352" y="24807672"/>
            <a:ext cx="8595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20" b="1" i="0">
                <a:solidFill>
                  <a:srgbClr val="163158"/>
                </a:solidFill>
                <a:latin typeface="Aptos"/>
              </a:rPr>
              <a:t>Squared-distance unit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10817352" y="25164288"/>
            <a:ext cx="859536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19" b="0" i="0">
                <a:solidFill>
                  <a:srgbClr val="18222E"/>
                </a:solidFill>
                <a:latin typeface="Aptos"/>
              </a:rPr>
              <a:t>dx = xi_x - x_n,   dy = xi_y - y_n
d2 = dx^2 + dy^2      // 17-bit signed -&gt; 35-bit unsigned
err_s1 += d2 &gt;&gt; ERR_SHIFT</a:t>
            </a:r>
          </a:p>
        </p:txBody>
      </p:sp>
      <p:sp>
        <p:nvSpPr>
          <p:cNvPr id="316" name="Rounded Rectangle 315"/>
          <p:cNvSpPr/>
          <p:nvPr/>
        </p:nvSpPr>
        <p:spPr>
          <a:xfrm>
            <a:off x="10607040" y="26197560"/>
            <a:ext cx="9006840" cy="1325880"/>
          </a:xfrm>
          <a:prstGeom prst="roundRect">
            <a:avLst/>
          </a:prstGeom>
          <a:solidFill>
            <a:srgbClr val="F9FCFF"/>
          </a:solidFill>
          <a:ln w="10160"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10817352" y="26316431"/>
            <a:ext cx="8595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20" b="1" i="0">
                <a:solidFill>
                  <a:srgbClr val="163158"/>
                </a:solidFill>
                <a:latin typeface="Aptos"/>
              </a:rPr>
              <a:t>Winner adaptation, Q8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10817352" y="26673048"/>
            <a:ext cx="859536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19" b="0" i="0">
                <a:solidFill>
                  <a:srgbClr val="18222E"/>
                </a:solidFill>
                <a:latin typeface="Aptos"/>
              </a:rPr>
              <a:t>Delta x_s1 = floor(EPS_WIN_Q8 * (xi_x - x_s1) / 2^8)
Delta y_s1 = floor(EPS_WIN_Q8 * (xi_y - y_s1) / 2^8)</a:t>
            </a:r>
          </a:p>
        </p:txBody>
      </p:sp>
      <p:sp>
        <p:nvSpPr>
          <p:cNvPr id="319" name="Rounded Rectangle 318"/>
          <p:cNvSpPr/>
          <p:nvPr/>
        </p:nvSpPr>
        <p:spPr>
          <a:xfrm>
            <a:off x="10607040" y="27706319"/>
            <a:ext cx="9006840" cy="1325880"/>
          </a:xfrm>
          <a:prstGeom prst="roundRect">
            <a:avLst/>
          </a:prstGeom>
          <a:solidFill>
            <a:srgbClr val="F9FCFF"/>
          </a:solidFill>
          <a:ln w="10160"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10817352" y="27825191"/>
            <a:ext cx="8595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20" b="1" i="0">
                <a:solidFill>
                  <a:srgbClr val="163158"/>
                </a:solidFill>
                <a:latin typeface="Aptos"/>
              </a:rPr>
              <a:t>Neighbor adaptation, Q16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10817352" y="28181807"/>
            <a:ext cx="859536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19" b="0" i="0">
                <a:solidFill>
                  <a:srgbClr val="18222E"/>
                </a:solidFill>
                <a:latin typeface="Aptos"/>
              </a:rPr>
              <a:t>Delta x_n = floor(EPS_N_Q16 * (xi_x - x_n) / 2^16)
Delta y_n = floor(EPS_N_Q16 * (xi_y - y_n) / 2^16)</a:t>
            </a:r>
          </a:p>
        </p:txBody>
      </p:sp>
      <p:sp>
        <p:nvSpPr>
          <p:cNvPr id="322" name="Rounded Rectangle 321"/>
          <p:cNvSpPr/>
          <p:nvPr/>
        </p:nvSpPr>
        <p:spPr>
          <a:xfrm>
            <a:off x="10607040" y="29215079"/>
            <a:ext cx="9006840" cy="1325880"/>
          </a:xfrm>
          <a:prstGeom prst="roundRect">
            <a:avLst/>
          </a:prstGeom>
          <a:solidFill>
            <a:srgbClr val="F9FCFF"/>
          </a:solidFill>
          <a:ln w="10160"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10817352" y="29333952"/>
            <a:ext cx="8595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20" b="1" i="0">
                <a:solidFill>
                  <a:srgbClr val="96580F"/>
                </a:solidFill>
                <a:latin typeface="Aptos"/>
              </a:rPr>
              <a:t>Multiplierless error decay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0817352" y="29690568"/>
            <a:ext cx="859536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19" b="0" i="0">
                <a:solidFill>
                  <a:srgbClr val="18222E"/>
                </a:solidFill>
                <a:latin typeface="Aptos"/>
              </a:rPr>
              <a:t>err_n = err_n - (err_n &gt;&gt; ERR_DECAY_SHIFT)
beta approx 1 - 2^-8 = 0.9961</a:t>
            </a:r>
          </a:p>
        </p:txBody>
      </p:sp>
      <p:sp>
        <p:nvSpPr>
          <p:cNvPr id="325" name="Rounded Rectangle 324"/>
          <p:cNvSpPr/>
          <p:nvPr/>
        </p:nvSpPr>
        <p:spPr>
          <a:xfrm>
            <a:off x="10607040" y="30952440"/>
            <a:ext cx="9006840" cy="3364992"/>
          </a:xfrm>
          <a:prstGeom prst="roundRect">
            <a:avLst/>
          </a:prstGeom>
          <a:solidFill>
            <a:srgbClr val="F7FAFD"/>
          </a:solidFill>
          <a:ln w="762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607040" y="30952440"/>
            <a:ext cx="2416469" cy="420624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10643615" y="30989016"/>
            <a:ext cx="2343317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1" i="0">
                <a:solidFill>
                  <a:srgbClr val="FFFFFF"/>
                </a:solidFill>
                <a:latin typeface="Aptos"/>
              </a:rPr>
              <a:t>Parameter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3023509" y="30952440"/>
            <a:ext cx="1757432" cy="420624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13060085" y="30989016"/>
            <a:ext cx="16842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1" i="0">
                <a:solidFill>
                  <a:srgbClr val="FFFFFF"/>
                </a:solidFill>
                <a:latin typeface="Aptos"/>
              </a:rPr>
              <a:t>Value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14780941" y="30952440"/>
            <a:ext cx="4832938" cy="420624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14817517" y="30989016"/>
            <a:ext cx="475978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1" i="0">
                <a:solidFill>
                  <a:srgbClr val="FFFFFF"/>
                </a:solidFill>
                <a:latin typeface="Aptos"/>
              </a:rPr>
              <a:t>Hardware mapping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10607040" y="31373064"/>
            <a:ext cx="2416469" cy="420624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10643615" y="31409640"/>
            <a:ext cx="2343317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Nmax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13023509" y="31373064"/>
            <a:ext cx="1757432" cy="420624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13060085" y="31409640"/>
            <a:ext cx="16842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40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14780941" y="31373064"/>
            <a:ext cx="4832938" cy="420624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14817517" y="31409640"/>
            <a:ext cx="475978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node BRAM depth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10607040" y="31793688"/>
            <a:ext cx="2416469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10643615" y="31830264"/>
            <a:ext cx="2343317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Amax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13023509" y="31793688"/>
            <a:ext cx="175743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13060085" y="31830264"/>
            <a:ext cx="16842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50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14780941" y="31793688"/>
            <a:ext cx="4832938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14817517" y="31830264"/>
            <a:ext cx="475978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A_MAX_STORED = 51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10607040" y="32214312"/>
            <a:ext cx="2416469" cy="420624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10643615" y="32250888"/>
            <a:ext cx="2343317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lambda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13023509" y="32214312"/>
            <a:ext cx="1757432" cy="420624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13060085" y="32250888"/>
            <a:ext cx="16842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100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14780941" y="32214312"/>
            <a:ext cx="4832938" cy="420624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14817517" y="32250888"/>
            <a:ext cx="475978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lambda counter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10607040" y="32634936"/>
            <a:ext cx="2416469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10643615" y="32671512"/>
            <a:ext cx="2343317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eps_w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13023509" y="32634936"/>
            <a:ext cx="175743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13060085" y="32671512"/>
            <a:ext cx="16842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~0.301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14780941" y="32634936"/>
            <a:ext cx="4832938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14817517" y="32671512"/>
            <a:ext cx="475978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EPS_WIN_Q8 = 77, &gt;&gt; 8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10607040" y="33055560"/>
            <a:ext cx="2416469" cy="420624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10643615" y="33092135"/>
            <a:ext cx="2343317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eps_n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13023509" y="33055560"/>
            <a:ext cx="1757432" cy="420624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13060085" y="33092135"/>
            <a:ext cx="16842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~0.001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14780941" y="33055560"/>
            <a:ext cx="4832938" cy="420624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14817517" y="33092135"/>
            <a:ext cx="475978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EPS_N_Q16 = 66, &gt;&gt; 16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10607040" y="33476184"/>
            <a:ext cx="2416469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10643615" y="33512760"/>
            <a:ext cx="2343317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alpha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13023509" y="33476184"/>
            <a:ext cx="175743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13060085" y="33512760"/>
            <a:ext cx="16842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0.5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14780941" y="33476184"/>
            <a:ext cx="4832938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14817517" y="33512760"/>
            <a:ext cx="475978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INS_ALPHA_SHIFT = 1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10607040" y="33896808"/>
            <a:ext cx="2416469" cy="420624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10643615" y="33933384"/>
            <a:ext cx="2343317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beta</a:t>
            </a:r>
          </a:p>
        </p:txBody>
      </p:sp>
      <p:sp>
        <p:nvSpPr>
          <p:cNvPr id="370" name="Rectangle 369"/>
          <p:cNvSpPr/>
          <p:nvPr/>
        </p:nvSpPr>
        <p:spPr>
          <a:xfrm>
            <a:off x="13023509" y="33896808"/>
            <a:ext cx="1757432" cy="420624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13060085" y="33933384"/>
            <a:ext cx="16842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~0.9961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14780941" y="33896808"/>
            <a:ext cx="4832938" cy="420624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14817517" y="33933384"/>
            <a:ext cx="475978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90" b="0" i="0">
                <a:solidFill>
                  <a:srgbClr val="18222E"/>
                </a:solidFill>
                <a:latin typeface="Aptos"/>
              </a:rPr>
              <a:t>ERR_DECAY_SHIFT = 8</a:t>
            </a:r>
          </a:p>
        </p:txBody>
      </p:sp>
      <p:sp>
        <p:nvSpPr>
          <p:cNvPr id="374" name="Rounded Rectangle 373"/>
          <p:cNvSpPr/>
          <p:nvPr/>
        </p:nvSpPr>
        <p:spPr>
          <a:xfrm>
            <a:off x="10607040" y="34381440"/>
            <a:ext cx="9006840" cy="1920240"/>
          </a:xfrm>
          <a:prstGeom prst="roundRect">
            <a:avLst/>
          </a:prstGeom>
          <a:solidFill>
            <a:srgbClr val="FFFAF0"/>
          </a:solidFill>
          <a:ln w="10160">
            <a:solidFill>
              <a:srgbClr val="E7C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10835640" y="34610040"/>
            <a:ext cx="8549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40" b="1" i="0">
                <a:solidFill>
                  <a:srgbClr val="96580F"/>
                </a:solidFill>
                <a:latin typeface="Aptos"/>
              </a:rPr>
              <a:t>Where 77 and 66 come from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10835640" y="35048952"/>
            <a:ext cx="8549640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8222E"/>
                </a:solidFill>
                <a:latin typeface="Aptos"/>
              </a:rPr>
              <a:t>EPS_Q = round(epsilon * 2^Q). The implementation targets a winner rate near 0.3 and a neighbor rate near 0.001, so EPS_WIN_Q8 = round(0.301 * 256) = 77 and EPS_N_Q16 = round(0.001 * 65536) = 66.</a:t>
            </a:r>
          </a:p>
        </p:txBody>
      </p:sp>
      <p:sp>
        <p:nvSpPr>
          <p:cNvPr id="377" name="Rounded Rectangle 376"/>
          <p:cNvSpPr/>
          <p:nvPr/>
        </p:nvSpPr>
        <p:spPr>
          <a:xfrm>
            <a:off x="10607040" y="36576000"/>
            <a:ext cx="9006840" cy="1600200"/>
          </a:xfrm>
          <a:prstGeom prst="roundRect">
            <a:avLst/>
          </a:prstGeom>
          <a:solidFill>
            <a:srgbClr val="F7FAFD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10835640" y="36786312"/>
            <a:ext cx="85496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163158"/>
                </a:solidFill>
                <a:latin typeface="Aptos"/>
              </a:rPr>
              <a:t>Interpretation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10835640" y="37216080"/>
            <a:ext cx="854964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80" b="0" i="0">
                <a:solidFill>
                  <a:srgbClr val="18222E"/>
                </a:solidFill>
                <a:latin typeface="Aptos"/>
              </a:rPr>
              <a:t>The fixed-point approximation is not exact, but the paper reports low final QE/TE on both datasets, so the hardware-friendly rates are acceptable for the evaluated benchmarks.</a:t>
            </a:r>
          </a:p>
        </p:txBody>
      </p:sp>
      <p:sp>
        <p:nvSpPr>
          <p:cNvPr id="380" name="Rounded Rectangle 379"/>
          <p:cNvSpPr/>
          <p:nvPr/>
        </p:nvSpPr>
        <p:spPr>
          <a:xfrm>
            <a:off x="20253960" y="4800600"/>
            <a:ext cx="9646920" cy="7040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20253960" y="4800600"/>
            <a:ext cx="9646920" cy="530352"/>
          </a:xfrm>
          <a:prstGeom prst="rect">
            <a:avLst/>
          </a:prstGeom>
          <a:solidFill>
            <a:srgbClr val="163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20400264" y="4882896"/>
            <a:ext cx="9354312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7 · Fits on a 9K FPGA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20574000" y="5486400"/>
            <a:ext cx="90068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40" b="1" i="0">
                <a:solidFill>
                  <a:srgbClr val="163158"/>
                </a:solidFill>
                <a:latin typeface="Aptos"/>
              </a:rPr>
              <a:t>Place-and-route on Gowin GW1NR-LV9QN88PC6</a:t>
            </a:r>
          </a:p>
        </p:txBody>
      </p:sp>
      <p:sp>
        <p:nvSpPr>
          <p:cNvPr id="384" name="Rounded Rectangle 383"/>
          <p:cNvSpPr/>
          <p:nvPr/>
        </p:nvSpPr>
        <p:spPr>
          <a:xfrm>
            <a:off x="20574000" y="6080760"/>
            <a:ext cx="9006840" cy="2377440"/>
          </a:xfrm>
          <a:prstGeom prst="roundRect">
            <a:avLst/>
          </a:prstGeom>
          <a:solidFill>
            <a:srgbClr val="F7FAFD"/>
          </a:solidFill>
          <a:ln w="762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20574000" y="6080760"/>
            <a:ext cx="2573382" cy="475488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20610576" y="6117336"/>
            <a:ext cx="250023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1" i="0">
                <a:solidFill>
                  <a:srgbClr val="FFFFFF"/>
                </a:solidFill>
                <a:latin typeface="Aptos"/>
              </a:rPr>
              <a:t>Resource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23147382" y="6080760"/>
            <a:ext cx="2144485" cy="475488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23183958" y="6117336"/>
            <a:ext cx="207133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1" i="0">
                <a:solidFill>
                  <a:srgbClr val="FFFFFF"/>
                </a:solidFill>
                <a:latin typeface="Aptos"/>
              </a:rPr>
              <a:t>Used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25291868" y="6080760"/>
            <a:ext cx="2144485" cy="475488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25328444" y="6117336"/>
            <a:ext cx="207133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1" i="0">
                <a:solidFill>
                  <a:srgbClr val="FFFFFF"/>
                </a:solidFill>
                <a:latin typeface="Aptos"/>
              </a:rPr>
              <a:t>Avail.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27436354" y="6080760"/>
            <a:ext cx="2144485" cy="475488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27472930" y="6117336"/>
            <a:ext cx="207133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1" i="0">
                <a:solidFill>
                  <a:srgbClr val="FFFFFF"/>
                </a:solidFill>
                <a:latin typeface="Aptos"/>
              </a:rPr>
              <a:t>Util.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20574000" y="6556248"/>
            <a:ext cx="2573382" cy="475488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20610576" y="6592824"/>
            <a:ext cx="250023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0" i="0">
                <a:solidFill>
                  <a:srgbClr val="18222E"/>
                </a:solidFill>
                <a:latin typeface="Aptos"/>
              </a:rPr>
              <a:t>LUT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23147382" y="6556248"/>
            <a:ext cx="2144485" cy="475488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23183958" y="6592824"/>
            <a:ext cx="207133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0" i="0">
                <a:solidFill>
                  <a:srgbClr val="18222E"/>
                </a:solidFill>
                <a:latin typeface="Aptos"/>
              </a:rPr>
              <a:t>3,205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25291868" y="6556248"/>
            <a:ext cx="2144485" cy="475488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25328444" y="6592824"/>
            <a:ext cx="207133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0" i="0">
                <a:solidFill>
                  <a:srgbClr val="18222E"/>
                </a:solidFill>
                <a:latin typeface="Aptos"/>
              </a:rPr>
              <a:t>8,640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27436354" y="6556248"/>
            <a:ext cx="2144485" cy="475488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27472930" y="6592824"/>
            <a:ext cx="207133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0" i="0">
                <a:solidFill>
                  <a:srgbClr val="18222E"/>
                </a:solidFill>
                <a:latin typeface="Aptos"/>
              </a:rPr>
              <a:t>38%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20574000" y="7031736"/>
            <a:ext cx="2573382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20610576" y="7068312"/>
            <a:ext cx="250023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0" i="0">
                <a:solidFill>
                  <a:srgbClr val="18222E"/>
                </a:solidFill>
                <a:latin typeface="Aptos"/>
              </a:rPr>
              <a:t>FF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23147382" y="7031736"/>
            <a:ext cx="2144485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23183958" y="7068312"/>
            <a:ext cx="207133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0" i="0">
                <a:solidFill>
                  <a:srgbClr val="18222E"/>
                </a:solidFill>
                <a:latin typeface="Aptos"/>
              </a:rPr>
              <a:t>1,408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25291868" y="7031736"/>
            <a:ext cx="2144485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25328444" y="7068312"/>
            <a:ext cx="207133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0" i="0">
                <a:solidFill>
                  <a:srgbClr val="18222E"/>
                </a:solidFill>
                <a:latin typeface="Aptos"/>
              </a:rPr>
              <a:t>6,693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27436354" y="7031736"/>
            <a:ext cx="2144485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27472930" y="7068312"/>
            <a:ext cx="207133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0" i="0">
                <a:solidFill>
                  <a:srgbClr val="18222E"/>
                </a:solidFill>
                <a:latin typeface="Aptos"/>
              </a:rPr>
              <a:t>22%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20574000" y="7507224"/>
            <a:ext cx="2573382" cy="475488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20610576" y="7543800"/>
            <a:ext cx="250023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0" i="0">
                <a:solidFill>
                  <a:srgbClr val="18222E"/>
                </a:solidFill>
                <a:latin typeface="Aptos"/>
              </a:rPr>
              <a:t>BSRAM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23147382" y="7507224"/>
            <a:ext cx="2144485" cy="475488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23183958" y="7543800"/>
            <a:ext cx="207133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0" i="0">
                <a:solidFill>
                  <a:srgbClr val="18222E"/>
                </a:solidFill>
                <a:latin typeface="Aptos"/>
              </a:rPr>
              <a:t>6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25291868" y="7507224"/>
            <a:ext cx="2144485" cy="475488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25328444" y="7543800"/>
            <a:ext cx="207133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0" i="0">
                <a:solidFill>
                  <a:srgbClr val="18222E"/>
                </a:solidFill>
                <a:latin typeface="Aptos"/>
              </a:rPr>
              <a:t>26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27436354" y="7507224"/>
            <a:ext cx="2144485" cy="475488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7472930" y="7543800"/>
            <a:ext cx="207133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0" i="0">
                <a:solidFill>
                  <a:srgbClr val="18222E"/>
                </a:solidFill>
                <a:latin typeface="Aptos"/>
              </a:rPr>
              <a:t>24%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20574000" y="7982712"/>
            <a:ext cx="2573382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20610576" y="8019288"/>
            <a:ext cx="250023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0" i="0">
                <a:solidFill>
                  <a:srgbClr val="18222E"/>
                </a:solidFill>
                <a:latin typeface="Aptos"/>
              </a:rPr>
              <a:t>DSP</a:t>
            </a:r>
          </a:p>
        </p:txBody>
      </p:sp>
      <p:sp>
        <p:nvSpPr>
          <p:cNvPr id="419" name="Rectangle 418"/>
          <p:cNvSpPr/>
          <p:nvPr/>
        </p:nvSpPr>
        <p:spPr>
          <a:xfrm>
            <a:off x="23147382" y="7982712"/>
            <a:ext cx="2144485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23183958" y="8019288"/>
            <a:ext cx="207133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0" i="0">
                <a:solidFill>
                  <a:srgbClr val="18222E"/>
                </a:solidFill>
                <a:latin typeface="Aptos"/>
              </a:rPr>
              <a:t>5</a:t>
            </a:r>
          </a:p>
        </p:txBody>
      </p:sp>
      <p:sp>
        <p:nvSpPr>
          <p:cNvPr id="421" name="Rectangle 420"/>
          <p:cNvSpPr/>
          <p:nvPr/>
        </p:nvSpPr>
        <p:spPr>
          <a:xfrm>
            <a:off x="25291868" y="7982712"/>
            <a:ext cx="2144485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TextBox 421"/>
          <p:cNvSpPr txBox="1"/>
          <p:nvPr/>
        </p:nvSpPr>
        <p:spPr>
          <a:xfrm>
            <a:off x="25328444" y="8019288"/>
            <a:ext cx="207133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0" i="0">
                <a:solidFill>
                  <a:srgbClr val="18222E"/>
                </a:solidFill>
                <a:latin typeface="Aptos"/>
              </a:rPr>
              <a:t>10</a:t>
            </a:r>
          </a:p>
        </p:txBody>
      </p:sp>
      <p:sp>
        <p:nvSpPr>
          <p:cNvPr id="423" name="Rectangle 422"/>
          <p:cNvSpPr/>
          <p:nvPr/>
        </p:nvSpPr>
        <p:spPr>
          <a:xfrm>
            <a:off x="27436354" y="7982712"/>
            <a:ext cx="2144485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TextBox 423"/>
          <p:cNvSpPr txBox="1"/>
          <p:nvPr/>
        </p:nvSpPr>
        <p:spPr>
          <a:xfrm>
            <a:off x="27472930" y="8019288"/>
            <a:ext cx="207133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40" b="0" i="0">
                <a:solidFill>
                  <a:srgbClr val="18222E"/>
                </a:solidFill>
                <a:latin typeface="Aptos"/>
              </a:rPr>
              <a:t>50%</a:t>
            </a:r>
          </a:p>
        </p:txBody>
      </p:sp>
      <p:sp>
        <p:nvSpPr>
          <p:cNvPr id="425" name="Rounded Rectangle 424"/>
          <p:cNvSpPr/>
          <p:nvPr/>
        </p:nvSpPr>
        <p:spPr>
          <a:xfrm>
            <a:off x="20574000" y="8595360"/>
            <a:ext cx="9006840" cy="1901952"/>
          </a:xfrm>
          <a:prstGeom prst="roundRect">
            <a:avLst/>
          </a:prstGeom>
          <a:solidFill>
            <a:srgbClr val="F7FAFD"/>
          </a:solidFill>
          <a:ln w="762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20574000" y="8595360"/>
            <a:ext cx="2795226" cy="475488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TextBox 426"/>
          <p:cNvSpPr txBox="1"/>
          <p:nvPr/>
        </p:nvSpPr>
        <p:spPr>
          <a:xfrm>
            <a:off x="20610576" y="8631936"/>
            <a:ext cx="272207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80" b="1" i="0">
                <a:solidFill>
                  <a:srgbClr val="FFFFFF"/>
                </a:solidFill>
                <a:latin typeface="Aptos"/>
              </a:rPr>
              <a:t>Memory</a:t>
            </a:r>
          </a:p>
        </p:txBody>
      </p:sp>
      <p:sp>
        <p:nvSpPr>
          <p:cNvPr id="428" name="Rectangle 427"/>
          <p:cNvSpPr/>
          <p:nvPr/>
        </p:nvSpPr>
        <p:spPr>
          <a:xfrm>
            <a:off x="23369226" y="8595360"/>
            <a:ext cx="2070537" cy="475488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TextBox 428"/>
          <p:cNvSpPr txBox="1"/>
          <p:nvPr/>
        </p:nvSpPr>
        <p:spPr>
          <a:xfrm>
            <a:off x="23405802" y="8631936"/>
            <a:ext cx="199738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80" b="1" i="0">
                <a:solidFill>
                  <a:srgbClr val="FFFFFF"/>
                </a:solidFill>
                <a:latin typeface="Aptos"/>
              </a:rPr>
              <a:t>Baseline</a:t>
            </a:r>
          </a:p>
        </p:txBody>
      </p:sp>
      <p:sp>
        <p:nvSpPr>
          <p:cNvPr id="430" name="Rectangle 429"/>
          <p:cNvSpPr/>
          <p:nvPr/>
        </p:nvSpPr>
        <p:spPr>
          <a:xfrm>
            <a:off x="25439764" y="8595360"/>
            <a:ext cx="2070537" cy="475488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25476340" y="8631936"/>
            <a:ext cx="199738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80" b="1" i="0">
                <a:solidFill>
                  <a:srgbClr val="FFFFFF"/>
                </a:solidFill>
                <a:latin typeface="Aptos"/>
              </a:rPr>
              <a:t>Proposed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27510302" y="8595360"/>
            <a:ext cx="2070537" cy="475488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27546878" y="8631936"/>
            <a:ext cx="199738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80" b="1" i="0">
                <a:solidFill>
                  <a:srgbClr val="FFFFFF"/>
                </a:solidFill>
                <a:latin typeface="Aptos"/>
              </a:rPr>
              <a:t>Saving</a:t>
            </a:r>
          </a:p>
        </p:txBody>
      </p:sp>
      <p:sp>
        <p:nvSpPr>
          <p:cNvPr id="434" name="Rectangle 433"/>
          <p:cNvSpPr/>
          <p:nvPr/>
        </p:nvSpPr>
        <p:spPr>
          <a:xfrm>
            <a:off x="20574000" y="9070848"/>
            <a:ext cx="2795226" cy="475488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TextBox 434"/>
          <p:cNvSpPr txBox="1"/>
          <p:nvPr/>
        </p:nvSpPr>
        <p:spPr>
          <a:xfrm>
            <a:off x="20610576" y="9107424"/>
            <a:ext cx="272207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80" b="0" i="0">
                <a:solidFill>
                  <a:srgbClr val="18222E"/>
                </a:solidFill>
                <a:latin typeface="Aptos"/>
              </a:rPr>
              <a:t>Node array</a:t>
            </a:r>
          </a:p>
        </p:txBody>
      </p:sp>
      <p:sp>
        <p:nvSpPr>
          <p:cNvPr id="436" name="Rectangle 435"/>
          <p:cNvSpPr/>
          <p:nvPr/>
        </p:nvSpPr>
        <p:spPr>
          <a:xfrm>
            <a:off x="23369226" y="9070848"/>
            <a:ext cx="2070537" cy="475488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TextBox 436"/>
          <p:cNvSpPr txBox="1"/>
          <p:nvPr/>
        </p:nvSpPr>
        <p:spPr>
          <a:xfrm>
            <a:off x="23405802" y="9107424"/>
            <a:ext cx="199738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80" b="0" i="0">
                <a:solidFill>
                  <a:srgbClr val="18222E"/>
                </a:solidFill>
                <a:latin typeface="Aptos"/>
              </a:rPr>
              <a:t>400 B</a:t>
            </a:r>
          </a:p>
        </p:txBody>
      </p:sp>
      <p:sp>
        <p:nvSpPr>
          <p:cNvPr id="438" name="Rectangle 437"/>
          <p:cNvSpPr/>
          <p:nvPr/>
        </p:nvSpPr>
        <p:spPr>
          <a:xfrm>
            <a:off x="25439764" y="9070848"/>
            <a:ext cx="2070537" cy="475488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25476340" y="9107424"/>
            <a:ext cx="199738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80" b="0" i="0">
                <a:solidFill>
                  <a:srgbClr val="18222E"/>
                </a:solidFill>
                <a:latin typeface="Aptos"/>
              </a:rPr>
              <a:t>400 B</a:t>
            </a:r>
          </a:p>
        </p:txBody>
      </p:sp>
      <p:sp>
        <p:nvSpPr>
          <p:cNvPr id="440" name="Rectangle 439"/>
          <p:cNvSpPr/>
          <p:nvPr/>
        </p:nvSpPr>
        <p:spPr>
          <a:xfrm>
            <a:off x="27510302" y="9070848"/>
            <a:ext cx="2070537" cy="475488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TextBox 440"/>
          <p:cNvSpPr txBox="1"/>
          <p:nvPr/>
        </p:nvSpPr>
        <p:spPr>
          <a:xfrm>
            <a:off x="27546878" y="9107424"/>
            <a:ext cx="199738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80" b="0" i="0">
                <a:solidFill>
                  <a:srgbClr val="18222E"/>
                </a:solidFill>
                <a:latin typeface="Aptos"/>
              </a:rPr>
              <a:t>-</a:t>
            </a:r>
          </a:p>
        </p:txBody>
      </p:sp>
      <p:sp>
        <p:nvSpPr>
          <p:cNvPr id="442" name="Rectangle 441"/>
          <p:cNvSpPr/>
          <p:nvPr/>
        </p:nvSpPr>
        <p:spPr>
          <a:xfrm>
            <a:off x="20574000" y="9546336"/>
            <a:ext cx="2795226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TextBox 442"/>
          <p:cNvSpPr txBox="1"/>
          <p:nvPr/>
        </p:nvSpPr>
        <p:spPr>
          <a:xfrm>
            <a:off x="20610576" y="9582912"/>
            <a:ext cx="272207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80" b="0" i="0">
                <a:solidFill>
                  <a:srgbClr val="18222E"/>
                </a:solidFill>
                <a:latin typeface="Aptos"/>
              </a:rPr>
              <a:t>Edge memory</a:t>
            </a:r>
          </a:p>
        </p:txBody>
      </p:sp>
      <p:sp>
        <p:nvSpPr>
          <p:cNvPr id="444" name="Rectangle 443"/>
          <p:cNvSpPr/>
          <p:nvPr/>
        </p:nvSpPr>
        <p:spPr>
          <a:xfrm>
            <a:off x="23369226" y="9546336"/>
            <a:ext cx="2070537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TextBox 444"/>
          <p:cNvSpPr txBox="1"/>
          <p:nvPr/>
        </p:nvSpPr>
        <p:spPr>
          <a:xfrm>
            <a:off x="23405802" y="9582912"/>
            <a:ext cx="199738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80" b="0" i="0">
                <a:solidFill>
                  <a:srgbClr val="18222E"/>
                </a:solidFill>
                <a:latin typeface="Aptos"/>
              </a:rPr>
              <a:t>1,600 B</a:t>
            </a:r>
          </a:p>
        </p:txBody>
      </p:sp>
      <p:sp>
        <p:nvSpPr>
          <p:cNvPr id="446" name="Rectangle 445"/>
          <p:cNvSpPr/>
          <p:nvPr/>
        </p:nvSpPr>
        <p:spPr>
          <a:xfrm>
            <a:off x="25439764" y="9546336"/>
            <a:ext cx="2070537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TextBox 446"/>
          <p:cNvSpPr txBox="1"/>
          <p:nvPr/>
        </p:nvSpPr>
        <p:spPr>
          <a:xfrm>
            <a:off x="25476340" y="9582912"/>
            <a:ext cx="199738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80" b="0" i="0">
                <a:solidFill>
                  <a:srgbClr val="18222E"/>
                </a:solidFill>
                <a:latin typeface="Aptos"/>
              </a:rPr>
              <a:t>780 B</a:t>
            </a:r>
          </a:p>
        </p:txBody>
      </p:sp>
      <p:sp>
        <p:nvSpPr>
          <p:cNvPr id="448" name="Rectangle 447"/>
          <p:cNvSpPr/>
          <p:nvPr/>
        </p:nvSpPr>
        <p:spPr>
          <a:xfrm>
            <a:off x="27510302" y="9546336"/>
            <a:ext cx="2070537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TextBox 448"/>
          <p:cNvSpPr txBox="1"/>
          <p:nvPr/>
        </p:nvSpPr>
        <p:spPr>
          <a:xfrm>
            <a:off x="27546878" y="9582912"/>
            <a:ext cx="199738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80" b="0" i="0">
                <a:solidFill>
                  <a:srgbClr val="18222E"/>
                </a:solidFill>
                <a:latin typeface="Aptos"/>
              </a:rPr>
              <a:t>-51.25%</a:t>
            </a:r>
          </a:p>
        </p:txBody>
      </p:sp>
      <p:sp>
        <p:nvSpPr>
          <p:cNvPr id="450" name="Rectangle 449"/>
          <p:cNvSpPr/>
          <p:nvPr/>
        </p:nvSpPr>
        <p:spPr>
          <a:xfrm>
            <a:off x="20574000" y="10021824"/>
            <a:ext cx="2795226" cy="475488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TextBox 450"/>
          <p:cNvSpPr txBox="1"/>
          <p:nvPr/>
        </p:nvSpPr>
        <p:spPr>
          <a:xfrm>
            <a:off x="20610576" y="10058400"/>
            <a:ext cx="272207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80" b="0" i="0">
                <a:solidFill>
                  <a:srgbClr val="18222E"/>
                </a:solidFill>
                <a:latin typeface="Aptos"/>
              </a:rPr>
              <a:t>Total graph</a:t>
            </a:r>
          </a:p>
        </p:txBody>
      </p:sp>
      <p:sp>
        <p:nvSpPr>
          <p:cNvPr id="452" name="Rectangle 451"/>
          <p:cNvSpPr/>
          <p:nvPr/>
        </p:nvSpPr>
        <p:spPr>
          <a:xfrm>
            <a:off x="23369226" y="10021824"/>
            <a:ext cx="2070537" cy="475488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23405802" y="10058400"/>
            <a:ext cx="199738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80" b="0" i="0">
                <a:solidFill>
                  <a:srgbClr val="18222E"/>
                </a:solidFill>
                <a:latin typeface="Aptos"/>
              </a:rPr>
              <a:t>2,000 B</a:t>
            </a:r>
          </a:p>
        </p:txBody>
      </p:sp>
      <p:sp>
        <p:nvSpPr>
          <p:cNvPr id="454" name="Rectangle 453"/>
          <p:cNvSpPr/>
          <p:nvPr/>
        </p:nvSpPr>
        <p:spPr>
          <a:xfrm>
            <a:off x="25439764" y="10021824"/>
            <a:ext cx="2070537" cy="475488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25476340" y="10058400"/>
            <a:ext cx="199738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80" b="0" i="0">
                <a:solidFill>
                  <a:srgbClr val="18222E"/>
                </a:solidFill>
                <a:latin typeface="Aptos"/>
              </a:rPr>
              <a:t>1,180 B</a:t>
            </a:r>
          </a:p>
        </p:txBody>
      </p:sp>
      <p:sp>
        <p:nvSpPr>
          <p:cNvPr id="456" name="Rectangle 455"/>
          <p:cNvSpPr/>
          <p:nvPr/>
        </p:nvSpPr>
        <p:spPr>
          <a:xfrm>
            <a:off x="27510302" y="10021824"/>
            <a:ext cx="2070537" cy="475488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27546878" y="10058400"/>
            <a:ext cx="199738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80" b="0" i="0">
                <a:solidFill>
                  <a:srgbClr val="18222E"/>
                </a:solidFill>
                <a:latin typeface="Aptos"/>
              </a:rPr>
              <a:t>-41.0%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20756880" y="10927080"/>
            <a:ext cx="86410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 b="1" i="0">
                <a:solidFill>
                  <a:srgbClr val="2D5C97"/>
                </a:solidFill>
                <a:latin typeface="Aptos"/>
              </a:rPr>
              <a:t>The design retains 62% LUT and 76% BRAM headroom for application logic.</a:t>
            </a:r>
          </a:p>
        </p:txBody>
      </p:sp>
      <p:sp>
        <p:nvSpPr>
          <p:cNvPr id="459" name="Rounded Rectangle 458"/>
          <p:cNvSpPr/>
          <p:nvPr/>
        </p:nvSpPr>
        <p:spPr>
          <a:xfrm>
            <a:off x="20253960" y="12070080"/>
            <a:ext cx="9646920" cy="1280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20253960" y="12070080"/>
            <a:ext cx="9646920" cy="530352"/>
          </a:xfrm>
          <a:prstGeom prst="rect">
            <a:avLst/>
          </a:prstGeom>
          <a:solidFill>
            <a:srgbClr val="163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20400264" y="12152376"/>
            <a:ext cx="9354312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8 · Learning Quality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20574000" y="12755880"/>
            <a:ext cx="90068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20" b="1" i="0">
                <a:solidFill>
                  <a:srgbClr val="163158"/>
                </a:solidFill>
                <a:latin typeface="Aptos"/>
              </a:rPr>
              <a:t>Final FPGA snapshots preserve the target topology.</a:t>
            </a:r>
          </a:p>
        </p:txBody>
      </p:sp>
      <p:sp>
        <p:nvSpPr>
          <p:cNvPr id="463" name="Rounded Rectangle 462"/>
          <p:cNvSpPr/>
          <p:nvPr/>
        </p:nvSpPr>
        <p:spPr>
          <a:xfrm>
            <a:off x="20574000" y="13395959"/>
            <a:ext cx="448056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4" name="Picture 463" descr="card_two_moons_result_490x35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628864" y="13450824"/>
            <a:ext cx="4370832" cy="2514600"/>
          </a:xfrm>
          <a:prstGeom prst="rect">
            <a:avLst/>
          </a:prstGeom>
        </p:spPr>
      </p:pic>
      <p:sp>
        <p:nvSpPr>
          <p:cNvPr id="465" name="TextBox 464"/>
          <p:cNvSpPr txBox="1"/>
          <p:nvPr/>
        </p:nvSpPr>
        <p:spPr>
          <a:xfrm>
            <a:off x="20647152" y="16020288"/>
            <a:ext cx="433425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40" b="1" i="0">
                <a:solidFill>
                  <a:srgbClr val="163158"/>
                </a:solidFill>
                <a:latin typeface="Aptos"/>
              </a:rPr>
              <a:t>Two Moons, epoch 32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20647152" y="16239744"/>
            <a:ext cx="433425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19" b="0" i="0">
                <a:solidFill>
                  <a:srgbClr val="465870"/>
                </a:solidFill>
                <a:latin typeface="Aptos"/>
              </a:rPr>
              <a:t>QE 0.1832, TE 0.00</a:t>
            </a:r>
          </a:p>
        </p:txBody>
      </p:sp>
      <p:sp>
        <p:nvSpPr>
          <p:cNvPr id="467" name="Rounded Rectangle 466"/>
          <p:cNvSpPr/>
          <p:nvPr/>
        </p:nvSpPr>
        <p:spPr>
          <a:xfrm>
            <a:off x="25146000" y="13395959"/>
            <a:ext cx="443484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8" name="Picture 467" descr="card_concentric_circles_result_484x35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00864" y="13450824"/>
            <a:ext cx="4325112" cy="2514600"/>
          </a:xfrm>
          <a:prstGeom prst="rect">
            <a:avLst/>
          </a:prstGeom>
        </p:spPr>
      </p:pic>
      <p:sp>
        <p:nvSpPr>
          <p:cNvPr id="469" name="TextBox 468"/>
          <p:cNvSpPr txBox="1"/>
          <p:nvPr/>
        </p:nvSpPr>
        <p:spPr>
          <a:xfrm>
            <a:off x="25219152" y="16020288"/>
            <a:ext cx="42885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40" b="1" i="0">
                <a:solidFill>
                  <a:srgbClr val="163158"/>
                </a:solidFill>
                <a:latin typeface="Aptos"/>
              </a:rPr>
              <a:t>Concentric Circles, epoch 64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25219152" y="16239744"/>
            <a:ext cx="428853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19" b="0" i="0">
                <a:solidFill>
                  <a:srgbClr val="465870"/>
                </a:solidFill>
                <a:latin typeface="Aptos"/>
              </a:rPr>
              <a:t>QE 0.1960, TE 0.07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20574000" y="16962119"/>
            <a:ext cx="90068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8222E"/>
                </a:solidFill>
                <a:latin typeface="Aptos"/>
              </a:rPr>
              <a:t>The paper reports QE decreasing on both datasets. TE stays near zero during growth; Circles drifts after saturation because the fixed Nmax graph cannot insert more nodes across the inter-ring gap.</a:t>
            </a:r>
          </a:p>
        </p:txBody>
      </p:sp>
      <p:sp>
        <p:nvSpPr>
          <p:cNvPr id="472" name="Rounded Rectangle 471"/>
          <p:cNvSpPr/>
          <p:nvPr/>
        </p:nvSpPr>
        <p:spPr>
          <a:xfrm>
            <a:off x="20574000" y="17830800"/>
            <a:ext cx="9006840" cy="2057400"/>
          </a:xfrm>
          <a:prstGeom prst="roundRect">
            <a:avLst/>
          </a:prstGeom>
          <a:solidFill>
            <a:srgbClr val="F7FAFD"/>
          </a:solidFill>
          <a:ln w="762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20574000" y="17830800"/>
            <a:ext cx="2888986" cy="411480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>
            <a:off x="20610576" y="17867376"/>
            <a:ext cx="2815834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1" i="0">
                <a:solidFill>
                  <a:srgbClr val="FFFFFF"/>
                </a:solidFill>
                <a:latin typeface="Aptos"/>
              </a:rPr>
              <a:t>Dataset</a:t>
            </a:r>
          </a:p>
        </p:txBody>
      </p:sp>
      <p:sp>
        <p:nvSpPr>
          <p:cNvPr id="475" name="Rectangle 474"/>
          <p:cNvSpPr/>
          <p:nvPr/>
        </p:nvSpPr>
        <p:spPr>
          <a:xfrm>
            <a:off x="23462986" y="17830800"/>
            <a:ext cx="1189582" cy="411480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TextBox 475"/>
          <p:cNvSpPr txBox="1"/>
          <p:nvPr/>
        </p:nvSpPr>
        <p:spPr>
          <a:xfrm>
            <a:off x="23499562" y="17867376"/>
            <a:ext cx="111643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1" i="0">
                <a:solidFill>
                  <a:srgbClr val="FFFFFF"/>
                </a:solidFill>
                <a:latin typeface="Aptos"/>
              </a:rPr>
              <a:t>Epoch</a:t>
            </a:r>
          </a:p>
        </p:txBody>
      </p:sp>
      <p:sp>
        <p:nvSpPr>
          <p:cNvPr id="477" name="Rectangle 476"/>
          <p:cNvSpPr/>
          <p:nvPr/>
        </p:nvSpPr>
        <p:spPr>
          <a:xfrm>
            <a:off x="24652569" y="17830800"/>
            <a:ext cx="1189582" cy="411480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TextBox 477"/>
          <p:cNvSpPr txBox="1"/>
          <p:nvPr/>
        </p:nvSpPr>
        <p:spPr>
          <a:xfrm>
            <a:off x="24689145" y="17867376"/>
            <a:ext cx="111643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1" i="0">
                <a:solidFill>
                  <a:srgbClr val="FFFFFF"/>
                </a:solidFill>
                <a:latin typeface="Aptos"/>
              </a:rPr>
              <a:t>Nodes</a:t>
            </a:r>
          </a:p>
        </p:txBody>
      </p:sp>
      <p:sp>
        <p:nvSpPr>
          <p:cNvPr id="479" name="Rectangle 478"/>
          <p:cNvSpPr/>
          <p:nvPr/>
        </p:nvSpPr>
        <p:spPr>
          <a:xfrm>
            <a:off x="25842151" y="17830800"/>
            <a:ext cx="1189582" cy="411480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extBox 479"/>
          <p:cNvSpPr txBox="1"/>
          <p:nvPr/>
        </p:nvSpPr>
        <p:spPr>
          <a:xfrm>
            <a:off x="25878727" y="17867376"/>
            <a:ext cx="111643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1" i="0">
                <a:solidFill>
                  <a:srgbClr val="FFFFFF"/>
                </a:solidFill>
                <a:latin typeface="Aptos"/>
              </a:rPr>
              <a:t>Edges</a:t>
            </a:r>
          </a:p>
        </p:txBody>
      </p:sp>
      <p:sp>
        <p:nvSpPr>
          <p:cNvPr id="481" name="Rectangle 480"/>
          <p:cNvSpPr/>
          <p:nvPr/>
        </p:nvSpPr>
        <p:spPr>
          <a:xfrm>
            <a:off x="27031734" y="17830800"/>
            <a:ext cx="1444493" cy="411480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TextBox 481"/>
          <p:cNvSpPr txBox="1"/>
          <p:nvPr/>
        </p:nvSpPr>
        <p:spPr>
          <a:xfrm>
            <a:off x="27068310" y="17867376"/>
            <a:ext cx="1371341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1" i="0">
                <a:solidFill>
                  <a:srgbClr val="FFFFFF"/>
                </a:solidFill>
                <a:latin typeface="Aptos"/>
              </a:rPr>
              <a:t>QE</a:t>
            </a:r>
          </a:p>
        </p:txBody>
      </p:sp>
      <p:sp>
        <p:nvSpPr>
          <p:cNvPr id="483" name="Rectangle 482"/>
          <p:cNvSpPr/>
          <p:nvPr/>
        </p:nvSpPr>
        <p:spPr>
          <a:xfrm>
            <a:off x="28476227" y="17830800"/>
            <a:ext cx="1104612" cy="411480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TextBox 483"/>
          <p:cNvSpPr txBox="1"/>
          <p:nvPr/>
        </p:nvSpPr>
        <p:spPr>
          <a:xfrm>
            <a:off x="28512803" y="17867376"/>
            <a:ext cx="103146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1" i="0">
                <a:solidFill>
                  <a:srgbClr val="FFFFFF"/>
                </a:solidFill>
                <a:latin typeface="Aptos"/>
              </a:rPr>
              <a:t>TE</a:t>
            </a:r>
          </a:p>
        </p:txBody>
      </p:sp>
      <p:sp>
        <p:nvSpPr>
          <p:cNvPr id="485" name="Rectangle 484"/>
          <p:cNvSpPr/>
          <p:nvPr/>
        </p:nvSpPr>
        <p:spPr>
          <a:xfrm>
            <a:off x="20574000" y="18242280"/>
            <a:ext cx="2888986" cy="411480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TextBox 485"/>
          <p:cNvSpPr txBox="1"/>
          <p:nvPr/>
        </p:nvSpPr>
        <p:spPr>
          <a:xfrm>
            <a:off x="20610576" y="18278856"/>
            <a:ext cx="2815834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Two Moons</a:t>
            </a:r>
          </a:p>
        </p:txBody>
      </p:sp>
      <p:sp>
        <p:nvSpPr>
          <p:cNvPr id="487" name="Rectangle 486"/>
          <p:cNvSpPr/>
          <p:nvPr/>
        </p:nvSpPr>
        <p:spPr>
          <a:xfrm>
            <a:off x="23462986" y="18242280"/>
            <a:ext cx="1189582" cy="411480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TextBox 487"/>
          <p:cNvSpPr txBox="1"/>
          <p:nvPr/>
        </p:nvSpPr>
        <p:spPr>
          <a:xfrm>
            <a:off x="23499562" y="18278856"/>
            <a:ext cx="111643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32</a:t>
            </a:r>
          </a:p>
        </p:txBody>
      </p:sp>
      <p:sp>
        <p:nvSpPr>
          <p:cNvPr id="489" name="Rectangle 488"/>
          <p:cNvSpPr/>
          <p:nvPr/>
        </p:nvSpPr>
        <p:spPr>
          <a:xfrm>
            <a:off x="24652569" y="18242280"/>
            <a:ext cx="1189582" cy="411480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TextBox 489"/>
          <p:cNvSpPr txBox="1"/>
          <p:nvPr/>
        </p:nvSpPr>
        <p:spPr>
          <a:xfrm>
            <a:off x="24689145" y="18278856"/>
            <a:ext cx="111643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35</a:t>
            </a:r>
          </a:p>
        </p:txBody>
      </p:sp>
      <p:sp>
        <p:nvSpPr>
          <p:cNvPr id="491" name="Rectangle 490"/>
          <p:cNvSpPr/>
          <p:nvPr/>
        </p:nvSpPr>
        <p:spPr>
          <a:xfrm>
            <a:off x="25842151" y="18242280"/>
            <a:ext cx="1189582" cy="411480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TextBox 491"/>
          <p:cNvSpPr txBox="1"/>
          <p:nvPr/>
        </p:nvSpPr>
        <p:spPr>
          <a:xfrm>
            <a:off x="25878727" y="18278856"/>
            <a:ext cx="111643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33</a:t>
            </a:r>
          </a:p>
        </p:txBody>
      </p:sp>
      <p:sp>
        <p:nvSpPr>
          <p:cNvPr id="493" name="Rectangle 492"/>
          <p:cNvSpPr/>
          <p:nvPr/>
        </p:nvSpPr>
        <p:spPr>
          <a:xfrm>
            <a:off x="27031734" y="18242280"/>
            <a:ext cx="1444493" cy="411480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TextBox 493"/>
          <p:cNvSpPr txBox="1"/>
          <p:nvPr/>
        </p:nvSpPr>
        <p:spPr>
          <a:xfrm>
            <a:off x="27068310" y="18278856"/>
            <a:ext cx="1371341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0.1832</a:t>
            </a:r>
          </a:p>
        </p:txBody>
      </p:sp>
      <p:sp>
        <p:nvSpPr>
          <p:cNvPr id="495" name="Rectangle 494"/>
          <p:cNvSpPr/>
          <p:nvPr/>
        </p:nvSpPr>
        <p:spPr>
          <a:xfrm>
            <a:off x="28476227" y="18242280"/>
            <a:ext cx="1104612" cy="411480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TextBox 495"/>
          <p:cNvSpPr txBox="1"/>
          <p:nvPr/>
        </p:nvSpPr>
        <p:spPr>
          <a:xfrm>
            <a:off x="28512803" y="18278856"/>
            <a:ext cx="103146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0.00</a:t>
            </a:r>
          </a:p>
        </p:txBody>
      </p:sp>
      <p:sp>
        <p:nvSpPr>
          <p:cNvPr id="497" name="Rectangle 496"/>
          <p:cNvSpPr/>
          <p:nvPr/>
        </p:nvSpPr>
        <p:spPr>
          <a:xfrm>
            <a:off x="20574000" y="18653760"/>
            <a:ext cx="288898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TextBox 497"/>
          <p:cNvSpPr txBox="1"/>
          <p:nvPr/>
        </p:nvSpPr>
        <p:spPr>
          <a:xfrm>
            <a:off x="20610576" y="18690335"/>
            <a:ext cx="2815834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Two Moons</a:t>
            </a:r>
          </a:p>
        </p:txBody>
      </p:sp>
      <p:sp>
        <p:nvSpPr>
          <p:cNvPr id="499" name="Rectangle 498"/>
          <p:cNvSpPr/>
          <p:nvPr/>
        </p:nvSpPr>
        <p:spPr>
          <a:xfrm>
            <a:off x="23462986" y="18653760"/>
            <a:ext cx="1189582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TextBox 499"/>
          <p:cNvSpPr txBox="1"/>
          <p:nvPr/>
        </p:nvSpPr>
        <p:spPr>
          <a:xfrm>
            <a:off x="23499562" y="18690335"/>
            <a:ext cx="111643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64</a:t>
            </a:r>
          </a:p>
        </p:txBody>
      </p:sp>
      <p:sp>
        <p:nvSpPr>
          <p:cNvPr id="501" name="Rectangle 500"/>
          <p:cNvSpPr/>
          <p:nvPr/>
        </p:nvSpPr>
        <p:spPr>
          <a:xfrm>
            <a:off x="24652569" y="18653760"/>
            <a:ext cx="1189582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TextBox 501"/>
          <p:cNvSpPr txBox="1"/>
          <p:nvPr/>
        </p:nvSpPr>
        <p:spPr>
          <a:xfrm>
            <a:off x="24689145" y="18690335"/>
            <a:ext cx="111643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40</a:t>
            </a:r>
          </a:p>
        </p:txBody>
      </p:sp>
      <p:sp>
        <p:nvSpPr>
          <p:cNvPr id="503" name="Rectangle 502"/>
          <p:cNvSpPr/>
          <p:nvPr/>
        </p:nvSpPr>
        <p:spPr>
          <a:xfrm>
            <a:off x="25842151" y="18653760"/>
            <a:ext cx="1189582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TextBox 503"/>
          <p:cNvSpPr txBox="1"/>
          <p:nvPr/>
        </p:nvSpPr>
        <p:spPr>
          <a:xfrm>
            <a:off x="25878727" y="18690335"/>
            <a:ext cx="111643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34</a:t>
            </a:r>
          </a:p>
        </p:txBody>
      </p:sp>
      <p:sp>
        <p:nvSpPr>
          <p:cNvPr id="505" name="Rectangle 504"/>
          <p:cNvSpPr/>
          <p:nvPr/>
        </p:nvSpPr>
        <p:spPr>
          <a:xfrm>
            <a:off x="27031734" y="18653760"/>
            <a:ext cx="1444493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TextBox 505"/>
          <p:cNvSpPr txBox="1"/>
          <p:nvPr/>
        </p:nvSpPr>
        <p:spPr>
          <a:xfrm>
            <a:off x="27068310" y="18690335"/>
            <a:ext cx="1371341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0.1455</a:t>
            </a:r>
          </a:p>
        </p:txBody>
      </p:sp>
      <p:sp>
        <p:nvSpPr>
          <p:cNvPr id="507" name="Rectangle 506"/>
          <p:cNvSpPr/>
          <p:nvPr/>
        </p:nvSpPr>
        <p:spPr>
          <a:xfrm>
            <a:off x="28476227" y="18653760"/>
            <a:ext cx="1104612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TextBox 507"/>
          <p:cNvSpPr txBox="1"/>
          <p:nvPr/>
        </p:nvSpPr>
        <p:spPr>
          <a:xfrm>
            <a:off x="28512803" y="18690335"/>
            <a:ext cx="103146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0.01</a:t>
            </a:r>
          </a:p>
        </p:txBody>
      </p:sp>
      <p:sp>
        <p:nvSpPr>
          <p:cNvPr id="509" name="Rectangle 508"/>
          <p:cNvSpPr/>
          <p:nvPr/>
        </p:nvSpPr>
        <p:spPr>
          <a:xfrm>
            <a:off x="20574000" y="19065240"/>
            <a:ext cx="2888986" cy="411480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TextBox 509"/>
          <p:cNvSpPr txBox="1"/>
          <p:nvPr/>
        </p:nvSpPr>
        <p:spPr>
          <a:xfrm>
            <a:off x="20610576" y="19101816"/>
            <a:ext cx="2815834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Circles</a:t>
            </a:r>
          </a:p>
        </p:txBody>
      </p:sp>
      <p:sp>
        <p:nvSpPr>
          <p:cNvPr id="511" name="Rectangle 510"/>
          <p:cNvSpPr/>
          <p:nvPr/>
        </p:nvSpPr>
        <p:spPr>
          <a:xfrm>
            <a:off x="23462986" y="19065240"/>
            <a:ext cx="1189582" cy="411480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TextBox 511"/>
          <p:cNvSpPr txBox="1"/>
          <p:nvPr/>
        </p:nvSpPr>
        <p:spPr>
          <a:xfrm>
            <a:off x="23499562" y="19101816"/>
            <a:ext cx="111643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32</a:t>
            </a:r>
          </a:p>
        </p:txBody>
      </p:sp>
      <p:sp>
        <p:nvSpPr>
          <p:cNvPr id="513" name="Rectangle 512"/>
          <p:cNvSpPr/>
          <p:nvPr/>
        </p:nvSpPr>
        <p:spPr>
          <a:xfrm>
            <a:off x="24652569" y="19065240"/>
            <a:ext cx="1189582" cy="411480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Box 513"/>
          <p:cNvSpPr txBox="1"/>
          <p:nvPr/>
        </p:nvSpPr>
        <p:spPr>
          <a:xfrm>
            <a:off x="24689145" y="19101816"/>
            <a:ext cx="111643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35</a:t>
            </a:r>
          </a:p>
        </p:txBody>
      </p:sp>
      <p:sp>
        <p:nvSpPr>
          <p:cNvPr id="515" name="Rectangle 514"/>
          <p:cNvSpPr/>
          <p:nvPr/>
        </p:nvSpPr>
        <p:spPr>
          <a:xfrm>
            <a:off x="25842151" y="19065240"/>
            <a:ext cx="1189582" cy="411480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TextBox 515"/>
          <p:cNvSpPr txBox="1"/>
          <p:nvPr/>
        </p:nvSpPr>
        <p:spPr>
          <a:xfrm>
            <a:off x="25878727" y="19101816"/>
            <a:ext cx="111643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36</a:t>
            </a:r>
          </a:p>
        </p:txBody>
      </p:sp>
      <p:sp>
        <p:nvSpPr>
          <p:cNvPr id="517" name="Rectangle 516"/>
          <p:cNvSpPr/>
          <p:nvPr/>
        </p:nvSpPr>
        <p:spPr>
          <a:xfrm>
            <a:off x="27031734" y="19065240"/>
            <a:ext cx="1444493" cy="411480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TextBox 517"/>
          <p:cNvSpPr txBox="1"/>
          <p:nvPr/>
        </p:nvSpPr>
        <p:spPr>
          <a:xfrm>
            <a:off x="27068310" y="19101816"/>
            <a:ext cx="1371341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0.2592</a:t>
            </a:r>
          </a:p>
        </p:txBody>
      </p:sp>
      <p:sp>
        <p:nvSpPr>
          <p:cNvPr id="519" name="Rectangle 518"/>
          <p:cNvSpPr/>
          <p:nvPr/>
        </p:nvSpPr>
        <p:spPr>
          <a:xfrm>
            <a:off x="28476227" y="19065240"/>
            <a:ext cx="1104612" cy="411480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TextBox 519"/>
          <p:cNvSpPr txBox="1"/>
          <p:nvPr/>
        </p:nvSpPr>
        <p:spPr>
          <a:xfrm>
            <a:off x="28512803" y="19101816"/>
            <a:ext cx="103146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0.00</a:t>
            </a:r>
          </a:p>
        </p:txBody>
      </p:sp>
      <p:sp>
        <p:nvSpPr>
          <p:cNvPr id="521" name="Rectangle 520"/>
          <p:cNvSpPr/>
          <p:nvPr/>
        </p:nvSpPr>
        <p:spPr>
          <a:xfrm>
            <a:off x="20574000" y="19476720"/>
            <a:ext cx="288898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TextBox 521"/>
          <p:cNvSpPr txBox="1"/>
          <p:nvPr/>
        </p:nvSpPr>
        <p:spPr>
          <a:xfrm>
            <a:off x="20610576" y="19513296"/>
            <a:ext cx="2815834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Circles</a:t>
            </a:r>
          </a:p>
        </p:txBody>
      </p:sp>
      <p:sp>
        <p:nvSpPr>
          <p:cNvPr id="523" name="Rectangle 522"/>
          <p:cNvSpPr/>
          <p:nvPr/>
        </p:nvSpPr>
        <p:spPr>
          <a:xfrm>
            <a:off x="23462986" y="19476720"/>
            <a:ext cx="1189582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TextBox 523"/>
          <p:cNvSpPr txBox="1"/>
          <p:nvPr/>
        </p:nvSpPr>
        <p:spPr>
          <a:xfrm>
            <a:off x="23499562" y="19513296"/>
            <a:ext cx="111643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64</a:t>
            </a:r>
          </a:p>
        </p:txBody>
      </p:sp>
      <p:sp>
        <p:nvSpPr>
          <p:cNvPr id="525" name="Rectangle 524"/>
          <p:cNvSpPr/>
          <p:nvPr/>
        </p:nvSpPr>
        <p:spPr>
          <a:xfrm>
            <a:off x="24652569" y="19476720"/>
            <a:ext cx="1189582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TextBox 525"/>
          <p:cNvSpPr txBox="1"/>
          <p:nvPr/>
        </p:nvSpPr>
        <p:spPr>
          <a:xfrm>
            <a:off x="24689145" y="19513296"/>
            <a:ext cx="111643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40</a:t>
            </a:r>
          </a:p>
        </p:txBody>
      </p:sp>
      <p:sp>
        <p:nvSpPr>
          <p:cNvPr id="527" name="Rectangle 526"/>
          <p:cNvSpPr/>
          <p:nvPr/>
        </p:nvSpPr>
        <p:spPr>
          <a:xfrm>
            <a:off x="25842151" y="19476720"/>
            <a:ext cx="1189582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TextBox 527"/>
          <p:cNvSpPr txBox="1"/>
          <p:nvPr/>
        </p:nvSpPr>
        <p:spPr>
          <a:xfrm>
            <a:off x="25878727" y="19513296"/>
            <a:ext cx="111643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39</a:t>
            </a:r>
          </a:p>
        </p:txBody>
      </p:sp>
      <p:sp>
        <p:nvSpPr>
          <p:cNvPr id="529" name="Rectangle 528"/>
          <p:cNvSpPr/>
          <p:nvPr/>
        </p:nvSpPr>
        <p:spPr>
          <a:xfrm>
            <a:off x="27031734" y="19476720"/>
            <a:ext cx="1444493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TextBox 529"/>
          <p:cNvSpPr txBox="1"/>
          <p:nvPr/>
        </p:nvSpPr>
        <p:spPr>
          <a:xfrm>
            <a:off x="27068310" y="19513296"/>
            <a:ext cx="1371341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0.1960</a:t>
            </a:r>
          </a:p>
        </p:txBody>
      </p:sp>
      <p:sp>
        <p:nvSpPr>
          <p:cNvPr id="531" name="Rectangle 530"/>
          <p:cNvSpPr/>
          <p:nvPr/>
        </p:nvSpPr>
        <p:spPr>
          <a:xfrm>
            <a:off x="28476227" y="19476720"/>
            <a:ext cx="1104612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TextBox 531"/>
          <p:cNvSpPr txBox="1"/>
          <p:nvPr/>
        </p:nvSpPr>
        <p:spPr>
          <a:xfrm>
            <a:off x="28512803" y="19513296"/>
            <a:ext cx="103146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18222E"/>
                </a:solidFill>
                <a:latin typeface="Aptos"/>
              </a:rPr>
              <a:t>0.07</a:t>
            </a:r>
          </a:p>
        </p:txBody>
      </p:sp>
      <p:sp>
        <p:nvSpPr>
          <p:cNvPr id="533" name="Rounded Rectangle 532"/>
          <p:cNvSpPr/>
          <p:nvPr/>
        </p:nvSpPr>
        <p:spPr>
          <a:xfrm>
            <a:off x="20574000" y="20299680"/>
            <a:ext cx="900684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4" name="Picture 533" descr="card_two_moons_training_985x22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628864" y="20354544"/>
            <a:ext cx="8897112" cy="1499615"/>
          </a:xfrm>
          <a:prstGeom prst="rect">
            <a:avLst/>
          </a:prstGeom>
        </p:spPr>
      </p:pic>
      <p:sp>
        <p:nvSpPr>
          <p:cNvPr id="535" name="TextBox 534"/>
          <p:cNvSpPr txBox="1"/>
          <p:nvPr/>
        </p:nvSpPr>
        <p:spPr>
          <a:xfrm>
            <a:off x="20647152" y="21909024"/>
            <a:ext cx="88605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40" b="1" i="0">
                <a:solidFill>
                  <a:srgbClr val="163158"/>
                </a:solidFill>
                <a:latin typeface="Aptos"/>
              </a:rPr>
              <a:t>Two Moons training dynamics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20647152" y="22128480"/>
            <a:ext cx="886053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19" b="0" i="0">
                <a:solidFill>
                  <a:srgbClr val="465870"/>
                </a:solidFill>
                <a:latin typeface="Aptos"/>
              </a:rPr>
              <a:t>node/edge growth, QE convergence, TE</a:t>
            </a:r>
          </a:p>
        </p:txBody>
      </p:sp>
      <p:sp>
        <p:nvSpPr>
          <p:cNvPr id="537" name="Rounded Rectangle 536"/>
          <p:cNvSpPr/>
          <p:nvPr/>
        </p:nvSpPr>
        <p:spPr>
          <a:xfrm>
            <a:off x="20574000" y="22722840"/>
            <a:ext cx="900684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8" name="Picture 537" descr="card_concentric_circles_training_985x229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628864" y="22777704"/>
            <a:ext cx="8897112" cy="1499615"/>
          </a:xfrm>
          <a:prstGeom prst="rect">
            <a:avLst/>
          </a:prstGeom>
        </p:spPr>
      </p:pic>
      <p:sp>
        <p:nvSpPr>
          <p:cNvPr id="539" name="TextBox 538"/>
          <p:cNvSpPr txBox="1"/>
          <p:nvPr/>
        </p:nvSpPr>
        <p:spPr>
          <a:xfrm>
            <a:off x="20647152" y="24332184"/>
            <a:ext cx="88605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40" b="1" i="0">
                <a:solidFill>
                  <a:srgbClr val="163158"/>
                </a:solidFill>
                <a:latin typeface="Aptos"/>
              </a:rPr>
              <a:t>Concentric Circles training dynamics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20647152" y="24551640"/>
            <a:ext cx="886053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19" b="0" i="0">
                <a:solidFill>
                  <a:srgbClr val="465870"/>
                </a:solidFill>
                <a:latin typeface="Aptos"/>
              </a:rPr>
              <a:t>64 epochs after Nmax saturation</a:t>
            </a:r>
          </a:p>
        </p:txBody>
      </p:sp>
      <p:sp>
        <p:nvSpPr>
          <p:cNvPr id="541" name="Rounded Rectangle 540"/>
          <p:cNvSpPr/>
          <p:nvPr/>
        </p:nvSpPr>
        <p:spPr>
          <a:xfrm>
            <a:off x="20253960" y="25100280"/>
            <a:ext cx="9646920" cy="6583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20253960" y="25100280"/>
            <a:ext cx="9646920" cy="530352"/>
          </a:xfrm>
          <a:prstGeom prst="rect">
            <a:avLst/>
          </a:prstGeom>
          <a:solidFill>
            <a:srgbClr val="163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0400264" y="25182576"/>
            <a:ext cx="9354312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9 · Deterministic Real-Time Throughput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0574000" y="25786080"/>
            <a:ext cx="90068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20" b="1" i="0">
                <a:solidFill>
                  <a:srgbClr val="163158"/>
                </a:solidFill>
                <a:latin typeface="Aptos"/>
              </a:rPr>
              <a:t>Measured directly from the FPGA cycle counter embedded in DBG frames.</a:t>
            </a:r>
          </a:p>
        </p:txBody>
      </p:sp>
      <p:sp>
        <p:nvSpPr>
          <p:cNvPr id="545" name="Rounded Rectangle 544"/>
          <p:cNvSpPr/>
          <p:nvPr/>
        </p:nvSpPr>
        <p:spPr>
          <a:xfrm>
            <a:off x="20574000" y="26426160"/>
            <a:ext cx="9006840" cy="1508760"/>
          </a:xfrm>
          <a:prstGeom prst="roundRect">
            <a:avLst/>
          </a:prstGeom>
          <a:solidFill>
            <a:srgbClr val="F7FAFD"/>
          </a:solidFill>
          <a:ln w="762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20574000" y="26426160"/>
            <a:ext cx="2551938" cy="502920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20610576" y="26462735"/>
            <a:ext cx="2478786" cy="4480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60" b="1" i="0">
                <a:solidFill>
                  <a:srgbClr val="FFFFFF"/>
                </a:solidFill>
                <a:latin typeface="Aptos"/>
              </a:rPr>
              <a:t>Dataset</a:t>
            </a:r>
          </a:p>
        </p:txBody>
      </p:sp>
      <p:sp>
        <p:nvSpPr>
          <p:cNvPr id="548" name="Rectangle 547"/>
          <p:cNvSpPr/>
          <p:nvPr/>
        </p:nvSpPr>
        <p:spPr>
          <a:xfrm>
            <a:off x="23125938" y="26426160"/>
            <a:ext cx="1801368" cy="502920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23162513" y="26462735"/>
            <a:ext cx="1728216" cy="4480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60" b="1" i="0">
                <a:solidFill>
                  <a:srgbClr val="FFFFFF"/>
                </a:solidFill>
                <a:latin typeface="Aptos"/>
              </a:rPr>
              <a:t>Cycles</a:t>
            </a:r>
          </a:p>
        </p:txBody>
      </p:sp>
      <p:sp>
        <p:nvSpPr>
          <p:cNvPr id="550" name="Rectangle 549"/>
          <p:cNvSpPr/>
          <p:nvPr/>
        </p:nvSpPr>
        <p:spPr>
          <a:xfrm>
            <a:off x="24927305" y="26426160"/>
            <a:ext cx="1351026" cy="502920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TextBox 550"/>
          <p:cNvSpPr txBox="1"/>
          <p:nvPr/>
        </p:nvSpPr>
        <p:spPr>
          <a:xfrm>
            <a:off x="24963881" y="26462735"/>
            <a:ext cx="1277874" cy="4480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60" b="1" i="0">
                <a:solidFill>
                  <a:srgbClr val="FFFFFF"/>
                </a:solidFill>
                <a:latin typeface="Aptos"/>
              </a:rPr>
              <a:t>us</a:t>
            </a:r>
          </a:p>
        </p:txBody>
      </p:sp>
      <p:sp>
        <p:nvSpPr>
          <p:cNvPr id="552" name="Rectangle 551"/>
          <p:cNvSpPr/>
          <p:nvPr/>
        </p:nvSpPr>
        <p:spPr>
          <a:xfrm>
            <a:off x="26278331" y="26426160"/>
            <a:ext cx="1876425" cy="502920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TextBox 552"/>
          <p:cNvSpPr txBox="1"/>
          <p:nvPr/>
        </p:nvSpPr>
        <p:spPr>
          <a:xfrm>
            <a:off x="26314907" y="26462735"/>
            <a:ext cx="1803273" cy="4480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60" b="1" i="0">
                <a:solidFill>
                  <a:srgbClr val="FFFFFF"/>
                </a:solidFill>
                <a:latin typeface="Aptos"/>
              </a:rPr>
              <a:t>Samples/s</a:t>
            </a:r>
          </a:p>
        </p:txBody>
      </p:sp>
      <p:sp>
        <p:nvSpPr>
          <p:cNvPr id="554" name="Rectangle 553"/>
          <p:cNvSpPr/>
          <p:nvPr/>
        </p:nvSpPr>
        <p:spPr>
          <a:xfrm>
            <a:off x="28154756" y="26426160"/>
            <a:ext cx="1426083" cy="502920"/>
          </a:xfrm>
          <a:prstGeom prst="rect">
            <a:avLst/>
          </a:prstGeom>
          <a:solidFill>
            <a:srgbClr val="16315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TextBox 554"/>
          <p:cNvSpPr txBox="1"/>
          <p:nvPr/>
        </p:nvSpPr>
        <p:spPr>
          <a:xfrm>
            <a:off x="28191332" y="26462735"/>
            <a:ext cx="1352931" cy="4480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60" b="1" i="0">
                <a:solidFill>
                  <a:srgbClr val="FFFFFF"/>
                </a:solidFill>
                <a:latin typeface="Aptos"/>
              </a:rPr>
              <a:t>Total s</a:t>
            </a:r>
          </a:p>
        </p:txBody>
      </p:sp>
      <p:sp>
        <p:nvSpPr>
          <p:cNvPr id="556" name="Rectangle 555"/>
          <p:cNvSpPr/>
          <p:nvPr/>
        </p:nvSpPr>
        <p:spPr>
          <a:xfrm>
            <a:off x="20574000" y="26929080"/>
            <a:ext cx="2551938" cy="502920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TextBox 556"/>
          <p:cNvSpPr txBox="1"/>
          <p:nvPr/>
        </p:nvSpPr>
        <p:spPr>
          <a:xfrm>
            <a:off x="20610576" y="26965656"/>
            <a:ext cx="2478786" cy="4480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60" b="0" i="0">
                <a:solidFill>
                  <a:srgbClr val="18222E"/>
                </a:solidFill>
                <a:latin typeface="Aptos"/>
              </a:rPr>
              <a:t>Two Moons</a:t>
            </a:r>
          </a:p>
        </p:txBody>
      </p:sp>
      <p:sp>
        <p:nvSpPr>
          <p:cNvPr id="558" name="Rectangle 557"/>
          <p:cNvSpPr/>
          <p:nvPr/>
        </p:nvSpPr>
        <p:spPr>
          <a:xfrm>
            <a:off x="23125938" y="26929080"/>
            <a:ext cx="1801368" cy="502920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TextBox 558"/>
          <p:cNvSpPr txBox="1"/>
          <p:nvPr/>
        </p:nvSpPr>
        <p:spPr>
          <a:xfrm>
            <a:off x="23162513" y="26965656"/>
            <a:ext cx="1728216" cy="4480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60" b="0" i="0">
                <a:solidFill>
                  <a:srgbClr val="18222E"/>
                </a:solidFill>
                <a:latin typeface="Aptos"/>
              </a:rPr>
              <a:t>16,852</a:t>
            </a:r>
          </a:p>
        </p:txBody>
      </p:sp>
      <p:sp>
        <p:nvSpPr>
          <p:cNvPr id="560" name="Rectangle 559"/>
          <p:cNvSpPr/>
          <p:nvPr/>
        </p:nvSpPr>
        <p:spPr>
          <a:xfrm>
            <a:off x="24927305" y="26929080"/>
            <a:ext cx="1351026" cy="502920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TextBox 560"/>
          <p:cNvSpPr txBox="1"/>
          <p:nvPr/>
        </p:nvSpPr>
        <p:spPr>
          <a:xfrm>
            <a:off x="24963881" y="26965656"/>
            <a:ext cx="1277874" cy="4480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60" b="0" i="0">
                <a:solidFill>
                  <a:srgbClr val="18222E"/>
                </a:solidFill>
                <a:latin typeface="Aptos"/>
              </a:rPr>
              <a:t>624.1</a:t>
            </a:r>
          </a:p>
        </p:txBody>
      </p:sp>
      <p:sp>
        <p:nvSpPr>
          <p:cNvPr id="562" name="Rectangle 561"/>
          <p:cNvSpPr/>
          <p:nvPr/>
        </p:nvSpPr>
        <p:spPr>
          <a:xfrm>
            <a:off x="26278331" y="26929080"/>
            <a:ext cx="1876425" cy="502920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26314907" y="26965656"/>
            <a:ext cx="1803273" cy="4480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60" b="0" i="0">
                <a:solidFill>
                  <a:srgbClr val="18222E"/>
                </a:solidFill>
                <a:latin typeface="Aptos"/>
              </a:rPr>
              <a:t>1,602</a:t>
            </a:r>
          </a:p>
        </p:txBody>
      </p:sp>
      <p:sp>
        <p:nvSpPr>
          <p:cNvPr id="564" name="Rectangle 563"/>
          <p:cNvSpPr/>
          <p:nvPr/>
        </p:nvSpPr>
        <p:spPr>
          <a:xfrm>
            <a:off x="28154756" y="26929080"/>
            <a:ext cx="1426083" cy="502920"/>
          </a:xfrm>
          <a:prstGeom prst="rect">
            <a:avLst/>
          </a:prstGeom>
          <a:solidFill>
            <a:srgbClr val="EFF5F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TextBox 564"/>
          <p:cNvSpPr txBox="1"/>
          <p:nvPr/>
        </p:nvSpPr>
        <p:spPr>
          <a:xfrm>
            <a:off x="28191332" y="26965656"/>
            <a:ext cx="1352931" cy="4480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60" b="0" i="0">
                <a:solidFill>
                  <a:srgbClr val="18222E"/>
                </a:solidFill>
                <a:latin typeface="Aptos"/>
              </a:rPr>
              <a:t>5.40</a:t>
            </a:r>
          </a:p>
        </p:txBody>
      </p:sp>
      <p:sp>
        <p:nvSpPr>
          <p:cNvPr id="566" name="Rectangle 565"/>
          <p:cNvSpPr/>
          <p:nvPr/>
        </p:nvSpPr>
        <p:spPr>
          <a:xfrm>
            <a:off x="20574000" y="27432000"/>
            <a:ext cx="2551938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20610576" y="27468576"/>
            <a:ext cx="2478786" cy="4480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60" b="0" i="0">
                <a:solidFill>
                  <a:srgbClr val="18222E"/>
                </a:solidFill>
                <a:latin typeface="Aptos"/>
              </a:rPr>
              <a:t>Circles</a:t>
            </a:r>
          </a:p>
        </p:txBody>
      </p:sp>
      <p:sp>
        <p:nvSpPr>
          <p:cNvPr id="568" name="Rectangle 567"/>
          <p:cNvSpPr/>
          <p:nvPr/>
        </p:nvSpPr>
        <p:spPr>
          <a:xfrm>
            <a:off x="23125938" y="27432000"/>
            <a:ext cx="1801368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TextBox 568"/>
          <p:cNvSpPr txBox="1"/>
          <p:nvPr/>
        </p:nvSpPr>
        <p:spPr>
          <a:xfrm>
            <a:off x="23162513" y="27468576"/>
            <a:ext cx="1728216" cy="4480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60" b="0" i="0">
                <a:solidFill>
                  <a:srgbClr val="18222E"/>
                </a:solidFill>
                <a:latin typeface="Aptos"/>
              </a:rPr>
              <a:t>16,931</a:t>
            </a:r>
          </a:p>
        </p:txBody>
      </p:sp>
      <p:sp>
        <p:nvSpPr>
          <p:cNvPr id="570" name="Rectangle 569"/>
          <p:cNvSpPr/>
          <p:nvPr/>
        </p:nvSpPr>
        <p:spPr>
          <a:xfrm>
            <a:off x="24927305" y="27432000"/>
            <a:ext cx="1351026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TextBox 570"/>
          <p:cNvSpPr txBox="1"/>
          <p:nvPr/>
        </p:nvSpPr>
        <p:spPr>
          <a:xfrm>
            <a:off x="24963881" y="27468576"/>
            <a:ext cx="1277874" cy="4480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60" b="0" i="0">
                <a:solidFill>
                  <a:srgbClr val="18222E"/>
                </a:solidFill>
                <a:latin typeface="Aptos"/>
              </a:rPr>
              <a:t>627.1</a:t>
            </a:r>
          </a:p>
        </p:txBody>
      </p:sp>
      <p:sp>
        <p:nvSpPr>
          <p:cNvPr id="572" name="Rectangle 571"/>
          <p:cNvSpPr/>
          <p:nvPr/>
        </p:nvSpPr>
        <p:spPr>
          <a:xfrm>
            <a:off x="26278331" y="27432000"/>
            <a:ext cx="1876425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TextBox 572"/>
          <p:cNvSpPr txBox="1"/>
          <p:nvPr/>
        </p:nvSpPr>
        <p:spPr>
          <a:xfrm>
            <a:off x="26314907" y="27468576"/>
            <a:ext cx="1803273" cy="4480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60" b="0" i="0">
                <a:solidFill>
                  <a:srgbClr val="18222E"/>
                </a:solidFill>
                <a:latin typeface="Aptos"/>
              </a:rPr>
              <a:t>1,595</a:t>
            </a:r>
          </a:p>
        </p:txBody>
      </p:sp>
      <p:sp>
        <p:nvSpPr>
          <p:cNvPr id="574" name="Rectangle 573"/>
          <p:cNvSpPr/>
          <p:nvPr/>
        </p:nvSpPr>
        <p:spPr>
          <a:xfrm>
            <a:off x="28154756" y="27432000"/>
            <a:ext cx="1426083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TextBox 574"/>
          <p:cNvSpPr txBox="1"/>
          <p:nvPr/>
        </p:nvSpPr>
        <p:spPr>
          <a:xfrm>
            <a:off x="28191332" y="27468576"/>
            <a:ext cx="1352931" cy="4480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60" b="0" i="0">
                <a:solidFill>
                  <a:srgbClr val="18222E"/>
                </a:solidFill>
                <a:latin typeface="Aptos"/>
              </a:rPr>
              <a:t>5.72</a:t>
            </a:r>
          </a:p>
        </p:txBody>
      </p:sp>
      <p:sp>
        <p:nvSpPr>
          <p:cNvPr id="576" name="Rounded Rectangle 575"/>
          <p:cNvSpPr/>
          <p:nvPr/>
        </p:nvSpPr>
        <p:spPr>
          <a:xfrm>
            <a:off x="20848319" y="28209239"/>
            <a:ext cx="845820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21168360" y="30147768"/>
            <a:ext cx="7818120" cy="0"/>
          </a:xfrm>
          <a:prstGeom prst="line">
            <a:avLst/>
          </a:prstGeom>
          <a:ln w="12700">
            <a:solidFill>
              <a:srgbClr val="CBD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21168360" y="28547568"/>
            <a:ext cx="0" cy="1600200"/>
          </a:xfrm>
          <a:prstGeom prst="line">
            <a:avLst/>
          </a:prstGeom>
          <a:ln w="12700">
            <a:solidFill>
              <a:srgbClr val="CBD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V="1">
            <a:off x="21168360" y="29267382"/>
            <a:ext cx="229944" cy="240305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21398304" y="29267382"/>
            <a:ext cx="229945" cy="115823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21628249" y="29383205"/>
            <a:ext cx="229945" cy="34070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21858194" y="29417275"/>
            <a:ext cx="229944" cy="105887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22088138" y="29523162"/>
            <a:ext cx="229945" cy="266708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V="1">
            <a:off x="22318083" y="29665430"/>
            <a:ext cx="229945" cy="124440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22548028" y="29428401"/>
            <a:ext cx="229944" cy="237029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22777972" y="29422120"/>
            <a:ext cx="229945" cy="6281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23007917" y="29301407"/>
            <a:ext cx="229945" cy="120713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23237862" y="29301407"/>
            <a:ext cx="229945" cy="45575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23467807" y="29346982"/>
            <a:ext cx="229944" cy="336104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23697751" y="29683086"/>
            <a:ext cx="229945" cy="22639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 flipV="1">
            <a:off x="23927696" y="29592062"/>
            <a:ext cx="229945" cy="113663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24157641" y="29581572"/>
            <a:ext cx="229944" cy="10490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 flipV="1">
            <a:off x="24387585" y="29332954"/>
            <a:ext cx="229945" cy="248618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24617530" y="29233525"/>
            <a:ext cx="229945" cy="99429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24847475" y="29233525"/>
            <a:ext cx="229944" cy="273146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25077419" y="29506671"/>
            <a:ext cx="229945" cy="90267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5307364" y="29596938"/>
            <a:ext cx="229945" cy="43057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5537309" y="29639995"/>
            <a:ext cx="229945" cy="106048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25767254" y="29486675"/>
            <a:ext cx="229944" cy="259368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25997198" y="29266917"/>
            <a:ext cx="229945" cy="219758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6227143" y="29266917"/>
            <a:ext cx="229945" cy="123547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26457088" y="29390464"/>
            <a:ext cx="229944" cy="25896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26687032" y="29416360"/>
            <a:ext cx="229945" cy="122085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26916977" y="29538445"/>
            <a:ext cx="229945" cy="257836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27146922" y="29648071"/>
            <a:ext cx="229945" cy="148210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27376867" y="29424057"/>
            <a:ext cx="229944" cy="224014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27606811" y="29420246"/>
            <a:ext cx="229945" cy="3811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27836756" y="29293739"/>
            <a:ext cx="229945" cy="126507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28066701" y="29293739"/>
            <a:ext cx="229944" cy="69192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28296645" y="29362931"/>
            <a:ext cx="229945" cy="333496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28526590" y="29696427"/>
            <a:ext cx="229945" cy="619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V="1">
            <a:off x="28756535" y="29591492"/>
            <a:ext cx="229945" cy="105554"/>
          </a:xfrm>
          <a:prstGeom prst="line">
            <a:avLst/>
          </a:prstGeom>
          <a:ln w="17780">
            <a:solidFill>
              <a:srgbClr val="2D5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21168360" y="29507687"/>
            <a:ext cx="7818120" cy="0"/>
          </a:xfrm>
          <a:prstGeom prst="line">
            <a:avLst/>
          </a:prstGeom>
          <a:ln w="12700">
            <a:solidFill>
              <a:srgbClr val="BF37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TextBox 613"/>
          <p:cNvSpPr txBox="1"/>
          <p:nvPr/>
        </p:nvSpPr>
        <p:spPr>
          <a:xfrm>
            <a:off x="21076919" y="30312360"/>
            <a:ext cx="8001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40" b="1" i="0">
                <a:solidFill>
                  <a:srgbClr val="2D5C97"/>
                </a:solidFill>
                <a:latin typeface="Aptos"/>
              </a:rPr>
              <a:t>~1,600 samples/s with bounded per-sample latency</a:t>
            </a:r>
          </a:p>
        </p:txBody>
      </p:sp>
      <p:sp>
        <p:nvSpPr>
          <p:cNvPr id="615" name="Rounded Rectangle 614"/>
          <p:cNvSpPr/>
          <p:nvPr/>
        </p:nvSpPr>
        <p:spPr>
          <a:xfrm>
            <a:off x="20253960" y="31912560"/>
            <a:ext cx="9646920" cy="685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Rectangle 615"/>
          <p:cNvSpPr/>
          <p:nvPr/>
        </p:nvSpPr>
        <p:spPr>
          <a:xfrm>
            <a:off x="20253960" y="31912560"/>
            <a:ext cx="9646920" cy="530352"/>
          </a:xfrm>
          <a:prstGeom prst="rect">
            <a:avLst/>
          </a:prstGeom>
          <a:solidFill>
            <a:srgbClr val="163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TextBox 616"/>
          <p:cNvSpPr txBox="1"/>
          <p:nvPr/>
        </p:nvSpPr>
        <p:spPr>
          <a:xfrm>
            <a:off x="20400264" y="31994856"/>
            <a:ext cx="9354312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10 · Takeaway and Future Work</a:t>
            </a:r>
          </a:p>
        </p:txBody>
      </p:sp>
      <p:sp>
        <p:nvSpPr>
          <p:cNvPr id="618" name="TextBox 617"/>
          <p:cNvSpPr txBox="1"/>
          <p:nvPr/>
        </p:nvSpPr>
        <p:spPr>
          <a:xfrm>
            <a:off x="20574000" y="32598360"/>
            <a:ext cx="900684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40" b="1" i="0">
                <a:solidFill>
                  <a:srgbClr val="163158"/>
                </a:solidFill>
                <a:latin typeface="Aptos"/>
              </a:rPr>
              <a:t>Self-organizing clustering with dynamic topology is feasible on a sub-10K-LUT FPGA when memory layout and arithmetic format are co-designed.</a:t>
            </a:r>
          </a:p>
        </p:txBody>
      </p:sp>
      <p:sp>
        <p:nvSpPr>
          <p:cNvPr id="619" name="Oval 618"/>
          <p:cNvSpPr/>
          <p:nvPr/>
        </p:nvSpPr>
        <p:spPr>
          <a:xfrm>
            <a:off x="20574000" y="33695639"/>
            <a:ext cx="146304" cy="146304"/>
          </a:xfrm>
          <a:prstGeom prst="ellipse">
            <a:avLst/>
          </a:prstGeom>
          <a:solidFill>
            <a:srgbClr val="2EA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20830032" y="33640776"/>
            <a:ext cx="873252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60" b="0" i="0">
                <a:solidFill>
                  <a:srgbClr val="18222E"/>
                </a:solidFill>
                <a:latin typeface="Aptos"/>
              </a:rPr>
              <a:t>Current evaluation: static 2D benchmarks; streaming non-stationary data remains future work.</a:t>
            </a:r>
          </a:p>
        </p:txBody>
      </p:sp>
      <p:sp>
        <p:nvSpPr>
          <p:cNvPr id="621" name="Oval 620"/>
          <p:cNvSpPr/>
          <p:nvPr/>
        </p:nvSpPr>
        <p:spPr>
          <a:xfrm>
            <a:off x="20574000" y="34317431"/>
            <a:ext cx="146304" cy="146304"/>
          </a:xfrm>
          <a:prstGeom prst="ellipse">
            <a:avLst/>
          </a:prstGeom>
          <a:solidFill>
            <a:srgbClr val="2EA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20830032" y="34262568"/>
            <a:ext cx="873252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60" b="0" i="0">
                <a:solidFill>
                  <a:srgbClr val="18222E"/>
                </a:solidFill>
                <a:latin typeface="Aptos"/>
              </a:rPr>
              <a:t>Next: parallel winner-search tree to reduce O(Nmax) latency toward O(log Nmax).</a:t>
            </a:r>
          </a:p>
        </p:txBody>
      </p:sp>
      <p:sp>
        <p:nvSpPr>
          <p:cNvPr id="623" name="Oval 622"/>
          <p:cNvSpPr/>
          <p:nvPr/>
        </p:nvSpPr>
        <p:spPr>
          <a:xfrm>
            <a:off x="20574000" y="34939223"/>
            <a:ext cx="146304" cy="146304"/>
          </a:xfrm>
          <a:prstGeom prst="ellipse">
            <a:avLst/>
          </a:prstGeom>
          <a:solidFill>
            <a:srgbClr val="2EA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20830032" y="34884360"/>
            <a:ext cx="873252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60" b="0" i="0">
                <a:solidFill>
                  <a:srgbClr val="18222E"/>
                </a:solidFill>
                <a:latin typeface="Aptos"/>
              </a:rPr>
              <a:t>Next: configurable Q-format constants and multi-stream sensor input.</a:t>
            </a:r>
          </a:p>
        </p:txBody>
      </p:sp>
      <p:sp>
        <p:nvSpPr>
          <p:cNvPr id="625" name="Oval 624"/>
          <p:cNvSpPr/>
          <p:nvPr/>
        </p:nvSpPr>
        <p:spPr>
          <a:xfrm>
            <a:off x="20574000" y="35561015"/>
            <a:ext cx="146304" cy="146304"/>
          </a:xfrm>
          <a:prstGeom prst="ellipse">
            <a:avLst/>
          </a:prstGeom>
          <a:solidFill>
            <a:srgbClr val="2EA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20830032" y="35506152"/>
            <a:ext cx="873252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60" b="0" i="0">
                <a:solidFill>
                  <a:srgbClr val="18222E"/>
                </a:solidFill>
                <a:latin typeface="Aptos"/>
              </a:rPr>
              <a:t>Target deployment: continual topology learning on low-power, memory-constrained robots/devices.</a:t>
            </a:r>
          </a:p>
        </p:txBody>
      </p:sp>
      <p:sp>
        <p:nvSpPr>
          <p:cNvPr id="627" name="Rounded Rectangle 626"/>
          <p:cNvSpPr/>
          <p:nvPr/>
        </p:nvSpPr>
        <p:spPr>
          <a:xfrm>
            <a:off x="20756880" y="36786312"/>
            <a:ext cx="8641080" cy="2148840"/>
          </a:xfrm>
          <a:prstGeom prst="roundRect">
            <a:avLst/>
          </a:prstGeom>
          <a:solidFill>
            <a:srgbClr val="163158"/>
          </a:solidFill>
          <a:ln w="10160">
            <a:solidFill>
              <a:srgbClr val="16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20985480" y="3706063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20" b="1" i="0">
                <a:solidFill>
                  <a:srgbClr val="FFFFFF"/>
                </a:solidFill>
                <a:latin typeface="Aptos"/>
              </a:rPr>
              <a:t>Code, poster,
slides, and data</a:t>
            </a:r>
          </a:p>
        </p:txBody>
      </p:sp>
      <p:pic>
        <p:nvPicPr>
          <p:cNvPr id="629" name="Picture 628" descr="fit_fpga_gng_qr_145x145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323039" y="37097208"/>
            <a:ext cx="1325880" cy="1325880"/>
          </a:xfrm>
          <a:prstGeom prst="rect">
            <a:avLst/>
          </a:prstGeom>
        </p:spPr>
      </p:pic>
      <p:sp>
        <p:nvSpPr>
          <p:cNvPr id="630" name="TextBox 629"/>
          <p:cNvSpPr txBox="1"/>
          <p:nvPr/>
        </p:nvSpPr>
        <p:spPr>
          <a:xfrm>
            <a:off x="25877519" y="37334952"/>
            <a:ext cx="320040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19" b="0" i="0">
                <a:solidFill>
                  <a:srgbClr val="FFFFFF"/>
                </a:solidFill>
                <a:latin typeface="Aptos"/>
              </a:rPr>
              <a:t>github.com/tzf230201/fpga_gng</a:t>
            </a:r>
          </a:p>
        </p:txBody>
      </p:sp>
      <p:sp>
        <p:nvSpPr>
          <p:cNvPr id="631" name="Rounded Rectangle 630"/>
          <p:cNvSpPr/>
          <p:nvPr/>
        </p:nvSpPr>
        <p:spPr>
          <a:xfrm>
            <a:off x="320040" y="38999160"/>
            <a:ext cx="29626560" cy="5440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Rectangle 631"/>
          <p:cNvSpPr/>
          <p:nvPr/>
        </p:nvSpPr>
        <p:spPr>
          <a:xfrm>
            <a:off x="320040" y="38999160"/>
            <a:ext cx="29626560" cy="530352"/>
          </a:xfrm>
          <a:prstGeom prst="rect">
            <a:avLst/>
          </a:prstGeom>
          <a:solidFill>
            <a:srgbClr val="163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extBox 632"/>
          <p:cNvSpPr txBox="1"/>
          <p:nvPr/>
        </p:nvSpPr>
        <p:spPr>
          <a:xfrm>
            <a:off x="466344" y="39081456"/>
            <a:ext cx="29333952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Prospective Edge-Robotics Applications</a:t>
            </a:r>
          </a:p>
        </p:txBody>
      </p:sp>
      <p:sp>
        <p:nvSpPr>
          <p:cNvPr id="634" name="Rounded Rectangle 633"/>
          <p:cNvSpPr/>
          <p:nvPr/>
        </p:nvSpPr>
        <p:spPr>
          <a:xfrm>
            <a:off x="594360" y="39822120"/>
            <a:ext cx="5669280" cy="4224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5" name="Picture 634" descr="card_future-aerial-robot_620x46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224" y="39876984"/>
            <a:ext cx="5559552" cy="3419856"/>
          </a:xfrm>
          <a:prstGeom prst="rect">
            <a:avLst/>
          </a:prstGeom>
        </p:spPr>
      </p:pic>
      <p:sp>
        <p:nvSpPr>
          <p:cNvPr id="636" name="TextBox 635"/>
          <p:cNvSpPr txBox="1"/>
          <p:nvPr/>
        </p:nvSpPr>
        <p:spPr>
          <a:xfrm>
            <a:off x="667512" y="43351704"/>
            <a:ext cx="552297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40" b="1" i="0">
                <a:solidFill>
                  <a:srgbClr val="163158"/>
                </a:solidFill>
                <a:latin typeface="Aptos"/>
              </a:rPr>
              <a:t>Lightweight flapping robot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667512" y="43571160"/>
            <a:ext cx="552297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19" b="0" i="0">
                <a:solidFill>
                  <a:srgbClr val="465870"/>
                </a:solidFill>
                <a:latin typeface="Aptos"/>
              </a:rPr>
              <a:t>payload-limited topology mapping</a:t>
            </a:r>
          </a:p>
        </p:txBody>
      </p:sp>
      <p:sp>
        <p:nvSpPr>
          <p:cNvPr id="638" name="Rounded Rectangle 637"/>
          <p:cNvSpPr/>
          <p:nvPr/>
        </p:nvSpPr>
        <p:spPr>
          <a:xfrm>
            <a:off x="6428232" y="39822120"/>
            <a:ext cx="5669280" cy="4224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9" name="Picture 638" descr="card_future-bio-inspired-robot_620x46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3096" y="39876984"/>
            <a:ext cx="5559552" cy="3419856"/>
          </a:xfrm>
          <a:prstGeom prst="rect">
            <a:avLst/>
          </a:prstGeom>
        </p:spPr>
      </p:pic>
      <p:sp>
        <p:nvSpPr>
          <p:cNvPr id="640" name="TextBox 639"/>
          <p:cNvSpPr txBox="1"/>
          <p:nvPr/>
        </p:nvSpPr>
        <p:spPr>
          <a:xfrm>
            <a:off x="6501384" y="43351704"/>
            <a:ext cx="552297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40" b="1" i="0">
                <a:solidFill>
                  <a:srgbClr val="163158"/>
                </a:solidFill>
                <a:latin typeface="Aptos"/>
              </a:rPr>
              <a:t>Bio-inspired robot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6501384" y="43571160"/>
            <a:ext cx="552297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19" b="0" i="0">
                <a:solidFill>
                  <a:srgbClr val="465870"/>
                </a:solidFill>
                <a:latin typeface="Aptos"/>
              </a:rPr>
              <a:t>strict body and actuator constraints</a:t>
            </a:r>
          </a:p>
        </p:txBody>
      </p:sp>
      <p:sp>
        <p:nvSpPr>
          <p:cNvPr id="642" name="Rounded Rectangle 641"/>
          <p:cNvSpPr/>
          <p:nvPr/>
        </p:nvSpPr>
        <p:spPr>
          <a:xfrm>
            <a:off x="12262104" y="39822120"/>
            <a:ext cx="5669280" cy="4224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3" name="Picture 642" descr="card_future-swarm-robot_620x46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316968" y="39876984"/>
            <a:ext cx="5559552" cy="3419856"/>
          </a:xfrm>
          <a:prstGeom prst="rect">
            <a:avLst/>
          </a:prstGeom>
        </p:spPr>
      </p:pic>
      <p:sp>
        <p:nvSpPr>
          <p:cNvPr id="644" name="TextBox 643"/>
          <p:cNvSpPr txBox="1"/>
          <p:nvPr/>
        </p:nvSpPr>
        <p:spPr>
          <a:xfrm>
            <a:off x="12335256" y="43351704"/>
            <a:ext cx="552297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40" b="1" i="0">
                <a:solidFill>
                  <a:srgbClr val="163158"/>
                </a:solidFill>
                <a:latin typeface="Aptos"/>
              </a:rPr>
              <a:t>Swarm robot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12335256" y="43571160"/>
            <a:ext cx="552297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19" b="0" i="0">
                <a:solidFill>
                  <a:srgbClr val="465870"/>
                </a:solidFill>
                <a:latin typeface="Aptos"/>
              </a:rPr>
              <a:t>distributed intelligence, low memory</a:t>
            </a:r>
          </a:p>
        </p:txBody>
      </p:sp>
      <p:sp>
        <p:nvSpPr>
          <p:cNvPr id="646" name="Rounded Rectangle 645"/>
          <p:cNvSpPr/>
          <p:nvPr/>
        </p:nvSpPr>
        <p:spPr>
          <a:xfrm>
            <a:off x="18095976" y="39822120"/>
            <a:ext cx="5669280" cy="4224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7" name="Picture 646" descr="card_future-exploration-robot_620x462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150839" y="39876984"/>
            <a:ext cx="5559552" cy="3419856"/>
          </a:xfrm>
          <a:prstGeom prst="rect">
            <a:avLst/>
          </a:prstGeom>
        </p:spPr>
      </p:pic>
      <p:sp>
        <p:nvSpPr>
          <p:cNvPr id="648" name="TextBox 647"/>
          <p:cNvSpPr txBox="1"/>
          <p:nvPr/>
        </p:nvSpPr>
        <p:spPr>
          <a:xfrm>
            <a:off x="18169127" y="43351704"/>
            <a:ext cx="552297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40" b="1" i="0">
                <a:solidFill>
                  <a:srgbClr val="163158"/>
                </a:solidFill>
                <a:latin typeface="Aptos"/>
              </a:rPr>
              <a:t>Long-term exploration robot</a:t>
            </a:r>
          </a:p>
        </p:txBody>
      </p:sp>
      <p:sp>
        <p:nvSpPr>
          <p:cNvPr id="649" name="TextBox 648"/>
          <p:cNvSpPr txBox="1"/>
          <p:nvPr/>
        </p:nvSpPr>
        <p:spPr>
          <a:xfrm>
            <a:off x="18169127" y="43571160"/>
            <a:ext cx="552297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19" b="0" i="0">
                <a:solidFill>
                  <a:srgbClr val="465870"/>
                </a:solidFill>
                <a:latin typeface="Aptos"/>
              </a:rPr>
              <a:t>low power, adaptive autonomy</a:t>
            </a:r>
          </a:p>
        </p:txBody>
      </p:sp>
      <p:sp>
        <p:nvSpPr>
          <p:cNvPr id="650" name="Rounded Rectangle 649"/>
          <p:cNvSpPr/>
          <p:nvPr/>
        </p:nvSpPr>
        <p:spPr>
          <a:xfrm>
            <a:off x="23929848" y="39822120"/>
            <a:ext cx="5669280" cy="4224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1" name="Picture 650" descr="card_future-pipe-exploration-robot_620x462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984711" y="39876984"/>
            <a:ext cx="5559552" cy="3419856"/>
          </a:xfrm>
          <a:prstGeom prst="rect">
            <a:avLst/>
          </a:prstGeom>
        </p:spPr>
      </p:pic>
      <p:sp>
        <p:nvSpPr>
          <p:cNvPr id="652" name="TextBox 651"/>
          <p:cNvSpPr txBox="1"/>
          <p:nvPr/>
        </p:nvSpPr>
        <p:spPr>
          <a:xfrm>
            <a:off x="24002999" y="43351704"/>
            <a:ext cx="552297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40" b="1" i="0">
                <a:solidFill>
                  <a:srgbClr val="163158"/>
                </a:solidFill>
                <a:latin typeface="Aptos"/>
              </a:rPr>
              <a:t>Infrastructure inspection</a:t>
            </a:r>
          </a:p>
        </p:txBody>
      </p:sp>
      <p:sp>
        <p:nvSpPr>
          <p:cNvPr id="653" name="TextBox 652"/>
          <p:cNvSpPr txBox="1"/>
          <p:nvPr/>
        </p:nvSpPr>
        <p:spPr>
          <a:xfrm>
            <a:off x="24002999" y="43571160"/>
            <a:ext cx="552297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19" b="0" i="0">
                <a:solidFill>
                  <a:srgbClr val="465870"/>
                </a:solidFill>
                <a:latin typeface="Aptos"/>
              </a:rPr>
              <a:t>narrow spaces, local computation</a:t>
            </a:r>
          </a:p>
        </p:txBody>
      </p:sp>
      <p:pic>
        <p:nvPicPr>
          <p:cNvPr id="654" name="Picture 653" descr="fit_moonshot_logo_200x42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1480" y="44668440"/>
            <a:ext cx="1828800" cy="384048"/>
          </a:xfrm>
          <a:prstGeom prst="rect">
            <a:avLst/>
          </a:prstGeom>
        </p:spPr>
      </p:pic>
      <p:sp>
        <p:nvSpPr>
          <p:cNvPr id="655" name="TextBox 654"/>
          <p:cNvSpPr txBox="1"/>
          <p:nvPr/>
        </p:nvSpPr>
        <p:spPr>
          <a:xfrm>
            <a:off x="2468880" y="44695872"/>
            <a:ext cx="12344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 i="0">
                <a:solidFill>
                  <a:srgbClr val="465870"/>
                </a:solidFill>
                <a:latin typeface="Aptos"/>
              </a:rPr>
              <a:t>Supported by the Japan Science and Technology Agency (JST), Moonshot R&amp;D Program, grant JPMJMS2034.</a:t>
            </a:r>
          </a:p>
        </p:txBody>
      </p:sp>
      <p:sp>
        <p:nvSpPr>
          <p:cNvPr id="656" name="TextBox 655"/>
          <p:cNvSpPr txBox="1"/>
          <p:nvPr/>
        </p:nvSpPr>
        <p:spPr>
          <a:xfrm>
            <a:off x="25603200" y="4469587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80" b="0" i="0">
                <a:solidFill>
                  <a:srgbClr val="2D5C97"/>
                </a:solidFill>
                <a:latin typeface="Aptos"/>
              </a:rPr>
              <a:t>[email protected]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