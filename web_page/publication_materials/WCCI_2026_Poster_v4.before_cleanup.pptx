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9975" cy="45339000"/>
  <p:notesSz cx="45339000" cy="302799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" d="100"/>
          <a:sy n="16" d="100"/>
        </p:scale>
        <p:origin x="330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088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jpe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0.jpeg"/><Relationship Id="rId17" Type="http://schemas.openxmlformats.org/officeDocument/2006/relationships/image" Target="../media/image15.svg"/><Relationship Id="rId25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29" Type="http://schemas.openxmlformats.org/officeDocument/2006/relationships/image" Target="../media/image2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jpe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jpe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jpe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jpeg"/><Relationship Id="rId30" Type="http://schemas.openxmlformats.org/officeDocument/2006/relationships/hyperlink" Target="https://88be6cce-0e8c-4ab1-91ae-58291673f02e.claudeusercontent.com/cdn-cgi/l/email-prote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769" y="285750"/>
            <a:ext cx="29632354" cy="3429676"/>
          </a:xfrm>
          <a:prstGeom prst="roundRect">
            <a:avLst>
              <a:gd name="adj" fmla="val 3888"/>
            </a:avLst>
          </a:prstGeom>
          <a:ln w="25977">
            <a:solidFill>
              <a:srgbClr val="1C335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65" y="1150441"/>
            <a:ext cx="3238500" cy="1700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53357" y="559323"/>
            <a:ext cx="22344680" cy="1385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Edge-Cell Graph Encoding and Fixed-Point Arithmetic for FPGA Growing Neural Gas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10700627" y="2020545"/>
            <a:ext cx="9450139" cy="401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Online Topology Learning Down to Embedded FPGA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5870559" y="2555514"/>
            <a:ext cx="19110274" cy="491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3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Teuku Zikri Fatahillah</a:t>
            </a:r>
            <a:r>
              <a:rPr lang="en-US" sz="1937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23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Raditya Artha Rochmanto</a:t>
            </a:r>
            <a:r>
              <a:rPr lang="en-US" sz="1937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 </a:t>
            </a:r>
            <a:r>
              <a:rPr lang="en-US" sz="23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Achmad Fahrul Aji</a:t>
            </a:r>
            <a:r>
              <a:rPr lang="en-US" sz="1937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 </a:t>
            </a:r>
            <a:r>
              <a:rPr lang="en-US" sz="23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Anhar Risnumawan</a:t>
            </a:r>
            <a:r>
              <a:rPr lang="en-US" sz="1937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 </a:t>
            </a:r>
            <a:r>
              <a:rPr lang="en-US" sz="23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Chyan Zheng Siow</a:t>
            </a:r>
            <a:r>
              <a:rPr lang="en-US" sz="1937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 </a:t>
            </a:r>
            <a:r>
              <a:rPr lang="en-US" sz="23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Naoyuki Kubota</a:t>
            </a:r>
            <a:r>
              <a:rPr lang="en-US" sz="1937" baseline="30000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325" dirty="0"/>
          </a:p>
        </p:txBody>
      </p:sp>
      <p:sp>
        <p:nvSpPr>
          <p:cNvPr id="7" name="Text 4"/>
          <p:cNvSpPr/>
          <p:nvPr/>
        </p:nvSpPr>
        <p:spPr>
          <a:xfrm>
            <a:off x="6822017" y="3123226"/>
            <a:ext cx="17207359" cy="35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aseline="3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 Metropolitan University, Japan </a:t>
            </a:r>
            <a:r>
              <a:rPr lang="en-US" sz="1500" baseline="3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Politeknik Negeri Semarang, Indonesia </a:t>
            </a:r>
            <a:r>
              <a:rPr lang="en-US" sz="1500" baseline="3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Politeknik Elektronika Negeri Surabaya, Indonesia </a:t>
            </a:r>
            <a:r>
              <a:rPr lang="en-US" sz="1500" baseline="3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Changsha CCAVC, China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8879" y="929770"/>
            <a:ext cx="2667000" cy="17502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033592" y="2794180"/>
            <a:ext cx="2097435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21–26, 2026</a:t>
            </a:r>
            <a:endParaRPr lang="en-US" sz="1875" dirty="0"/>
          </a:p>
        </p:txBody>
      </p:sp>
      <p:sp>
        <p:nvSpPr>
          <p:cNvPr id="10" name="Shape 6"/>
          <p:cNvSpPr/>
          <p:nvPr/>
        </p:nvSpPr>
        <p:spPr>
          <a:xfrm>
            <a:off x="323769" y="3867772"/>
            <a:ext cx="29632354" cy="558647"/>
          </a:xfrm>
          <a:prstGeom prst="roundRect">
            <a:avLst>
              <a:gd name="adj" fmla="val 23870"/>
            </a:avLst>
          </a:prstGeom>
          <a:solidFill>
            <a:srgbClr val="FFFFFF"/>
          </a:solidFill>
          <a:ln w="17318">
            <a:solidFill>
              <a:srgbClr val="D4DB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23097" y="3885090"/>
            <a:ext cx="17318" cy="1499511"/>
          </a:xfrm>
          <a:prstGeom prst="rect">
            <a:avLst/>
          </a:prstGeom>
          <a:solidFill>
            <a:srgbClr val="EEF1F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837" y="4282462"/>
            <a:ext cx="704769" cy="7047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22106" y="4094532"/>
            <a:ext cx="2445693" cy="59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−41%</a:t>
            </a:r>
            <a:endParaRPr lang="en-US" sz="4350" dirty="0"/>
          </a:p>
        </p:txBody>
      </p:sp>
      <p:sp>
        <p:nvSpPr>
          <p:cNvPr id="14" name="Text 9"/>
          <p:cNvSpPr/>
          <p:nvPr/>
        </p:nvSpPr>
        <p:spPr>
          <a:xfrm>
            <a:off x="1522106" y="4646955"/>
            <a:ext cx="2445693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Graph-State Memory</a:t>
            </a:r>
            <a:endParaRPr lang="en-US" sz="1875" dirty="0"/>
          </a:p>
        </p:txBody>
      </p:sp>
      <p:sp>
        <p:nvSpPr>
          <p:cNvPr id="15" name="Text 10"/>
          <p:cNvSpPr/>
          <p:nvPr/>
        </p:nvSpPr>
        <p:spPr>
          <a:xfrm>
            <a:off x="1522106" y="4924046"/>
            <a:ext cx="2445693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(2,000 B → 1,180 B)</a:t>
            </a:r>
            <a:endParaRPr lang="en-US" sz="1575" dirty="0"/>
          </a:p>
        </p:txBody>
      </p:sp>
      <p:sp>
        <p:nvSpPr>
          <p:cNvPr id="16" name="Shape 11"/>
          <p:cNvSpPr/>
          <p:nvPr/>
        </p:nvSpPr>
        <p:spPr>
          <a:xfrm>
            <a:off x="15122561" y="3885090"/>
            <a:ext cx="17318" cy="1499511"/>
          </a:xfrm>
          <a:prstGeom prst="rect">
            <a:avLst/>
          </a:prstGeom>
          <a:solidFill>
            <a:srgbClr val="EEF1F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6165" y="4282462"/>
            <a:ext cx="704769" cy="7047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21434" y="4098862"/>
            <a:ext cx="2329755" cy="59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~625 µs</a:t>
            </a:r>
            <a:endParaRPr lang="en-US" sz="4350" dirty="0"/>
          </a:p>
        </p:txBody>
      </p:sp>
      <p:sp>
        <p:nvSpPr>
          <p:cNvPr id="19" name="Text 13"/>
          <p:cNvSpPr/>
          <p:nvPr/>
        </p:nvSpPr>
        <p:spPr>
          <a:xfrm>
            <a:off x="8921434" y="4651285"/>
            <a:ext cx="2329755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per Sample</a:t>
            </a:r>
            <a:endParaRPr lang="en-US" sz="1875" dirty="0"/>
          </a:p>
        </p:txBody>
      </p:sp>
      <p:sp>
        <p:nvSpPr>
          <p:cNvPr id="20" name="Text 14"/>
          <p:cNvSpPr/>
          <p:nvPr/>
        </p:nvSpPr>
        <p:spPr>
          <a:xfrm>
            <a:off x="8921434" y="4928375"/>
            <a:ext cx="2329755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(@ 27 MHz)</a:t>
            </a:r>
            <a:endParaRPr lang="en-US" sz="1575" dirty="0"/>
          </a:p>
        </p:txBody>
      </p:sp>
      <p:sp>
        <p:nvSpPr>
          <p:cNvPr id="21" name="Shape 15"/>
          <p:cNvSpPr/>
          <p:nvPr/>
        </p:nvSpPr>
        <p:spPr>
          <a:xfrm>
            <a:off x="22522024" y="3885090"/>
            <a:ext cx="17318" cy="1499511"/>
          </a:xfrm>
          <a:prstGeom prst="rect">
            <a:avLst/>
          </a:prstGeom>
          <a:solidFill>
            <a:srgbClr val="EEF1F6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425628" y="4282462"/>
            <a:ext cx="704769" cy="70476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320898" y="4098862"/>
            <a:ext cx="1698426" cy="59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4350" dirty="0"/>
          </a:p>
        </p:txBody>
      </p:sp>
      <p:sp>
        <p:nvSpPr>
          <p:cNvPr id="24" name="Text 17"/>
          <p:cNvSpPr/>
          <p:nvPr/>
        </p:nvSpPr>
        <p:spPr>
          <a:xfrm>
            <a:off x="16320898" y="4651285"/>
            <a:ext cx="1698426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 Utilization</a:t>
            </a:r>
            <a:endParaRPr lang="en-US" sz="1875" dirty="0"/>
          </a:p>
        </p:txBody>
      </p:sp>
      <p:sp>
        <p:nvSpPr>
          <p:cNvPr id="25" name="Text 18"/>
          <p:cNvSpPr/>
          <p:nvPr/>
        </p:nvSpPr>
        <p:spPr>
          <a:xfrm>
            <a:off x="16320898" y="4928375"/>
            <a:ext cx="1698426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(of 8,640 LUTs)</a:t>
            </a:r>
            <a:endParaRPr lang="en-US" sz="1575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25093" y="4282462"/>
            <a:ext cx="704769" cy="70476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3720361" y="4098862"/>
            <a:ext cx="2125861" cy="59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6B4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~1,600</a:t>
            </a:r>
            <a:endParaRPr lang="en-US" sz="4350" dirty="0"/>
          </a:p>
        </p:txBody>
      </p:sp>
      <p:sp>
        <p:nvSpPr>
          <p:cNvPr id="28" name="Text 20"/>
          <p:cNvSpPr/>
          <p:nvPr/>
        </p:nvSpPr>
        <p:spPr>
          <a:xfrm>
            <a:off x="23720361" y="4651285"/>
            <a:ext cx="2125861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/ Second</a:t>
            </a:r>
            <a:endParaRPr lang="en-US" sz="1875" dirty="0"/>
          </a:p>
        </p:txBody>
      </p:sp>
      <p:sp>
        <p:nvSpPr>
          <p:cNvPr id="29" name="Text 21"/>
          <p:cNvSpPr/>
          <p:nvPr/>
        </p:nvSpPr>
        <p:spPr>
          <a:xfrm>
            <a:off x="23720361" y="4928375"/>
            <a:ext cx="2125861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(Throughput)</a:t>
            </a:r>
            <a:endParaRPr lang="en-US" sz="1575" dirty="0"/>
          </a:p>
        </p:txBody>
      </p:sp>
      <p:sp>
        <p:nvSpPr>
          <p:cNvPr id="30" name="Shape 22"/>
          <p:cNvSpPr/>
          <p:nvPr/>
        </p:nvSpPr>
        <p:spPr>
          <a:xfrm>
            <a:off x="323769" y="4578765"/>
            <a:ext cx="8731746" cy="8414742"/>
          </a:xfrm>
          <a:prstGeom prst="roundRect">
            <a:avLst>
              <a:gd name="adj" fmla="val 1358"/>
            </a:avLst>
          </a:prstGeom>
          <a:ln w="17318">
            <a:solidFill>
              <a:srgbClr val="D4DBE6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341087" y="4596083"/>
            <a:ext cx="8697109" cy="574747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32" name="Text 24"/>
          <p:cNvSpPr/>
          <p:nvPr/>
        </p:nvSpPr>
        <p:spPr>
          <a:xfrm>
            <a:off x="569687" y="4710383"/>
            <a:ext cx="8500823" cy="384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MOTIVATION &amp; PROBLEM</a:t>
            </a:r>
            <a:endParaRPr lang="en-US" sz="2400" dirty="0"/>
          </a:p>
        </p:txBody>
      </p:sp>
      <p:sp>
        <p:nvSpPr>
          <p:cNvPr id="33" name="Shape 25"/>
          <p:cNvSpPr/>
          <p:nvPr/>
        </p:nvSpPr>
        <p:spPr>
          <a:xfrm>
            <a:off x="341087" y="5170830"/>
            <a:ext cx="8697109" cy="780535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8683" y="5380272"/>
            <a:ext cx="438096" cy="43809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179125" y="5380272"/>
            <a:ext cx="7839820" cy="775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deep-learning systems rely on </a:t>
            </a:r>
            <a:r>
              <a:rPr lang="en-US" sz="20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labels, pre-training, or task-specific priors </a:t>
            </a:r>
            <a:r>
              <a:rPr lang="en-US" sz="20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8683" y="6269993"/>
            <a:ext cx="438096" cy="43809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179125" y="6269993"/>
            <a:ext cx="7839820" cy="766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unseen or changing environments, robots must discover structure directly from </a:t>
            </a:r>
            <a:r>
              <a:rPr lang="en-US" sz="20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sensory data</a:t>
            </a:r>
            <a:r>
              <a:rPr lang="en-US" sz="20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8683" y="7151056"/>
            <a:ext cx="438096" cy="43809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179125" y="7151056"/>
            <a:ext cx="7839820" cy="766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topology learners like </a:t>
            </a:r>
            <a:r>
              <a:rPr lang="en-US" sz="20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and GNG </a:t>
            </a:r>
            <a:r>
              <a:rPr lang="en-US" sz="20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online without labels.</a:t>
            </a:r>
            <a:endParaRPr lang="en-US" sz="2025" dirty="0"/>
          </a:p>
        </p:txBody>
      </p:sp>
      <p:sp>
        <p:nvSpPr>
          <p:cNvPr id="40" name="Shape 29"/>
          <p:cNvSpPr/>
          <p:nvPr/>
        </p:nvSpPr>
        <p:spPr>
          <a:xfrm>
            <a:off x="588683" y="8032118"/>
            <a:ext cx="8201917" cy="3556045"/>
          </a:xfrm>
          <a:prstGeom prst="roundRect">
            <a:avLst>
              <a:gd name="adj" fmla="val 2679"/>
            </a:avLst>
          </a:prstGeom>
          <a:solidFill>
            <a:srgbClr val="FFFDF7"/>
          </a:solidFill>
          <a:ln w="17318">
            <a:solidFill>
              <a:srgbClr val="ECD9B3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777424" y="8182705"/>
            <a:ext cx="860687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But deploying GNG on tiny FPGAs is challenging:</a:t>
            </a:r>
            <a:endParaRPr lang="en-US" sz="1800" dirty="0"/>
          </a:p>
        </p:txBody>
      </p:sp>
      <p:sp>
        <p:nvSpPr>
          <p:cNvPr id="42" name="Text 31"/>
          <p:cNvSpPr/>
          <p:nvPr/>
        </p:nvSpPr>
        <p:spPr>
          <a:xfrm>
            <a:off x="777424" y="8542869"/>
            <a:ext cx="860687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Dynamic topology on static hardware</a:t>
            </a:r>
            <a:endParaRPr lang="en-US" sz="1725" dirty="0"/>
          </a:p>
        </p:txBody>
      </p:sp>
      <p:sp>
        <p:nvSpPr>
          <p:cNvPr id="43" name="Text 32"/>
          <p:cNvSpPr/>
          <p:nvPr/>
        </p:nvSpPr>
        <p:spPr>
          <a:xfrm>
            <a:off x="777424" y="8865826"/>
            <a:ext cx="8059168" cy="603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continually creates, ages, and removes edges — creating irregular memory access and control-flow pressure on a small FPGA.</a:t>
            </a:r>
            <a:endParaRPr lang="en-US" sz="1650" dirty="0"/>
          </a:p>
        </p:txBody>
      </p:sp>
      <p:sp>
        <p:nvSpPr>
          <p:cNvPr id="44" name="Text 33"/>
          <p:cNvSpPr/>
          <p:nvPr/>
        </p:nvSpPr>
        <p:spPr>
          <a:xfrm>
            <a:off x="777424" y="9526894"/>
            <a:ext cx="860687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Dense adjacency wastes graph memory</a:t>
            </a:r>
            <a:endParaRPr lang="en-US" sz="1725" dirty="0"/>
          </a:p>
        </p:txBody>
      </p:sp>
      <p:sp>
        <p:nvSpPr>
          <p:cNvPr id="45" name="Text 34"/>
          <p:cNvSpPr/>
          <p:nvPr/>
        </p:nvSpPr>
        <p:spPr>
          <a:xfrm>
            <a:off x="777424" y="9849851"/>
            <a:ext cx="8059168" cy="641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N×N adjacency matrix at N</a:t>
            </a:r>
            <a:r>
              <a:rPr lang="en-US" sz="1375" baseline="-400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</a:t>
            </a:r>
            <a:r>
              <a:rPr lang="en-US" sz="16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=40 alone consumes 1,600 B before any node coordinate is stored.</a:t>
            </a:r>
            <a:endParaRPr lang="en-US" sz="1650" dirty="0"/>
          </a:p>
        </p:txBody>
      </p:sp>
      <p:sp>
        <p:nvSpPr>
          <p:cNvPr id="46" name="Text 35"/>
          <p:cNvSpPr/>
          <p:nvPr/>
        </p:nvSpPr>
        <p:spPr>
          <a:xfrm>
            <a:off x="777424" y="10548801"/>
            <a:ext cx="860687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Floating-point units are too costly</a:t>
            </a:r>
            <a:endParaRPr lang="en-US" sz="1725" dirty="0"/>
          </a:p>
        </p:txBody>
      </p:sp>
      <p:sp>
        <p:nvSpPr>
          <p:cNvPr id="47" name="Text 36"/>
          <p:cNvSpPr/>
          <p:nvPr/>
        </p:nvSpPr>
        <p:spPr>
          <a:xfrm>
            <a:off x="777424" y="10871758"/>
            <a:ext cx="8059168" cy="603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Per-sample distance and learning-rate updates increase area and latency, limiting usefulness on a sub-10K-LUT FPGA.</a:t>
            </a:r>
            <a:endParaRPr lang="en-US" sz="1650" dirty="0"/>
          </a:p>
        </p:txBody>
      </p:sp>
      <p:sp>
        <p:nvSpPr>
          <p:cNvPr id="48" name="Shape 37"/>
          <p:cNvSpPr/>
          <p:nvPr/>
        </p:nvSpPr>
        <p:spPr>
          <a:xfrm>
            <a:off x="588683" y="11683414"/>
            <a:ext cx="8201917" cy="1083333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49" name="Shape 38"/>
          <p:cNvSpPr/>
          <p:nvPr/>
        </p:nvSpPr>
        <p:spPr>
          <a:xfrm>
            <a:off x="588683" y="11683414"/>
            <a:ext cx="43295" cy="1083333"/>
          </a:xfrm>
          <a:prstGeom prst="rect">
            <a:avLst/>
          </a:prstGeom>
          <a:solidFill>
            <a:srgbClr val="3B6DB4"/>
          </a:solidFill>
          <a:ln/>
        </p:spPr>
      </p:sp>
      <p:sp>
        <p:nvSpPr>
          <p:cNvPr id="50" name="Text 39"/>
          <p:cNvSpPr/>
          <p:nvPr/>
        </p:nvSpPr>
        <p:spPr>
          <a:xfrm>
            <a:off x="784324" y="11797605"/>
            <a:ext cx="863932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target</a:t>
            </a:r>
            <a:endParaRPr lang="en-US" sz="1725" dirty="0"/>
          </a:p>
        </p:txBody>
      </p:sp>
      <p:sp>
        <p:nvSpPr>
          <p:cNvPr id="51" name="Text 40"/>
          <p:cNvSpPr/>
          <p:nvPr/>
        </p:nvSpPr>
        <p:spPr>
          <a:xfrm>
            <a:off x="784324" y="12095397"/>
            <a:ext cx="7727637" cy="572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bounded-memory, integer-only GNG accelerator that preserves dynamic topology while fitting the Tang Nano 9K resource envelope.</a:t>
            </a:r>
            <a:endParaRPr lang="en-US" sz="1650" dirty="0"/>
          </a:p>
        </p:txBody>
      </p:sp>
      <p:sp>
        <p:nvSpPr>
          <p:cNvPr id="52" name="Shape 41"/>
          <p:cNvSpPr/>
          <p:nvPr/>
        </p:nvSpPr>
        <p:spPr>
          <a:xfrm>
            <a:off x="323769" y="13145852"/>
            <a:ext cx="8731746" cy="20714710"/>
          </a:xfrm>
          <a:prstGeom prst="roundRect">
            <a:avLst>
              <a:gd name="adj" fmla="val 1309"/>
            </a:avLst>
          </a:prstGeom>
          <a:ln w="17318">
            <a:solidFill>
              <a:srgbClr val="D4DBE6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341087" y="13163171"/>
            <a:ext cx="8697109" cy="574747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54" name="Text 43"/>
          <p:cNvSpPr/>
          <p:nvPr/>
        </p:nvSpPr>
        <p:spPr>
          <a:xfrm>
            <a:off x="569687" y="13277471"/>
            <a:ext cx="8500823" cy="384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METHOD OVERVIEW</a:t>
            </a:r>
            <a:endParaRPr lang="en-US" sz="2400" dirty="0"/>
          </a:p>
        </p:txBody>
      </p:sp>
      <p:sp>
        <p:nvSpPr>
          <p:cNvPr id="55" name="Shape 44"/>
          <p:cNvSpPr/>
          <p:nvPr/>
        </p:nvSpPr>
        <p:spPr>
          <a:xfrm>
            <a:off x="341087" y="13737917"/>
            <a:ext cx="8697109" cy="201053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45"/>
          <p:cNvSpPr/>
          <p:nvPr/>
        </p:nvSpPr>
        <p:spPr>
          <a:xfrm>
            <a:off x="588683" y="13947359"/>
            <a:ext cx="8201917" cy="1318617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57" name="Shape 46"/>
          <p:cNvSpPr/>
          <p:nvPr/>
        </p:nvSpPr>
        <p:spPr>
          <a:xfrm>
            <a:off x="588683" y="13947359"/>
            <a:ext cx="43295" cy="1318617"/>
          </a:xfrm>
          <a:prstGeom prst="rect">
            <a:avLst/>
          </a:prstGeom>
          <a:solidFill>
            <a:srgbClr val="3B6DB4"/>
          </a:solidFill>
          <a:ln/>
        </p:spPr>
      </p:sp>
      <p:sp>
        <p:nvSpPr>
          <p:cNvPr id="58" name="Text 47"/>
          <p:cNvSpPr/>
          <p:nvPr/>
        </p:nvSpPr>
        <p:spPr>
          <a:xfrm>
            <a:off x="803401" y="14080629"/>
            <a:ext cx="8050250" cy="1090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GNG? </a:t>
            </a:r>
            <a:r>
              <a:rPr lang="en-US" sz="18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Neural Gas is a self-organizing clustering algorithm that </a:t>
            </a:r>
            <a:r>
              <a:rPr lang="en-US" sz="18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incrementally learns a graph </a:t>
            </a:r>
            <a:r>
              <a:rPr lang="en-US" sz="18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approximating the data distribution — discovering both prototype nodes and their topology </a:t>
            </a:r>
            <a:r>
              <a:rPr lang="en-US" sz="18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online, without labels</a:t>
            </a:r>
            <a:r>
              <a:rPr lang="en-US" sz="18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59" name="Shape 48"/>
          <p:cNvSpPr/>
          <p:nvPr/>
        </p:nvSpPr>
        <p:spPr>
          <a:xfrm>
            <a:off x="588683" y="15380168"/>
            <a:ext cx="8201917" cy="7833230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60" name="Shape 49"/>
          <p:cNvSpPr/>
          <p:nvPr/>
        </p:nvSpPr>
        <p:spPr>
          <a:xfrm>
            <a:off x="588683" y="15380168"/>
            <a:ext cx="43295" cy="7833230"/>
          </a:xfrm>
          <a:prstGeom prst="rect">
            <a:avLst/>
          </a:prstGeom>
          <a:solidFill>
            <a:srgbClr val="3B6DB4"/>
          </a:solidFill>
          <a:ln/>
        </p:spPr>
      </p:sp>
      <p:sp>
        <p:nvSpPr>
          <p:cNvPr id="61" name="Text 50"/>
          <p:cNvSpPr/>
          <p:nvPr/>
        </p:nvSpPr>
        <p:spPr>
          <a:xfrm>
            <a:off x="803401" y="15513437"/>
            <a:ext cx="8597354" cy="375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Fused Update Pass</a:t>
            </a:r>
            <a:endParaRPr lang="en-US" sz="1950" dirty="0"/>
          </a:p>
        </p:txBody>
      </p:sp>
      <p:sp>
        <p:nvSpPr>
          <p:cNvPr id="62" name="Text 51"/>
          <p:cNvSpPr/>
          <p:nvPr/>
        </p:nvSpPr>
        <p:spPr>
          <a:xfrm>
            <a:off x="803401" y="15898767"/>
            <a:ext cx="8050250" cy="678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decay, edge aging, neighbor movement, and pruning combined in one </a:t>
            </a:r>
            <a:r>
              <a:rPr lang="en-US" sz="180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NB_SCAN </a:t>
            </a:r>
            <a:r>
              <a:rPr lang="en-US" sz="18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— eliminating a separate full-array decay pass.</a:t>
            </a:r>
            <a:endParaRPr lang="en-US" sz="1800" dirty="0"/>
          </a:p>
        </p:txBody>
      </p:sp>
      <p:sp>
        <p:nvSpPr>
          <p:cNvPr id="63" name="Text 52"/>
          <p:cNvSpPr/>
          <p:nvPr/>
        </p:nvSpPr>
        <p:spPr>
          <a:xfrm>
            <a:off x="803401" y="16615171"/>
            <a:ext cx="8597354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While stepping node </a:t>
            </a:r>
            <a:r>
              <a:rPr lang="en-US" sz="1650" i="1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16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decay error, probe </a:t>
            </a:r>
            <a:r>
              <a:rPr lang="en-US" sz="1650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edge_cell[idx(s1,n)]</a:t>
            </a:r>
            <a:endParaRPr lang="en-US" sz="1650" dirty="0"/>
          </a:p>
        </p:txBody>
      </p:sp>
      <p:sp>
        <p:nvSpPr>
          <p:cNvPr id="64" name="Text 53"/>
          <p:cNvSpPr/>
          <p:nvPr/>
        </p:nvSpPr>
        <p:spPr>
          <a:xfrm>
            <a:off x="803401" y="16920810"/>
            <a:ext cx="859735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active edge: age it, move neighbor, prune if over-age</a:t>
            </a:r>
            <a:endParaRPr lang="en-US" sz="1650" dirty="0"/>
          </a:p>
        </p:txBody>
      </p:sp>
      <p:sp>
        <p:nvSpPr>
          <p:cNvPr id="65" name="Text 54"/>
          <p:cNvSpPr/>
          <p:nvPr/>
        </p:nvSpPr>
        <p:spPr>
          <a:xfrm>
            <a:off x="803401" y="17200472"/>
            <a:ext cx="859735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Per-node degree counters enable isolated-node detection with no extra scan</a:t>
            </a:r>
            <a:endParaRPr lang="en-US" sz="1650" dirty="0"/>
          </a:p>
        </p:txBody>
      </p:sp>
      <p:sp>
        <p:nvSpPr>
          <p:cNvPr id="66" name="Text 55"/>
          <p:cNvSpPr/>
          <p:nvPr/>
        </p:nvSpPr>
        <p:spPr>
          <a:xfrm>
            <a:off x="803401" y="17565777"/>
            <a:ext cx="859735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52" dirty="0">
                <a:solidFill>
                  <a:srgbClr val="3B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PIPELINE — PER INPUT SAMPLE</a:t>
            </a:r>
            <a:endParaRPr lang="en-US" sz="1725" dirty="0"/>
          </a:p>
        </p:txBody>
      </p:sp>
      <p:sp>
        <p:nvSpPr>
          <p:cNvPr id="67" name="Shape 56"/>
          <p:cNvSpPr/>
          <p:nvPr/>
        </p:nvSpPr>
        <p:spPr>
          <a:xfrm>
            <a:off x="803401" y="17883457"/>
            <a:ext cx="7815776" cy="495192"/>
          </a:xfrm>
          <a:prstGeom prst="roundRect">
            <a:avLst>
              <a:gd name="adj" fmla="val 15388"/>
            </a:avLst>
          </a:prstGeom>
          <a:solidFill>
            <a:srgbClr val="EEF3F9"/>
          </a:solidFill>
          <a:ln w="8659">
            <a:solidFill>
              <a:srgbClr val="C3D3E8"/>
            </a:solidFill>
            <a:prstDash val="solid"/>
          </a:ln>
        </p:spPr>
      </p:sp>
      <p:sp>
        <p:nvSpPr>
          <p:cNvPr id="68" name="Text 57"/>
          <p:cNvSpPr/>
          <p:nvPr/>
        </p:nvSpPr>
        <p:spPr>
          <a:xfrm>
            <a:off x="983483" y="18005496"/>
            <a:ext cx="165541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endParaRPr lang="en-US" sz="1725" dirty="0"/>
          </a:p>
        </p:txBody>
      </p:sp>
      <p:sp>
        <p:nvSpPr>
          <p:cNvPr id="69" name="Text 58"/>
          <p:cNvSpPr/>
          <p:nvPr/>
        </p:nvSpPr>
        <p:spPr>
          <a:xfrm>
            <a:off x="2640752" y="17996838"/>
            <a:ext cx="124544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input ξ</a:t>
            </a:r>
            <a:endParaRPr lang="en-US" sz="1725" dirty="0"/>
          </a:p>
        </p:txBody>
      </p:sp>
      <p:sp>
        <p:nvSpPr>
          <p:cNvPr id="70" name="Text 59"/>
          <p:cNvSpPr/>
          <p:nvPr/>
        </p:nvSpPr>
        <p:spPr>
          <a:xfrm>
            <a:off x="412612" y="18445216"/>
            <a:ext cx="8597354" cy="21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70000"/>
              </a:lnSpc>
              <a:buNone/>
            </a:pPr>
            <a:r>
              <a:rPr lang="en-US" sz="1950" dirty="0">
                <a:solidFill>
                  <a:srgbClr val="9F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71" name="Shape 60"/>
          <p:cNvSpPr/>
          <p:nvPr/>
        </p:nvSpPr>
        <p:spPr>
          <a:xfrm>
            <a:off x="803401" y="18685100"/>
            <a:ext cx="7815776" cy="495192"/>
          </a:xfrm>
          <a:prstGeom prst="roundRect">
            <a:avLst>
              <a:gd name="adj" fmla="val 15388"/>
            </a:avLst>
          </a:prstGeom>
          <a:solidFill>
            <a:srgbClr val="EEF3F9"/>
          </a:solidFill>
          <a:ln w="8659">
            <a:solidFill>
              <a:srgbClr val="C3D3E8"/>
            </a:solidFill>
            <a:prstDash val="solid"/>
          </a:ln>
        </p:spPr>
      </p:sp>
      <p:sp>
        <p:nvSpPr>
          <p:cNvPr id="72" name="Text 61"/>
          <p:cNvSpPr/>
          <p:nvPr/>
        </p:nvSpPr>
        <p:spPr>
          <a:xfrm>
            <a:off x="983483" y="18807139"/>
            <a:ext cx="165541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WIN_SCAN</a:t>
            </a:r>
            <a:endParaRPr lang="en-US" sz="1725" dirty="0"/>
          </a:p>
        </p:txBody>
      </p:sp>
      <p:sp>
        <p:nvSpPr>
          <p:cNvPr id="73" name="Text 62"/>
          <p:cNvSpPr/>
          <p:nvPr/>
        </p:nvSpPr>
        <p:spPr>
          <a:xfrm>
            <a:off x="2640752" y="18798479"/>
            <a:ext cx="1786682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nearest s₁, s₂</a:t>
            </a:r>
            <a:endParaRPr lang="en-US" sz="1725" dirty="0"/>
          </a:p>
        </p:txBody>
      </p:sp>
      <p:sp>
        <p:nvSpPr>
          <p:cNvPr id="74" name="Text 63"/>
          <p:cNvSpPr/>
          <p:nvPr/>
        </p:nvSpPr>
        <p:spPr>
          <a:xfrm>
            <a:off x="412612" y="19246858"/>
            <a:ext cx="8597354" cy="21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70000"/>
              </a:lnSpc>
              <a:buNone/>
            </a:pPr>
            <a:r>
              <a:rPr lang="en-US" sz="1950" dirty="0">
                <a:solidFill>
                  <a:srgbClr val="9F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75" name="Shape 64"/>
          <p:cNvSpPr/>
          <p:nvPr/>
        </p:nvSpPr>
        <p:spPr>
          <a:xfrm>
            <a:off x="803401" y="19486742"/>
            <a:ext cx="7815776" cy="486533"/>
          </a:xfrm>
          <a:prstGeom prst="roundRect">
            <a:avLst>
              <a:gd name="adj" fmla="val 15662"/>
            </a:avLst>
          </a:prstGeom>
          <a:solidFill>
            <a:srgbClr val="EEF3F9"/>
          </a:solidFill>
          <a:ln w="8659">
            <a:solidFill>
              <a:srgbClr val="C3D3E8"/>
            </a:solidFill>
            <a:prstDash val="solid"/>
          </a:ln>
        </p:spPr>
      </p:sp>
      <p:sp>
        <p:nvSpPr>
          <p:cNvPr id="76" name="Text 65"/>
          <p:cNvSpPr/>
          <p:nvPr/>
        </p:nvSpPr>
        <p:spPr>
          <a:xfrm>
            <a:off x="983483" y="19604452"/>
            <a:ext cx="165541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725" dirty="0"/>
          </a:p>
        </p:txBody>
      </p:sp>
      <p:sp>
        <p:nvSpPr>
          <p:cNvPr id="77" name="Text 66"/>
          <p:cNvSpPr/>
          <p:nvPr/>
        </p:nvSpPr>
        <p:spPr>
          <a:xfrm>
            <a:off x="2640752" y="19600122"/>
            <a:ext cx="2371874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error + Q8 move</a:t>
            </a:r>
            <a:endParaRPr lang="en-US" sz="1725" dirty="0"/>
          </a:p>
        </p:txBody>
      </p:sp>
      <p:sp>
        <p:nvSpPr>
          <p:cNvPr id="78" name="Text 67"/>
          <p:cNvSpPr/>
          <p:nvPr/>
        </p:nvSpPr>
        <p:spPr>
          <a:xfrm>
            <a:off x="412612" y="20039842"/>
            <a:ext cx="8597354" cy="21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70000"/>
              </a:lnSpc>
              <a:buNone/>
            </a:pPr>
            <a:r>
              <a:rPr lang="en-US" sz="1950" dirty="0">
                <a:solidFill>
                  <a:srgbClr val="9F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79" name="Shape 68"/>
          <p:cNvSpPr/>
          <p:nvPr/>
        </p:nvSpPr>
        <p:spPr>
          <a:xfrm>
            <a:off x="803401" y="20279725"/>
            <a:ext cx="7815776" cy="1197119"/>
          </a:xfrm>
          <a:prstGeom prst="roundRect">
            <a:avLst>
              <a:gd name="adj" fmla="val 7957"/>
            </a:avLst>
          </a:prstGeom>
          <a:solidFill>
            <a:srgbClr val="1C3357"/>
          </a:solidFill>
          <a:ln/>
        </p:spPr>
      </p:sp>
      <p:sp>
        <p:nvSpPr>
          <p:cNvPr id="80" name="Text 69"/>
          <p:cNvSpPr/>
          <p:nvPr/>
        </p:nvSpPr>
        <p:spPr>
          <a:xfrm>
            <a:off x="993901" y="20412994"/>
            <a:ext cx="8178254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2B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NB_SCAN — FUSED</a:t>
            </a:r>
            <a:endParaRPr lang="en-US" sz="1800" dirty="0"/>
          </a:p>
        </p:txBody>
      </p:sp>
      <p:sp>
        <p:nvSpPr>
          <p:cNvPr id="81" name="Text 70"/>
          <p:cNvSpPr/>
          <p:nvPr/>
        </p:nvSpPr>
        <p:spPr>
          <a:xfrm>
            <a:off x="993901" y="20729863"/>
            <a:ext cx="8178254" cy="321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 error · probe edge_cell · age / prune · move neighbor</a:t>
            </a:r>
            <a:endParaRPr lang="en-US" sz="1650" dirty="0"/>
          </a:p>
        </p:txBody>
      </p:sp>
      <p:sp>
        <p:nvSpPr>
          <p:cNvPr id="82" name="Text 71"/>
          <p:cNvSpPr/>
          <p:nvPr/>
        </p:nvSpPr>
        <p:spPr>
          <a:xfrm>
            <a:off x="993901" y="21069867"/>
            <a:ext cx="8178254" cy="311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i="1" dirty="0">
                <a:solidFill>
                  <a:srgbClr val="9FB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</a:t>
            </a:r>
            <a:r>
              <a:rPr lang="en-US" sz="1313" i="1" baseline="-40000" dirty="0">
                <a:solidFill>
                  <a:srgbClr val="9FB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</a:t>
            </a:r>
            <a:r>
              <a:rPr lang="en-US" sz="1575" i="1" dirty="0">
                <a:solidFill>
                  <a:srgbClr val="9FB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replaces the separate decay + neighbor passes</a:t>
            </a:r>
            <a:endParaRPr lang="en-US" sz="1575" dirty="0"/>
          </a:p>
        </p:txBody>
      </p:sp>
      <p:sp>
        <p:nvSpPr>
          <p:cNvPr id="83" name="Text 72"/>
          <p:cNvSpPr/>
          <p:nvPr/>
        </p:nvSpPr>
        <p:spPr>
          <a:xfrm>
            <a:off x="412612" y="21543411"/>
            <a:ext cx="8597354" cy="21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70000"/>
              </a:lnSpc>
              <a:buNone/>
            </a:pPr>
            <a:r>
              <a:rPr lang="en-US" sz="1950" dirty="0">
                <a:solidFill>
                  <a:srgbClr val="9F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84" name="Shape 73"/>
          <p:cNvSpPr/>
          <p:nvPr/>
        </p:nvSpPr>
        <p:spPr>
          <a:xfrm>
            <a:off x="803401" y="21783296"/>
            <a:ext cx="7815776" cy="495192"/>
          </a:xfrm>
          <a:prstGeom prst="roundRect">
            <a:avLst>
              <a:gd name="adj" fmla="val 15388"/>
            </a:avLst>
          </a:prstGeom>
          <a:solidFill>
            <a:srgbClr val="EEF3F9"/>
          </a:solidFill>
          <a:ln w="8659">
            <a:solidFill>
              <a:srgbClr val="C3D3E8"/>
            </a:solidFill>
            <a:prstDash val="solid"/>
          </a:ln>
        </p:spPr>
      </p:sp>
      <p:sp>
        <p:nvSpPr>
          <p:cNvPr id="85" name="Text 74"/>
          <p:cNvSpPr/>
          <p:nvPr/>
        </p:nvSpPr>
        <p:spPr>
          <a:xfrm>
            <a:off x="983483" y="21905335"/>
            <a:ext cx="165541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endParaRPr lang="en-US" sz="1725" dirty="0"/>
          </a:p>
        </p:txBody>
      </p:sp>
      <p:sp>
        <p:nvSpPr>
          <p:cNvPr id="86" name="Text 75"/>
          <p:cNvSpPr/>
          <p:nvPr/>
        </p:nvSpPr>
        <p:spPr>
          <a:xfrm>
            <a:off x="2640752" y="21896675"/>
            <a:ext cx="2552700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edge (s₁, s₂) age = 0</a:t>
            </a:r>
            <a:endParaRPr lang="en-US" sz="1725" dirty="0"/>
          </a:p>
        </p:txBody>
      </p:sp>
      <p:sp>
        <p:nvSpPr>
          <p:cNvPr id="87" name="Text 76"/>
          <p:cNvSpPr/>
          <p:nvPr/>
        </p:nvSpPr>
        <p:spPr>
          <a:xfrm>
            <a:off x="412612" y="22345055"/>
            <a:ext cx="8597354" cy="21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lnSpc>
                <a:spcPct val="70000"/>
              </a:lnSpc>
              <a:buNone/>
            </a:pPr>
            <a:r>
              <a:rPr lang="en-US" sz="1950" dirty="0">
                <a:solidFill>
                  <a:srgbClr val="9F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88" name="Shape 77"/>
          <p:cNvSpPr/>
          <p:nvPr/>
        </p:nvSpPr>
        <p:spPr>
          <a:xfrm>
            <a:off x="803401" y="22584938"/>
            <a:ext cx="7815776" cy="495192"/>
          </a:xfrm>
          <a:prstGeom prst="roundRect">
            <a:avLst>
              <a:gd name="adj" fmla="val 15388"/>
            </a:avLst>
          </a:prstGeom>
          <a:solidFill>
            <a:srgbClr val="EEF3F9"/>
          </a:solidFill>
          <a:ln w="8659">
            <a:solidFill>
              <a:srgbClr val="C3D3E8"/>
            </a:solidFill>
            <a:prstDash val="solid"/>
          </a:ln>
        </p:spPr>
      </p:sp>
      <p:sp>
        <p:nvSpPr>
          <p:cNvPr id="89" name="Text 78"/>
          <p:cNvSpPr/>
          <p:nvPr/>
        </p:nvSpPr>
        <p:spPr>
          <a:xfrm>
            <a:off x="983483" y="22706977"/>
            <a:ext cx="165541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725" dirty="0"/>
          </a:p>
        </p:txBody>
      </p:sp>
      <p:sp>
        <p:nvSpPr>
          <p:cNvPr id="90" name="Text 79"/>
          <p:cNvSpPr/>
          <p:nvPr/>
        </p:nvSpPr>
        <p:spPr>
          <a:xfrm>
            <a:off x="2640752" y="22698317"/>
            <a:ext cx="311616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λ — split max-error edge</a:t>
            </a:r>
            <a:endParaRPr lang="en-US" sz="1725" dirty="0"/>
          </a:p>
        </p:txBody>
      </p:sp>
      <p:sp>
        <p:nvSpPr>
          <p:cNvPr id="91" name="Shape 80"/>
          <p:cNvSpPr/>
          <p:nvPr/>
        </p:nvSpPr>
        <p:spPr>
          <a:xfrm>
            <a:off x="588683" y="23308649"/>
            <a:ext cx="8201917" cy="1336341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92" name="Shape 81"/>
          <p:cNvSpPr/>
          <p:nvPr/>
        </p:nvSpPr>
        <p:spPr>
          <a:xfrm>
            <a:off x="588683" y="23308649"/>
            <a:ext cx="43295" cy="1336341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93" name="Text 82"/>
          <p:cNvSpPr/>
          <p:nvPr/>
        </p:nvSpPr>
        <p:spPr>
          <a:xfrm>
            <a:off x="803401" y="23441918"/>
            <a:ext cx="8597354" cy="375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Edge-Cell Encoding</a:t>
            </a:r>
            <a:endParaRPr lang="en-US" sz="1950" dirty="0"/>
          </a:p>
        </p:txBody>
      </p:sp>
      <p:sp>
        <p:nvSpPr>
          <p:cNvPr id="94" name="Text 83"/>
          <p:cNvSpPr/>
          <p:nvPr/>
        </p:nvSpPr>
        <p:spPr>
          <a:xfrm>
            <a:off x="803401" y="23827246"/>
            <a:ext cx="8050250" cy="722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byte per node pair stores age+1 (0 = no edge). At N</a:t>
            </a:r>
            <a:r>
              <a:rPr lang="en-US" sz="1500" baseline="-400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</a:t>
            </a:r>
            <a:r>
              <a:rPr lang="en-US" sz="18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=40: edge storage 1,600 B → </a:t>
            </a:r>
            <a:r>
              <a:rPr lang="en-US" sz="18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 B (−51%)</a:t>
            </a:r>
            <a:r>
              <a:rPr lang="en-US" sz="18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95" name="Shape 84"/>
          <p:cNvSpPr/>
          <p:nvPr/>
        </p:nvSpPr>
        <p:spPr>
          <a:xfrm>
            <a:off x="588683" y="24740239"/>
            <a:ext cx="8201917" cy="5799832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96" name="Shape 85"/>
          <p:cNvSpPr/>
          <p:nvPr/>
        </p:nvSpPr>
        <p:spPr>
          <a:xfrm>
            <a:off x="588683" y="24740239"/>
            <a:ext cx="43295" cy="5799832"/>
          </a:xfrm>
          <a:prstGeom prst="rect">
            <a:avLst/>
          </a:prstGeom>
          <a:solidFill>
            <a:srgbClr val="9A6717"/>
          </a:solidFill>
          <a:ln/>
        </p:spPr>
      </p:sp>
      <p:sp>
        <p:nvSpPr>
          <p:cNvPr id="97" name="Text 86"/>
          <p:cNvSpPr/>
          <p:nvPr/>
        </p:nvSpPr>
        <p:spPr>
          <a:xfrm>
            <a:off x="803401" y="24873507"/>
            <a:ext cx="8597354" cy="375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Fixed-Point Arithmetic</a:t>
            </a:r>
            <a:endParaRPr lang="en-US" sz="1950" dirty="0"/>
          </a:p>
        </p:txBody>
      </p:sp>
      <p:sp>
        <p:nvSpPr>
          <p:cNvPr id="98" name="Text 87"/>
          <p:cNvSpPr/>
          <p:nvPr/>
        </p:nvSpPr>
        <p:spPr>
          <a:xfrm>
            <a:off x="803401" y="25258837"/>
            <a:ext cx="8050250" cy="678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Integer-only datapath — no FPU. Coordinates: 16-bit signed integers in [−1000, 1000] after min-max normalization.</a:t>
            </a:r>
            <a:endParaRPr lang="en-US" sz="1800" dirty="0"/>
          </a:p>
        </p:txBody>
      </p:sp>
      <p:sp>
        <p:nvSpPr>
          <p:cNvPr id="99" name="Shape 88"/>
          <p:cNvSpPr/>
          <p:nvPr/>
        </p:nvSpPr>
        <p:spPr>
          <a:xfrm>
            <a:off x="803401" y="25975242"/>
            <a:ext cx="7815776" cy="999178"/>
          </a:xfrm>
          <a:prstGeom prst="roundRect">
            <a:avLst>
              <a:gd name="adj" fmla="val 6673"/>
            </a:avLst>
          </a:prstGeom>
          <a:solidFill>
            <a:srgbClr val="FFF9F0"/>
          </a:solidFill>
          <a:ln w="8659">
            <a:solidFill>
              <a:srgbClr val="ECD9B3"/>
            </a:solidFill>
            <a:prstDash val="solid"/>
          </a:ln>
        </p:spPr>
      </p:sp>
      <p:sp>
        <p:nvSpPr>
          <p:cNvPr id="100" name="Text 89"/>
          <p:cNvSpPr/>
          <p:nvPr/>
        </p:nvSpPr>
        <p:spPr>
          <a:xfrm>
            <a:off x="945329" y="26079152"/>
            <a:ext cx="8285113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 (17-bit → 35-bit, DSP 9×9):</a:t>
            </a:r>
            <a:endParaRPr lang="en-US" sz="1575" dirty="0"/>
          </a:p>
        </p:txBody>
      </p:sp>
      <p:sp>
        <p:nvSpPr>
          <p:cNvPr id="101" name="Text 90"/>
          <p:cNvSpPr/>
          <p:nvPr/>
        </p:nvSpPr>
        <p:spPr>
          <a:xfrm>
            <a:off x="945329" y="26350966"/>
            <a:ext cx="8285113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Δx = ξx − xn, Δy = ξy − yn</a:t>
            </a:r>
            <a:endParaRPr lang="en-US" sz="1575" dirty="0"/>
          </a:p>
        </p:txBody>
      </p:sp>
      <p:sp>
        <p:nvSpPr>
          <p:cNvPr id="102" name="Text 91"/>
          <p:cNvSpPr/>
          <p:nvPr/>
        </p:nvSpPr>
        <p:spPr>
          <a:xfrm>
            <a:off x="945329" y="26610739"/>
            <a:ext cx="8285113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d² = Δx² + Δy² (overflow-free)</a:t>
            </a:r>
            <a:endParaRPr lang="en-US" sz="1575" dirty="0"/>
          </a:p>
        </p:txBody>
      </p:sp>
      <p:sp>
        <p:nvSpPr>
          <p:cNvPr id="103" name="Shape 92"/>
          <p:cNvSpPr/>
          <p:nvPr/>
        </p:nvSpPr>
        <p:spPr>
          <a:xfrm>
            <a:off x="803401" y="27050593"/>
            <a:ext cx="7815776" cy="1091045"/>
          </a:xfrm>
          <a:prstGeom prst="roundRect">
            <a:avLst>
              <a:gd name="adj" fmla="val 6111"/>
            </a:avLst>
          </a:prstGeom>
          <a:solidFill>
            <a:srgbClr val="FFF9F0"/>
          </a:solidFill>
          <a:ln w="8659">
            <a:solidFill>
              <a:srgbClr val="ECD9B3"/>
            </a:solidFill>
            <a:prstDash val="solid"/>
          </a:ln>
        </p:spPr>
      </p:sp>
      <p:sp>
        <p:nvSpPr>
          <p:cNvPr id="104" name="Text 93"/>
          <p:cNvSpPr/>
          <p:nvPr/>
        </p:nvSpPr>
        <p:spPr>
          <a:xfrm>
            <a:off x="945329" y="27154503"/>
            <a:ext cx="8285113" cy="311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adaptation (Q8, ε</a:t>
            </a:r>
            <a:r>
              <a:rPr lang="en-US" sz="1313" b="1" baseline="-40000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</a:t>
            </a:r>
            <a:r>
              <a:rPr lang="en-US" sz="1575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0.301):</a:t>
            </a:r>
            <a:endParaRPr lang="en-US" sz="1575" dirty="0"/>
          </a:p>
        </p:txBody>
      </p:sp>
      <p:sp>
        <p:nvSpPr>
          <p:cNvPr id="105" name="Text 94"/>
          <p:cNvSpPr/>
          <p:nvPr/>
        </p:nvSpPr>
        <p:spPr>
          <a:xfrm>
            <a:off x="945329" y="27466230"/>
            <a:ext cx="8285113" cy="337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Δx</a:t>
            </a:r>
            <a:r>
              <a:rPr lang="en-US" sz="1313" baseline="-4000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</a:t>
            </a:r>
            <a:r>
              <a:rPr lang="en-US" sz="15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⌊EPS_WIN_Q8 × (ξx − x</a:t>
            </a:r>
            <a:r>
              <a:rPr lang="en-US" sz="1313" baseline="-4000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r>
              <a:rPr lang="en-US" sz="15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» 8⌋</a:t>
            </a:r>
            <a:endParaRPr lang="en-US" sz="1575" dirty="0"/>
          </a:p>
        </p:txBody>
      </p:sp>
      <p:sp>
        <p:nvSpPr>
          <p:cNvPr id="106" name="Text 95"/>
          <p:cNvSpPr/>
          <p:nvPr/>
        </p:nvSpPr>
        <p:spPr>
          <a:xfrm>
            <a:off x="945329" y="27765915"/>
            <a:ext cx="3540919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EPS_WIN_Q8 = 77 → ε</a:t>
            </a:r>
            <a:r>
              <a:rPr lang="en-US" sz="1250" baseline="-4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</a:t>
            </a:r>
            <a:r>
              <a:rPr lang="en-US" sz="15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77/256 ≈ 0.301</a:t>
            </a:r>
            <a:endParaRPr lang="en-US" sz="1500" dirty="0"/>
          </a:p>
        </p:txBody>
      </p:sp>
      <p:sp>
        <p:nvSpPr>
          <p:cNvPr id="107" name="Shape 96"/>
          <p:cNvSpPr/>
          <p:nvPr/>
        </p:nvSpPr>
        <p:spPr>
          <a:xfrm>
            <a:off x="803401" y="28217813"/>
            <a:ext cx="7815776" cy="1091045"/>
          </a:xfrm>
          <a:prstGeom prst="roundRect">
            <a:avLst>
              <a:gd name="adj" fmla="val 6111"/>
            </a:avLst>
          </a:prstGeom>
          <a:solidFill>
            <a:srgbClr val="FFF9F0"/>
          </a:solidFill>
          <a:ln w="8659">
            <a:solidFill>
              <a:srgbClr val="ECD9B3"/>
            </a:solidFill>
            <a:prstDash val="solid"/>
          </a:ln>
        </p:spPr>
      </p:sp>
      <p:sp>
        <p:nvSpPr>
          <p:cNvPr id="108" name="Text 97"/>
          <p:cNvSpPr/>
          <p:nvPr/>
        </p:nvSpPr>
        <p:spPr>
          <a:xfrm>
            <a:off x="945329" y="28321720"/>
            <a:ext cx="8285113" cy="311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 adaptation (Q16, ε</a:t>
            </a:r>
            <a:r>
              <a:rPr lang="en-US" sz="1313" b="1" baseline="-40000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</a:t>
            </a:r>
            <a:r>
              <a:rPr lang="en-US" sz="1575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0.001):</a:t>
            </a:r>
            <a:endParaRPr lang="en-US" sz="1575" dirty="0"/>
          </a:p>
        </p:txBody>
      </p:sp>
      <p:sp>
        <p:nvSpPr>
          <p:cNvPr id="109" name="Text 98"/>
          <p:cNvSpPr/>
          <p:nvPr/>
        </p:nvSpPr>
        <p:spPr>
          <a:xfrm>
            <a:off x="945329" y="28633448"/>
            <a:ext cx="8285113" cy="337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Δx</a:t>
            </a:r>
            <a:r>
              <a:rPr lang="en-US" sz="1313" baseline="-4000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5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⌊EPS_N_Q16 × (ξx − x</a:t>
            </a:r>
            <a:r>
              <a:rPr lang="en-US" sz="1313" baseline="-4000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5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» 16⌋</a:t>
            </a:r>
            <a:endParaRPr lang="en-US" sz="1575" dirty="0"/>
          </a:p>
        </p:txBody>
      </p:sp>
      <p:sp>
        <p:nvSpPr>
          <p:cNvPr id="110" name="Text 99"/>
          <p:cNvSpPr/>
          <p:nvPr/>
        </p:nvSpPr>
        <p:spPr>
          <a:xfrm>
            <a:off x="945329" y="28933134"/>
            <a:ext cx="3605213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EPS_N_Q16 = 66 → ε</a:t>
            </a:r>
            <a:r>
              <a:rPr lang="en-US" sz="1250" baseline="-400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</a:t>
            </a:r>
            <a:r>
              <a:rPr lang="en-US" sz="15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66/65536 ≈ 0.001</a:t>
            </a:r>
            <a:endParaRPr lang="en-US" sz="1500" dirty="0"/>
          </a:p>
        </p:txBody>
      </p:sp>
      <p:sp>
        <p:nvSpPr>
          <p:cNvPr id="111" name="Shape 100"/>
          <p:cNvSpPr/>
          <p:nvPr/>
        </p:nvSpPr>
        <p:spPr>
          <a:xfrm>
            <a:off x="803401" y="29385030"/>
            <a:ext cx="7815776" cy="1021773"/>
          </a:xfrm>
          <a:prstGeom prst="roundRect">
            <a:avLst>
              <a:gd name="adj" fmla="val 6525"/>
            </a:avLst>
          </a:prstGeom>
          <a:solidFill>
            <a:srgbClr val="FFF9F0"/>
          </a:solidFill>
          <a:ln w="8659">
            <a:solidFill>
              <a:srgbClr val="ECD9B3"/>
            </a:solidFill>
            <a:prstDash val="solid"/>
          </a:ln>
        </p:spPr>
      </p:sp>
      <p:sp>
        <p:nvSpPr>
          <p:cNvPr id="112" name="Text 101"/>
          <p:cNvSpPr/>
          <p:nvPr/>
        </p:nvSpPr>
        <p:spPr>
          <a:xfrm>
            <a:off x="945329" y="29488940"/>
            <a:ext cx="8285113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decay (no multiplier, β ≈ 0.9961):</a:t>
            </a:r>
            <a:endParaRPr lang="en-US" sz="1575" dirty="0"/>
          </a:p>
        </p:txBody>
      </p:sp>
      <p:sp>
        <p:nvSpPr>
          <p:cNvPr id="113" name="Text 102"/>
          <p:cNvSpPr/>
          <p:nvPr/>
        </p:nvSpPr>
        <p:spPr>
          <a:xfrm>
            <a:off x="945329" y="29760753"/>
            <a:ext cx="8285113" cy="337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313" baseline="-4000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5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-= err</a:t>
            </a:r>
            <a:r>
              <a:rPr lang="en-US" sz="1313" baseline="-40000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575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» ERR_DECAY_SHIFT</a:t>
            </a:r>
            <a:endParaRPr lang="en-US" sz="1575" dirty="0"/>
          </a:p>
        </p:txBody>
      </p:sp>
      <p:sp>
        <p:nvSpPr>
          <p:cNvPr id="114" name="Text 103"/>
          <p:cNvSpPr/>
          <p:nvPr/>
        </p:nvSpPr>
        <p:spPr>
          <a:xfrm>
            <a:off x="945329" y="30060440"/>
            <a:ext cx="3938885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ERR_DECAY_SHIFT = 8 → β = 1 − 2⁻⁸ ≈ 0.9961</a:t>
            </a:r>
            <a:endParaRPr lang="en-US" sz="1500" dirty="0"/>
          </a:p>
        </p:txBody>
      </p:sp>
      <p:sp>
        <p:nvSpPr>
          <p:cNvPr id="115" name="Shape 104"/>
          <p:cNvSpPr/>
          <p:nvPr/>
        </p:nvSpPr>
        <p:spPr>
          <a:xfrm>
            <a:off x="588683" y="30673204"/>
            <a:ext cx="8201917" cy="2960597"/>
          </a:xfrm>
          <a:prstGeom prst="roundRect">
            <a:avLst>
              <a:gd name="adj" fmla="val 2574"/>
            </a:avLst>
          </a:prstGeom>
          <a:ln w="8659">
            <a:solidFill>
              <a:srgbClr val="D4DBE6"/>
            </a:solidFill>
            <a:prstDash val="solid"/>
          </a:ln>
        </p:spPr>
      </p:sp>
      <p:sp>
        <p:nvSpPr>
          <p:cNvPr id="116" name="Shape 105"/>
          <p:cNvSpPr/>
          <p:nvPr/>
        </p:nvSpPr>
        <p:spPr>
          <a:xfrm>
            <a:off x="597342" y="30681864"/>
            <a:ext cx="8184599" cy="386141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117" name="Text 106"/>
          <p:cNvSpPr/>
          <p:nvPr/>
        </p:nvSpPr>
        <p:spPr>
          <a:xfrm>
            <a:off x="749688" y="30758037"/>
            <a:ext cx="3130004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</a:t>
            </a:r>
            <a:endParaRPr lang="en-US" sz="1575" dirty="0"/>
          </a:p>
        </p:txBody>
      </p:sp>
      <p:sp>
        <p:nvSpPr>
          <p:cNvPr id="118" name="Text 107"/>
          <p:cNvSpPr/>
          <p:nvPr/>
        </p:nvSpPr>
        <p:spPr>
          <a:xfrm>
            <a:off x="3595146" y="30758037"/>
            <a:ext cx="1926134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575" dirty="0"/>
          </a:p>
        </p:txBody>
      </p:sp>
      <p:sp>
        <p:nvSpPr>
          <p:cNvPr id="119" name="Text 108"/>
          <p:cNvSpPr/>
          <p:nvPr/>
        </p:nvSpPr>
        <p:spPr>
          <a:xfrm>
            <a:off x="5346177" y="30758037"/>
            <a:ext cx="3611761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mapping</a:t>
            </a:r>
            <a:endParaRPr lang="en-US" sz="1575" dirty="0"/>
          </a:p>
        </p:txBody>
      </p:sp>
      <p:sp>
        <p:nvSpPr>
          <p:cNvPr id="120" name="Shape 109"/>
          <p:cNvSpPr/>
          <p:nvPr/>
        </p:nvSpPr>
        <p:spPr>
          <a:xfrm>
            <a:off x="597342" y="31068006"/>
            <a:ext cx="8184599" cy="365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0"/>
          <p:cNvSpPr/>
          <p:nvPr/>
        </p:nvSpPr>
        <p:spPr>
          <a:xfrm>
            <a:off x="749688" y="31125100"/>
            <a:ext cx="313000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Nₘₐₓ</a:t>
            </a:r>
            <a:endParaRPr lang="en-US" sz="1575" dirty="0"/>
          </a:p>
        </p:txBody>
      </p:sp>
      <p:sp>
        <p:nvSpPr>
          <p:cNvPr id="122" name="Text 111"/>
          <p:cNvSpPr/>
          <p:nvPr/>
        </p:nvSpPr>
        <p:spPr>
          <a:xfrm>
            <a:off x="3595146" y="31125100"/>
            <a:ext cx="192613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500" dirty="0"/>
          </a:p>
        </p:txBody>
      </p:sp>
      <p:sp>
        <p:nvSpPr>
          <p:cNvPr id="123" name="Text 112"/>
          <p:cNvSpPr/>
          <p:nvPr/>
        </p:nvSpPr>
        <p:spPr>
          <a:xfrm>
            <a:off x="5346177" y="31125100"/>
            <a:ext cx="3611761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BRAM depth</a:t>
            </a:r>
            <a:endParaRPr lang="en-US" sz="1425" dirty="0"/>
          </a:p>
        </p:txBody>
      </p:sp>
      <p:sp>
        <p:nvSpPr>
          <p:cNvPr id="124" name="Shape 113"/>
          <p:cNvSpPr/>
          <p:nvPr/>
        </p:nvSpPr>
        <p:spPr>
          <a:xfrm>
            <a:off x="597342" y="31433312"/>
            <a:ext cx="8184599" cy="365305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125" name="Text 114"/>
          <p:cNvSpPr/>
          <p:nvPr/>
        </p:nvSpPr>
        <p:spPr>
          <a:xfrm>
            <a:off x="749688" y="31490406"/>
            <a:ext cx="313000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Aₘₐₓ</a:t>
            </a:r>
            <a:endParaRPr lang="en-US" sz="1575" dirty="0"/>
          </a:p>
        </p:txBody>
      </p:sp>
      <p:sp>
        <p:nvSpPr>
          <p:cNvPr id="126" name="Text 115"/>
          <p:cNvSpPr/>
          <p:nvPr/>
        </p:nvSpPr>
        <p:spPr>
          <a:xfrm>
            <a:off x="3595146" y="31490406"/>
            <a:ext cx="192613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500" dirty="0"/>
          </a:p>
        </p:txBody>
      </p:sp>
      <p:sp>
        <p:nvSpPr>
          <p:cNvPr id="127" name="Text 116"/>
          <p:cNvSpPr/>
          <p:nvPr/>
        </p:nvSpPr>
        <p:spPr>
          <a:xfrm>
            <a:off x="5346177" y="31490406"/>
            <a:ext cx="3611761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A_MAX_STORED = 51</a:t>
            </a:r>
            <a:endParaRPr lang="en-US" sz="1425" dirty="0"/>
          </a:p>
        </p:txBody>
      </p:sp>
      <p:sp>
        <p:nvSpPr>
          <p:cNvPr id="128" name="Shape 117"/>
          <p:cNvSpPr/>
          <p:nvPr/>
        </p:nvSpPr>
        <p:spPr>
          <a:xfrm>
            <a:off x="597342" y="31798617"/>
            <a:ext cx="8184599" cy="365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Text 118"/>
          <p:cNvSpPr/>
          <p:nvPr/>
        </p:nvSpPr>
        <p:spPr>
          <a:xfrm>
            <a:off x="749688" y="31855711"/>
            <a:ext cx="313000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endParaRPr lang="en-US" sz="1575" dirty="0"/>
          </a:p>
        </p:txBody>
      </p:sp>
      <p:sp>
        <p:nvSpPr>
          <p:cNvPr id="130" name="Text 119"/>
          <p:cNvSpPr/>
          <p:nvPr/>
        </p:nvSpPr>
        <p:spPr>
          <a:xfrm>
            <a:off x="3595146" y="31855711"/>
            <a:ext cx="192613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500" dirty="0"/>
          </a:p>
        </p:txBody>
      </p:sp>
      <p:sp>
        <p:nvSpPr>
          <p:cNvPr id="131" name="Text 120"/>
          <p:cNvSpPr/>
          <p:nvPr/>
        </p:nvSpPr>
        <p:spPr>
          <a:xfrm>
            <a:off x="5346177" y="31855711"/>
            <a:ext cx="3611761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lambda_cnt counter</a:t>
            </a:r>
            <a:endParaRPr lang="en-US" sz="1425" dirty="0"/>
          </a:p>
        </p:txBody>
      </p:sp>
      <p:sp>
        <p:nvSpPr>
          <p:cNvPr id="132" name="Shape 121"/>
          <p:cNvSpPr/>
          <p:nvPr/>
        </p:nvSpPr>
        <p:spPr>
          <a:xfrm>
            <a:off x="597342" y="32163920"/>
            <a:ext cx="8184599" cy="365305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133" name="Text 122"/>
          <p:cNvSpPr/>
          <p:nvPr/>
        </p:nvSpPr>
        <p:spPr>
          <a:xfrm>
            <a:off x="749688" y="32221017"/>
            <a:ext cx="313000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εw</a:t>
            </a:r>
            <a:endParaRPr lang="en-US" sz="1575" dirty="0"/>
          </a:p>
        </p:txBody>
      </p:sp>
      <p:sp>
        <p:nvSpPr>
          <p:cNvPr id="134" name="Text 123"/>
          <p:cNvSpPr/>
          <p:nvPr/>
        </p:nvSpPr>
        <p:spPr>
          <a:xfrm>
            <a:off x="3595146" y="32221017"/>
            <a:ext cx="192613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0.301</a:t>
            </a:r>
            <a:endParaRPr lang="en-US" sz="1500" dirty="0"/>
          </a:p>
        </p:txBody>
      </p:sp>
      <p:sp>
        <p:nvSpPr>
          <p:cNvPr id="135" name="Text 124"/>
          <p:cNvSpPr/>
          <p:nvPr/>
        </p:nvSpPr>
        <p:spPr>
          <a:xfrm>
            <a:off x="5346177" y="32221017"/>
            <a:ext cx="3611761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EPS_WIN_Q8 = 77, ≫ 8</a:t>
            </a:r>
            <a:endParaRPr lang="en-US" sz="1425" dirty="0"/>
          </a:p>
        </p:txBody>
      </p:sp>
      <p:sp>
        <p:nvSpPr>
          <p:cNvPr id="136" name="Shape 125"/>
          <p:cNvSpPr/>
          <p:nvPr/>
        </p:nvSpPr>
        <p:spPr>
          <a:xfrm>
            <a:off x="597342" y="32529226"/>
            <a:ext cx="8184599" cy="365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26"/>
          <p:cNvSpPr/>
          <p:nvPr/>
        </p:nvSpPr>
        <p:spPr>
          <a:xfrm>
            <a:off x="749688" y="32586323"/>
            <a:ext cx="313000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εn</a:t>
            </a:r>
            <a:endParaRPr lang="en-US" sz="1575" dirty="0"/>
          </a:p>
        </p:txBody>
      </p:sp>
      <p:sp>
        <p:nvSpPr>
          <p:cNvPr id="138" name="Text 127"/>
          <p:cNvSpPr/>
          <p:nvPr/>
        </p:nvSpPr>
        <p:spPr>
          <a:xfrm>
            <a:off x="3595146" y="32586323"/>
            <a:ext cx="192613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0.001</a:t>
            </a:r>
            <a:endParaRPr lang="en-US" sz="1500" dirty="0"/>
          </a:p>
        </p:txBody>
      </p:sp>
      <p:sp>
        <p:nvSpPr>
          <p:cNvPr id="139" name="Text 128"/>
          <p:cNvSpPr/>
          <p:nvPr/>
        </p:nvSpPr>
        <p:spPr>
          <a:xfrm>
            <a:off x="5346177" y="32586323"/>
            <a:ext cx="3611761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EPS_N_Q16 = 66, ≫ 16</a:t>
            </a:r>
            <a:endParaRPr lang="en-US" sz="1425" dirty="0"/>
          </a:p>
        </p:txBody>
      </p:sp>
      <p:sp>
        <p:nvSpPr>
          <p:cNvPr id="140" name="Shape 129"/>
          <p:cNvSpPr/>
          <p:nvPr/>
        </p:nvSpPr>
        <p:spPr>
          <a:xfrm>
            <a:off x="597342" y="32894532"/>
            <a:ext cx="8184599" cy="365305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141" name="Text 130"/>
          <p:cNvSpPr/>
          <p:nvPr/>
        </p:nvSpPr>
        <p:spPr>
          <a:xfrm>
            <a:off x="749688" y="32951628"/>
            <a:ext cx="313000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</a:t>
            </a:r>
            <a:endParaRPr lang="en-US" sz="1575" dirty="0"/>
          </a:p>
        </p:txBody>
      </p:sp>
      <p:sp>
        <p:nvSpPr>
          <p:cNvPr id="142" name="Text 131"/>
          <p:cNvSpPr/>
          <p:nvPr/>
        </p:nvSpPr>
        <p:spPr>
          <a:xfrm>
            <a:off x="3595146" y="32951628"/>
            <a:ext cx="192613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500" dirty="0"/>
          </a:p>
        </p:txBody>
      </p:sp>
      <p:sp>
        <p:nvSpPr>
          <p:cNvPr id="143" name="Text 132"/>
          <p:cNvSpPr/>
          <p:nvPr/>
        </p:nvSpPr>
        <p:spPr>
          <a:xfrm>
            <a:off x="5346177" y="32951628"/>
            <a:ext cx="3611761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INS_ALPHA_SHIFT = 1</a:t>
            </a:r>
            <a:endParaRPr lang="en-US" sz="1425" dirty="0"/>
          </a:p>
        </p:txBody>
      </p:sp>
      <p:sp>
        <p:nvSpPr>
          <p:cNvPr id="144" name="Shape 133"/>
          <p:cNvSpPr/>
          <p:nvPr/>
        </p:nvSpPr>
        <p:spPr>
          <a:xfrm>
            <a:off x="597342" y="33259837"/>
            <a:ext cx="8184599" cy="365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5" name="Text 134"/>
          <p:cNvSpPr/>
          <p:nvPr/>
        </p:nvSpPr>
        <p:spPr>
          <a:xfrm>
            <a:off x="749688" y="33316934"/>
            <a:ext cx="313000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1575" dirty="0"/>
          </a:p>
        </p:txBody>
      </p:sp>
      <p:sp>
        <p:nvSpPr>
          <p:cNvPr id="146" name="Text 135"/>
          <p:cNvSpPr/>
          <p:nvPr/>
        </p:nvSpPr>
        <p:spPr>
          <a:xfrm>
            <a:off x="3595146" y="33316934"/>
            <a:ext cx="1926134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0.9961</a:t>
            </a:r>
            <a:endParaRPr lang="en-US" sz="1500" dirty="0"/>
          </a:p>
        </p:txBody>
      </p:sp>
      <p:sp>
        <p:nvSpPr>
          <p:cNvPr id="147" name="Text 136"/>
          <p:cNvSpPr/>
          <p:nvPr/>
        </p:nvSpPr>
        <p:spPr>
          <a:xfrm>
            <a:off x="5346177" y="33316934"/>
            <a:ext cx="3611761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ERR_DECAY_SHIFT = 8</a:t>
            </a:r>
            <a:endParaRPr lang="en-US" sz="1425" dirty="0"/>
          </a:p>
        </p:txBody>
      </p:sp>
      <p:sp>
        <p:nvSpPr>
          <p:cNvPr id="148" name="Shape 137"/>
          <p:cNvSpPr/>
          <p:nvPr/>
        </p:nvSpPr>
        <p:spPr>
          <a:xfrm>
            <a:off x="323769" y="34012908"/>
            <a:ext cx="8731746" cy="4805930"/>
          </a:xfrm>
          <a:prstGeom prst="roundRect">
            <a:avLst>
              <a:gd name="adj" fmla="val 2378"/>
            </a:avLst>
          </a:prstGeom>
          <a:ln w="17318">
            <a:solidFill>
              <a:srgbClr val="D4DBE6"/>
            </a:solidFill>
            <a:prstDash val="solid"/>
          </a:ln>
        </p:spPr>
      </p:sp>
      <p:sp>
        <p:nvSpPr>
          <p:cNvPr id="149" name="Shape 138"/>
          <p:cNvSpPr/>
          <p:nvPr/>
        </p:nvSpPr>
        <p:spPr>
          <a:xfrm>
            <a:off x="341087" y="34030225"/>
            <a:ext cx="8697109" cy="574747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150" name="Text 139"/>
          <p:cNvSpPr/>
          <p:nvPr/>
        </p:nvSpPr>
        <p:spPr>
          <a:xfrm>
            <a:off x="569687" y="34144525"/>
            <a:ext cx="8500823" cy="384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FPGA ARCHITECTURE</a:t>
            </a:r>
            <a:endParaRPr lang="en-US" sz="2400" dirty="0"/>
          </a:p>
        </p:txBody>
      </p:sp>
      <p:sp>
        <p:nvSpPr>
          <p:cNvPr id="151" name="Shape 140"/>
          <p:cNvSpPr/>
          <p:nvPr/>
        </p:nvSpPr>
        <p:spPr>
          <a:xfrm>
            <a:off x="341087" y="34604974"/>
            <a:ext cx="8697109" cy="41965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2" name="Shape 141"/>
          <p:cNvSpPr/>
          <p:nvPr/>
        </p:nvSpPr>
        <p:spPr>
          <a:xfrm>
            <a:off x="588683" y="34814415"/>
            <a:ext cx="6430322" cy="439719"/>
          </a:xfrm>
          <a:prstGeom prst="roundRect">
            <a:avLst>
              <a:gd name="adj" fmla="val 17329"/>
            </a:avLst>
          </a:prstGeom>
          <a:solidFill>
            <a:srgbClr val="3B6DB4"/>
          </a:solidFill>
          <a:ln/>
        </p:spPr>
      </p:sp>
      <p:sp>
        <p:nvSpPr>
          <p:cNvPr id="153" name="Text 142"/>
          <p:cNvSpPr/>
          <p:nvPr/>
        </p:nvSpPr>
        <p:spPr>
          <a:xfrm>
            <a:off x="625578" y="34900140"/>
            <a:ext cx="6356532" cy="306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Engine — Single FSM</a:t>
            </a:r>
            <a:endParaRPr lang="en-US" sz="1800" dirty="0"/>
          </a:p>
        </p:txBody>
      </p:sp>
      <p:sp>
        <p:nvSpPr>
          <p:cNvPr id="154" name="Shape 143"/>
          <p:cNvSpPr/>
          <p:nvPr/>
        </p:nvSpPr>
        <p:spPr>
          <a:xfrm>
            <a:off x="588683" y="35330306"/>
            <a:ext cx="6430322" cy="429437"/>
          </a:xfrm>
          <a:prstGeom prst="roundRect">
            <a:avLst>
              <a:gd name="adj" fmla="val 15526"/>
            </a:avLst>
          </a:prstGeom>
          <a:solidFill>
            <a:srgbClr val="F0F5FC"/>
          </a:solidFill>
          <a:ln w="8659">
            <a:solidFill>
              <a:srgbClr val="D4DBE6"/>
            </a:solidFill>
            <a:prstDash val="solid"/>
          </a:ln>
        </p:spPr>
      </p:sp>
      <p:sp>
        <p:nvSpPr>
          <p:cNvPr id="155" name="Text 144"/>
          <p:cNvSpPr/>
          <p:nvPr/>
        </p:nvSpPr>
        <p:spPr>
          <a:xfrm>
            <a:off x="634237" y="35415165"/>
            <a:ext cx="6339214" cy="29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Nearest-Node Search</a:t>
            </a:r>
            <a:endParaRPr lang="en-US" sz="1725" dirty="0"/>
          </a:p>
        </p:txBody>
      </p:sp>
      <p:sp>
        <p:nvSpPr>
          <p:cNvPr id="156" name="Shape 145"/>
          <p:cNvSpPr/>
          <p:nvPr/>
        </p:nvSpPr>
        <p:spPr>
          <a:xfrm>
            <a:off x="588683" y="35835917"/>
            <a:ext cx="6430322" cy="429437"/>
          </a:xfrm>
          <a:prstGeom prst="roundRect">
            <a:avLst>
              <a:gd name="adj" fmla="val 15526"/>
            </a:avLst>
          </a:prstGeom>
          <a:solidFill>
            <a:srgbClr val="F0F5FC"/>
          </a:solidFill>
          <a:ln w="8659">
            <a:solidFill>
              <a:srgbClr val="D4DBE6"/>
            </a:solidFill>
            <a:prstDash val="solid"/>
          </a:ln>
        </p:spPr>
      </p:sp>
      <p:sp>
        <p:nvSpPr>
          <p:cNvPr id="157" name="Text 146"/>
          <p:cNvSpPr/>
          <p:nvPr/>
        </p:nvSpPr>
        <p:spPr>
          <a:xfrm>
            <a:off x="634237" y="35920776"/>
            <a:ext cx="6339214" cy="29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Update</a:t>
            </a:r>
            <a:endParaRPr lang="en-US" sz="1725" dirty="0"/>
          </a:p>
        </p:txBody>
      </p:sp>
      <p:sp>
        <p:nvSpPr>
          <p:cNvPr id="158" name="Shape 147"/>
          <p:cNvSpPr/>
          <p:nvPr/>
        </p:nvSpPr>
        <p:spPr>
          <a:xfrm>
            <a:off x="588683" y="36341526"/>
            <a:ext cx="6430322" cy="429437"/>
          </a:xfrm>
          <a:prstGeom prst="roundRect">
            <a:avLst>
              <a:gd name="adj" fmla="val 15526"/>
            </a:avLst>
          </a:prstGeom>
          <a:solidFill>
            <a:srgbClr val="F0F5FC"/>
          </a:solidFill>
          <a:ln w="8659">
            <a:solidFill>
              <a:srgbClr val="D4DBE6"/>
            </a:solidFill>
            <a:prstDash val="solid"/>
          </a:ln>
        </p:spPr>
      </p:sp>
      <p:sp>
        <p:nvSpPr>
          <p:cNvPr id="159" name="Text 148"/>
          <p:cNvSpPr/>
          <p:nvPr/>
        </p:nvSpPr>
        <p:spPr>
          <a:xfrm>
            <a:off x="634237" y="36426385"/>
            <a:ext cx="6339214" cy="29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Update &amp; Aging</a:t>
            </a:r>
            <a:endParaRPr lang="en-US" sz="1725" dirty="0"/>
          </a:p>
        </p:txBody>
      </p:sp>
      <p:sp>
        <p:nvSpPr>
          <p:cNvPr id="160" name="Shape 149"/>
          <p:cNvSpPr/>
          <p:nvPr/>
        </p:nvSpPr>
        <p:spPr>
          <a:xfrm>
            <a:off x="588683" y="36847137"/>
            <a:ext cx="6430322" cy="429437"/>
          </a:xfrm>
          <a:prstGeom prst="roundRect">
            <a:avLst>
              <a:gd name="adj" fmla="val 15526"/>
            </a:avLst>
          </a:prstGeom>
          <a:solidFill>
            <a:srgbClr val="F0F5FC"/>
          </a:solidFill>
          <a:ln w="8659">
            <a:solidFill>
              <a:srgbClr val="D4DBE6"/>
            </a:solidFill>
            <a:prstDash val="solid"/>
          </a:ln>
        </p:spPr>
      </p:sp>
      <p:sp>
        <p:nvSpPr>
          <p:cNvPr id="161" name="Text 150"/>
          <p:cNvSpPr/>
          <p:nvPr/>
        </p:nvSpPr>
        <p:spPr>
          <a:xfrm>
            <a:off x="634237" y="36931996"/>
            <a:ext cx="6339214" cy="29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2C3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Insertion / Deletion</a:t>
            </a:r>
            <a:endParaRPr lang="en-US" sz="1725" dirty="0"/>
          </a:p>
        </p:txBody>
      </p:sp>
      <p:sp>
        <p:nvSpPr>
          <p:cNvPr id="162" name="Shape 151"/>
          <p:cNvSpPr/>
          <p:nvPr/>
        </p:nvSpPr>
        <p:spPr>
          <a:xfrm>
            <a:off x="588683" y="37352746"/>
            <a:ext cx="6430322" cy="446755"/>
          </a:xfrm>
          <a:prstGeom prst="roundRect">
            <a:avLst>
              <a:gd name="adj" fmla="val 14924"/>
            </a:avLst>
          </a:prstGeom>
          <a:solidFill>
            <a:srgbClr val="FFFDF7"/>
          </a:solidFill>
          <a:ln w="17318">
            <a:solidFill>
              <a:srgbClr val="ECD9B3"/>
            </a:solidFill>
            <a:prstDash val="solid"/>
          </a:ln>
        </p:spPr>
      </p:sp>
      <p:sp>
        <p:nvSpPr>
          <p:cNvPr id="163" name="Text 152"/>
          <p:cNvSpPr/>
          <p:nvPr/>
        </p:nvSpPr>
        <p:spPr>
          <a:xfrm>
            <a:off x="642896" y="37446264"/>
            <a:ext cx="6321895" cy="29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A6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Fixed-Point Arithmetic (Q8 / Q16)</a:t>
            </a:r>
            <a:endParaRPr lang="en-US" sz="1725" dirty="0"/>
          </a:p>
        </p:txBody>
      </p:sp>
      <p:sp>
        <p:nvSpPr>
          <p:cNvPr id="164" name="Shape 153"/>
          <p:cNvSpPr/>
          <p:nvPr/>
        </p:nvSpPr>
        <p:spPr>
          <a:xfrm>
            <a:off x="7190427" y="35002073"/>
            <a:ext cx="1600173" cy="1600173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8659">
            <a:solidFill>
              <a:srgbClr val="D4DBE6"/>
            </a:solidFill>
            <a:prstDash val="solid"/>
          </a:ln>
        </p:spPr>
      </p:sp>
      <p:pic>
        <p:nvPicPr>
          <p:cNvPr id="16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75259" y="35086905"/>
            <a:ext cx="1430509" cy="1430509"/>
          </a:xfrm>
          <a:prstGeom prst="rect">
            <a:avLst/>
          </a:prstGeom>
        </p:spPr>
      </p:pic>
      <p:sp>
        <p:nvSpPr>
          <p:cNvPr id="166" name="Text 154"/>
          <p:cNvSpPr/>
          <p:nvPr/>
        </p:nvSpPr>
        <p:spPr>
          <a:xfrm>
            <a:off x="7152327" y="36659341"/>
            <a:ext cx="1676373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Sipeed Tang Nano 9K Gowin GW1NR-9C · 27 MHz</a:t>
            </a:r>
            <a:endParaRPr lang="en-US" sz="1500" dirty="0"/>
          </a:p>
        </p:txBody>
      </p:sp>
      <p:sp>
        <p:nvSpPr>
          <p:cNvPr id="167" name="Text 155"/>
          <p:cNvSpPr/>
          <p:nvPr/>
        </p:nvSpPr>
        <p:spPr>
          <a:xfrm>
            <a:off x="588683" y="37951846"/>
            <a:ext cx="8447975" cy="678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Node, edge &amp; dataset BRAMs · UART 1 Mbit/s host link · deterministic ≥ 3-cycle BRAM access.</a:t>
            </a:r>
            <a:endParaRPr lang="en-US" sz="1800" dirty="0"/>
          </a:p>
        </p:txBody>
      </p:sp>
      <p:sp>
        <p:nvSpPr>
          <p:cNvPr id="168" name="Shape 156"/>
          <p:cNvSpPr/>
          <p:nvPr/>
        </p:nvSpPr>
        <p:spPr>
          <a:xfrm>
            <a:off x="9207861" y="4578765"/>
            <a:ext cx="11864036" cy="34240073"/>
          </a:xfrm>
          <a:prstGeom prst="roundRect">
            <a:avLst>
              <a:gd name="adj" fmla="val 1285"/>
            </a:avLst>
          </a:prstGeom>
          <a:gradFill rotWithShape="1">
            <a:gsLst>
              <a:gs pos="0">
                <a:srgbClr val="18345F">
                  <a:alpha val="100000"/>
                </a:srgbClr>
              </a:gs>
              <a:gs pos="45000">
                <a:srgbClr val="0C1F3E">
                  <a:alpha val="100000"/>
                </a:srgbClr>
              </a:gs>
              <a:gs pos="100000">
                <a:srgbClr val="081427">
                  <a:alpha val="100000"/>
                </a:srgbClr>
              </a:gs>
            </a:gsLst>
            <a:path path="circle">
              <a:fillToRect l="30000" t="18000" r="70000" b="82000"/>
            </a:path>
          </a:gradFill>
          <a:ln/>
        </p:spPr>
      </p:sp>
      <p:sp>
        <p:nvSpPr>
          <p:cNvPr id="169" name="Shape 157"/>
          <p:cNvSpPr/>
          <p:nvPr/>
        </p:nvSpPr>
        <p:spPr>
          <a:xfrm>
            <a:off x="9207861" y="4578765"/>
            <a:ext cx="11864036" cy="34240073"/>
          </a:xfrm>
          <a:prstGeom prst="rect">
            <a:avLst/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12000" t="22000" r="88000" b="78000"/>
            </a:path>
          </a:gradFill>
          <a:ln/>
        </p:spPr>
      </p:sp>
      <p:sp>
        <p:nvSpPr>
          <p:cNvPr id="170" name="Text 158"/>
          <p:cNvSpPr/>
          <p:nvPr/>
        </p:nvSpPr>
        <p:spPr>
          <a:xfrm>
            <a:off x="9665033" y="5112111"/>
            <a:ext cx="11278182" cy="3021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700" b="1" kern="0" spc="-8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LABELS. NO CLOUD. </a:t>
            </a:r>
            <a:r>
              <a:rPr lang="en-US" sz="8700" b="1" kern="0" spc="-87" dirty="0">
                <a:solidFill>
                  <a:srgbClr val="F2B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LEARNING.</a:t>
            </a:r>
            <a:endParaRPr lang="en-US" sz="8700" dirty="0"/>
          </a:p>
        </p:txBody>
      </p:sp>
      <p:sp>
        <p:nvSpPr>
          <p:cNvPr id="171" name="Text 159"/>
          <p:cNvSpPr/>
          <p:nvPr/>
        </p:nvSpPr>
        <p:spPr>
          <a:xfrm>
            <a:off x="9665033" y="8266320"/>
            <a:ext cx="12044660" cy="471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D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FPGAs can learn topology online.</a:t>
            </a:r>
            <a:endParaRPr lang="en-US" sz="3000" dirty="0"/>
          </a:p>
        </p:txBody>
      </p:sp>
      <p:sp>
        <p:nvSpPr>
          <p:cNvPr id="172" name="Text 160"/>
          <p:cNvSpPr/>
          <p:nvPr/>
        </p:nvSpPr>
        <p:spPr>
          <a:xfrm>
            <a:off x="10476471" y="10899630"/>
            <a:ext cx="151902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9FB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Sensory Data</a:t>
            </a:r>
            <a:endParaRPr lang="en-US" sz="1875" dirty="0"/>
          </a:p>
        </p:txBody>
      </p:sp>
      <p:sp>
        <p:nvSpPr>
          <p:cNvPr id="173" name="Shape 161"/>
          <p:cNvSpPr/>
          <p:nvPr/>
        </p:nvSpPr>
        <p:spPr>
          <a:xfrm>
            <a:off x="9656375" y="11585322"/>
            <a:ext cx="3159215" cy="4206424"/>
          </a:xfrm>
          <a:prstGeom prst="roundRect">
            <a:avLst>
              <a:gd name="adj" fmla="val 4221"/>
            </a:avLst>
          </a:prstGeom>
          <a:ln w="8659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174" name="Image 10" descr="preencoded.png"/>
          <p:cNvPicPr>
            <a:picLocks noChangeAspect="1"/>
          </p:cNvPicPr>
          <p:nvPr/>
        </p:nvPicPr>
        <p:blipFill>
          <a:blip r:embed="rId13"/>
          <a:srcRect l="3141" r="3141"/>
          <a:stretch/>
        </p:blipFill>
        <p:spPr>
          <a:xfrm>
            <a:off x="9665033" y="11593981"/>
            <a:ext cx="3141897" cy="4189106"/>
          </a:xfrm>
          <a:prstGeom prst="rect">
            <a:avLst/>
          </a:prstGeom>
        </p:spPr>
      </p:pic>
      <p:sp>
        <p:nvSpPr>
          <p:cNvPr id="175" name="Text 162"/>
          <p:cNvSpPr/>
          <p:nvPr/>
        </p:nvSpPr>
        <p:spPr>
          <a:xfrm>
            <a:off x="12940200" y="13042620"/>
            <a:ext cx="571527" cy="644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6F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900" dirty="0"/>
          </a:p>
        </p:txBody>
      </p:sp>
      <p:sp>
        <p:nvSpPr>
          <p:cNvPr id="176" name="Text 163"/>
          <p:cNvSpPr/>
          <p:nvPr/>
        </p:nvSpPr>
        <p:spPr>
          <a:xfrm>
            <a:off x="14380233" y="11976740"/>
            <a:ext cx="151902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9FB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 FPGA Engine</a:t>
            </a:r>
            <a:endParaRPr lang="en-US" sz="1875" dirty="0"/>
          </a:p>
        </p:txBody>
      </p:sp>
      <p:sp>
        <p:nvSpPr>
          <p:cNvPr id="177" name="Shape 164"/>
          <p:cNvSpPr/>
          <p:nvPr/>
        </p:nvSpPr>
        <p:spPr>
          <a:xfrm>
            <a:off x="14113641" y="12662432"/>
            <a:ext cx="2052205" cy="2052205"/>
          </a:xfrm>
          <a:prstGeom prst="roundRect">
            <a:avLst>
              <a:gd name="adj" fmla="val 6498"/>
            </a:avLst>
          </a:prstGeom>
          <a:ln w="25977">
            <a:solidFill>
              <a:srgbClr val="5F8FCC"/>
            </a:solidFill>
            <a:prstDash val="solid"/>
          </a:ln>
          <a:effectLst>
            <a:outerShdw blurRad="381000" dist="50800" dir="16200000" algn="bl" rotWithShape="0">
              <a:srgbClr val="5F8FCC">
                <a:alpha val="40000"/>
              </a:srgbClr>
            </a:outerShdw>
          </a:effectLst>
        </p:spPr>
      </p:sp>
      <p:pic>
        <p:nvPicPr>
          <p:cNvPr id="178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139618" y="12688409"/>
            <a:ext cx="2000250" cy="2000250"/>
          </a:xfrm>
          <a:prstGeom prst="rect">
            <a:avLst/>
          </a:prstGeom>
        </p:spPr>
      </p:pic>
      <p:sp>
        <p:nvSpPr>
          <p:cNvPr id="179" name="Text 165"/>
          <p:cNvSpPr/>
          <p:nvPr/>
        </p:nvSpPr>
        <p:spPr>
          <a:xfrm>
            <a:off x="16844096" y="13042620"/>
            <a:ext cx="571662" cy="644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6F9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900" dirty="0"/>
          </a:p>
        </p:txBody>
      </p:sp>
      <p:sp>
        <p:nvSpPr>
          <p:cNvPr id="180" name="Text 166"/>
          <p:cNvSpPr/>
          <p:nvPr/>
        </p:nvSpPr>
        <p:spPr>
          <a:xfrm>
            <a:off x="18061158" y="10899630"/>
            <a:ext cx="196523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9FB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Topology (Growing Graph)</a:t>
            </a:r>
            <a:endParaRPr lang="en-US" sz="1875" dirty="0"/>
          </a:p>
        </p:txBody>
      </p:sp>
      <p:sp>
        <p:nvSpPr>
          <p:cNvPr id="181" name="Shape 167"/>
          <p:cNvSpPr/>
          <p:nvPr/>
        </p:nvSpPr>
        <p:spPr>
          <a:xfrm>
            <a:off x="17464168" y="11585322"/>
            <a:ext cx="3159215" cy="4206424"/>
          </a:xfrm>
          <a:prstGeom prst="roundRect">
            <a:avLst>
              <a:gd name="adj" fmla="val 4221"/>
            </a:avLst>
          </a:prstGeom>
          <a:ln w="8659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182" name="Image 12" descr="preencoded.png"/>
          <p:cNvPicPr>
            <a:picLocks noChangeAspect="1"/>
          </p:cNvPicPr>
          <p:nvPr/>
        </p:nvPicPr>
        <p:blipFill>
          <a:blip r:embed="rId14"/>
          <a:srcRect l="3141" r="3141"/>
          <a:stretch/>
        </p:blipFill>
        <p:spPr>
          <a:xfrm>
            <a:off x="17472828" y="11593981"/>
            <a:ext cx="3141897" cy="4189106"/>
          </a:xfrm>
          <a:prstGeom prst="rect">
            <a:avLst/>
          </a:prstGeom>
        </p:spPr>
      </p:pic>
      <p:sp>
        <p:nvSpPr>
          <p:cNvPr id="183" name="Shape 168"/>
          <p:cNvSpPr/>
          <p:nvPr/>
        </p:nvSpPr>
        <p:spPr>
          <a:xfrm>
            <a:off x="9665033" y="17992238"/>
            <a:ext cx="3561051" cy="1656998"/>
          </a:xfrm>
          <a:prstGeom prst="roundRect">
            <a:avLst>
              <a:gd name="adj" fmla="val 6898"/>
            </a:avLst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18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69280" y="18201679"/>
            <a:ext cx="552423" cy="552423"/>
          </a:xfrm>
          <a:prstGeom prst="rect">
            <a:avLst/>
          </a:prstGeom>
        </p:spPr>
      </p:pic>
      <p:sp>
        <p:nvSpPr>
          <p:cNvPr id="185" name="Text 169"/>
          <p:cNvSpPr/>
          <p:nvPr/>
        </p:nvSpPr>
        <p:spPr>
          <a:xfrm>
            <a:off x="9768534" y="18868294"/>
            <a:ext cx="33540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Topology Learning (GNG)</a:t>
            </a:r>
            <a:endParaRPr lang="en-US" sz="1875" dirty="0"/>
          </a:p>
        </p:txBody>
      </p:sp>
      <p:sp>
        <p:nvSpPr>
          <p:cNvPr id="186" name="Shape 170"/>
          <p:cNvSpPr/>
          <p:nvPr/>
        </p:nvSpPr>
        <p:spPr>
          <a:xfrm>
            <a:off x="13359353" y="17992238"/>
            <a:ext cx="3561051" cy="1656998"/>
          </a:xfrm>
          <a:prstGeom prst="roundRect">
            <a:avLst>
              <a:gd name="adj" fmla="val 6898"/>
            </a:avLst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187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863600" y="18201679"/>
            <a:ext cx="552423" cy="552423"/>
          </a:xfrm>
          <a:prstGeom prst="rect">
            <a:avLst/>
          </a:prstGeom>
        </p:spPr>
      </p:pic>
      <p:sp>
        <p:nvSpPr>
          <p:cNvPr id="188" name="Text 171"/>
          <p:cNvSpPr/>
          <p:nvPr/>
        </p:nvSpPr>
        <p:spPr>
          <a:xfrm>
            <a:off x="13462853" y="18868294"/>
            <a:ext cx="33540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Integer-Only Fixed-Point (Q8 / Q16)</a:t>
            </a:r>
            <a:endParaRPr lang="en-US" sz="1875" dirty="0"/>
          </a:p>
        </p:txBody>
      </p:sp>
      <p:sp>
        <p:nvSpPr>
          <p:cNvPr id="189" name="Shape 172"/>
          <p:cNvSpPr/>
          <p:nvPr/>
        </p:nvSpPr>
        <p:spPr>
          <a:xfrm>
            <a:off x="17053673" y="17992238"/>
            <a:ext cx="3561051" cy="1656998"/>
          </a:xfrm>
          <a:prstGeom prst="roundRect">
            <a:avLst>
              <a:gd name="adj" fmla="val 6898"/>
            </a:avLst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190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557920" y="18201679"/>
            <a:ext cx="552423" cy="552423"/>
          </a:xfrm>
          <a:prstGeom prst="rect">
            <a:avLst/>
          </a:prstGeom>
        </p:spPr>
      </p:pic>
      <p:sp>
        <p:nvSpPr>
          <p:cNvPr id="191" name="Text 173"/>
          <p:cNvSpPr/>
          <p:nvPr/>
        </p:nvSpPr>
        <p:spPr>
          <a:xfrm>
            <a:off x="17157173" y="18868294"/>
            <a:ext cx="33540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Memory-Efficient Edge-Cell Encoding</a:t>
            </a:r>
            <a:endParaRPr lang="en-US" sz="1875" dirty="0"/>
          </a:p>
        </p:txBody>
      </p:sp>
      <p:sp>
        <p:nvSpPr>
          <p:cNvPr id="192" name="Shape 174"/>
          <p:cNvSpPr/>
          <p:nvPr/>
        </p:nvSpPr>
        <p:spPr>
          <a:xfrm>
            <a:off x="9665033" y="21849592"/>
            <a:ext cx="10949691" cy="1387619"/>
          </a:xfrm>
          <a:prstGeom prst="roundRect">
            <a:avLst>
              <a:gd name="adj" fmla="val 8237"/>
            </a:avLst>
          </a:prstGeom>
          <a:solidFill>
            <a:srgbClr val="F2B95C">
              <a:alpha val="12000"/>
            </a:srgbClr>
          </a:solidFill>
          <a:ln w="17318">
            <a:solidFill>
              <a:srgbClr val="F2B95C">
                <a:alpha val="55000"/>
              </a:srgbClr>
            </a:solidFill>
            <a:prstDash val="solid"/>
          </a:ln>
        </p:spPr>
      </p:sp>
      <p:sp>
        <p:nvSpPr>
          <p:cNvPr id="193" name="Text 175"/>
          <p:cNvSpPr/>
          <p:nvPr/>
        </p:nvSpPr>
        <p:spPr>
          <a:xfrm>
            <a:off x="9784806" y="22095510"/>
            <a:ext cx="10710145" cy="933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F2B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structure discovery, without labels, without cloud, on a tiny FPGA.</a:t>
            </a:r>
            <a:endParaRPr lang="en-US" sz="3150" dirty="0"/>
          </a:p>
        </p:txBody>
      </p:sp>
      <p:sp>
        <p:nvSpPr>
          <p:cNvPr id="194" name="Text 176"/>
          <p:cNvSpPr/>
          <p:nvPr/>
        </p:nvSpPr>
        <p:spPr>
          <a:xfrm>
            <a:off x="9665033" y="25437703"/>
            <a:ext cx="12044660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77" dirty="0">
                <a:solidFill>
                  <a:srgbClr val="F2B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EDGE-CELL ENCODING — HALVES GRAPH STORAGE</a:t>
            </a:r>
            <a:endParaRPr lang="en-US" sz="2550" dirty="0"/>
          </a:p>
        </p:txBody>
      </p:sp>
      <p:sp>
        <p:nvSpPr>
          <p:cNvPr id="195" name="Text 177"/>
          <p:cNvSpPr/>
          <p:nvPr/>
        </p:nvSpPr>
        <p:spPr>
          <a:xfrm>
            <a:off x="10509836" y="25981465"/>
            <a:ext cx="28828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CD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Adjacency </a:t>
            </a:r>
            <a:r>
              <a:rPr lang="en-US" sz="1875" b="1" dirty="0">
                <a:solidFill>
                  <a:srgbClr val="9F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875" dirty="0"/>
          </a:p>
        </p:txBody>
      </p:sp>
      <p:sp>
        <p:nvSpPr>
          <p:cNvPr id="196" name="Shape 178"/>
          <p:cNvSpPr/>
          <p:nvPr/>
        </p:nvSpPr>
        <p:spPr>
          <a:xfrm>
            <a:off x="10200949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197" name="Text 179"/>
          <p:cNvSpPr/>
          <p:nvPr/>
        </p:nvSpPr>
        <p:spPr>
          <a:xfrm>
            <a:off x="10340984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98" name="Shape 180"/>
          <p:cNvSpPr/>
          <p:nvPr/>
        </p:nvSpPr>
        <p:spPr>
          <a:xfrm>
            <a:off x="10610633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199" name="Text 181"/>
          <p:cNvSpPr/>
          <p:nvPr/>
        </p:nvSpPr>
        <p:spPr>
          <a:xfrm>
            <a:off x="10750667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00" name="Shape 182"/>
          <p:cNvSpPr/>
          <p:nvPr/>
        </p:nvSpPr>
        <p:spPr>
          <a:xfrm>
            <a:off x="11020317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01" name="Text 183"/>
          <p:cNvSpPr/>
          <p:nvPr/>
        </p:nvSpPr>
        <p:spPr>
          <a:xfrm>
            <a:off x="11160350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02" name="Shape 184"/>
          <p:cNvSpPr/>
          <p:nvPr/>
        </p:nvSpPr>
        <p:spPr>
          <a:xfrm>
            <a:off x="11430000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03" name="Text 185"/>
          <p:cNvSpPr/>
          <p:nvPr/>
        </p:nvSpPr>
        <p:spPr>
          <a:xfrm>
            <a:off x="11570033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04" name="Shape 186"/>
          <p:cNvSpPr/>
          <p:nvPr/>
        </p:nvSpPr>
        <p:spPr>
          <a:xfrm>
            <a:off x="11839683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05" name="Text 187"/>
          <p:cNvSpPr/>
          <p:nvPr/>
        </p:nvSpPr>
        <p:spPr>
          <a:xfrm>
            <a:off x="11979716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06" name="Shape 188"/>
          <p:cNvSpPr/>
          <p:nvPr/>
        </p:nvSpPr>
        <p:spPr>
          <a:xfrm>
            <a:off x="12249366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07" name="Text 189"/>
          <p:cNvSpPr/>
          <p:nvPr/>
        </p:nvSpPr>
        <p:spPr>
          <a:xfrm>
            <a:off x="12389400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08" name="Shape 190"/>
          <p:cNvSpPr/>
          <p:nvPr/>
        </p:nvSpPr>
        <p:spPr>
          <a:xfrm>
            <a:off x="12659049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09" name="Text 191"/>
          <p:cNvSpPr/>
          <p:nvPr/>
        </p:nvSpPr>
        <p:spPr>
          <a:xfrm>
            <a:off x="12799083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0" name="Shape 192"/>
          <p:cNvSpPr/>
          <p:nvPr/>
        </p:nvSpPr>
        <p:spPr>
          <a:xfrm>
            <a:off x="13068733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11" name="Text 193"/>
          <p:cNvSpPr/>
          <p:nvPr/>
        </p:nvSpPr>
        <p:spPr>
          <a:xfrm>
            <a:off x="13208766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2" name="Shape 194"/>
          <p:cNvSpPr/>
          <p:nvPr/>
        </p:nvSpPr>
        <p:spPr>
          <a:xfrm>
            <a:off x="10200949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13" name="Text 195"/>
          <p:cNvSpPr/>
          <p:nvPr/>
        </p:nvSpPr>
        <p:spPr>
          <a:xfrm>
            <a:off x="10340984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4" name="Shape 196"/>
          <p:cNvSpPr/>
          <p:nvPr/>
        </p:nvSpPr>
        <p:spPr>
          <a:xfrm>
            <a:off x="10610633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15" name="Text 197"/>
          <p:cNvSpPr/>
          <p:nvPr/>
        </p:nvSpPr>
        <p:spPr>
          <a:xfrm>
            <a:off x="10750667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6" name="Shape 198"/>
          <p:cNvSpPr/>
          <p:nvPr/>
        </p:nvSpPr>
        <p:spPr>
          <a:xfrm>
            <a:off x="11020317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17" name="Text 199"/>
          <p:cNvSpPr/>
          <p:nvPr/>
        </p:nvSpPr>
        <p:spPr>
          <a:xfrm>
            <a:off x="11160350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8" name="Shape 200"/>
          <p:cNvSpPr/>
          <p:nvPr/>
        </p:nvSpPr>
        <p:spPr>
          <a:xfrm>
            <a:off x="11430000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19" name="Text 201"/>
          <p:cNvSpPr/>
          <p:nvPr/>
        </p:nvSpPr>
        <p:spPr>
          <a:xfrm>
            <a:off x="11570033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20" name="Shape 202"/>
          <p:cNvSpPr/>
          <p:nvPr/>
        </p:nvSpPr>
        <p:spPr>
          <a:xfrm>
            <a:off x="11839683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21" name="Text 203"/>
          <p:cNvSpPr/>
          <p:nvPr/>
        </p:nvSpPr>
        <p:spPr>
          <a:xfrm>
            <a:off x="11979716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22" name="Shape 204"/>
          <p:cNvSpPr/>
          <p:nvPr/>
        </p:nvSpPr>
        <p:spPr>
          <a:xfrm>
            <a:off x="12249366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23" name="Text 205"/>
          <p:cNvSpPr/>
          <p:nvPr/>
        </p:nvSpPr>
        <p:spPr>
          <a:xfrm>
            <a:off x="12389400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24" name="Shape 206"/>
          <p:cNvSpPr/>
          <p:nvPr/>
        </p:nvSpPr>
        <p:spPr>
          <a:xfrm>
            <a:off x="12659049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25" name="Text 207"/>
          <p:cNvSpPr/>
          <p:nvPr/>
        </p:nvSpPr>
        <p:spPr>
          <a:xfrm>
            <a:off x="12799083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26" name="Shape 208"/>
          <p:cNvSpPr/>
          <p:nvPr/>
        </p:nvSpPr>
        <p:spPr>
          <a:xfrm>
            <a:off x="13068733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27" name="Text 209"/>
          <p:cNvSpPr/>
          <p:nvPr/>
        </p:nvSpPr>
        <p:spPr>
          <a:xfrm>
            <a:off x="13208766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28" name="Shape 210"/>
          <p:cNvSpPr/>
          <p:nvPr/>
        </p:nvSpPr>
        <p:spPr>
          <a:xfrm>
            <a:off x="10200949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29" name="Text 211"/>
          <p:cNvSpPr/>
          <p:nvPr/>
        </p:nvSpPr>
        <p:spPr>
          <a:xfrm>
            <a:off x="10340984" y="2728696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30" name="Shape 212"/>
          <p:cNvSpPr/>
          <p:nvPr/>
        </p:nvSpPr>
        <p:spPr>
          <a:xfrm>
            <a:off x="10610633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31" name="Text 213"/>
          <p:cNvSpPr/>
          <p:nvPr/>
        </p:nvSpPr>
        <p:spPr>
          <a:xfrm>
            <a:off x="10750667" y="2728696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32" name="Shape 214"/>
          <p:cNvSpPr/>
          <p:nvPr/>
        </p:nvSpPr>
        <p:spPr>
          <a:xfrm>
            <a:off x="11020317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33" name="Text 215"/>
          <p:cNvSpPr/>
          <p:nvPr/>
        </p:nvSpPr>
        <p:spPr>
          <a:xfrm>
            <a:off x="11160350" y="2728696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34" name="Shape 216"/>
          <p:cNvSpPr/>
          <p:nvPr/>
        </p:nvSpPr>
        <p:spPr>
          <a:xfrm>
            <a:off x="11430000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35" name="Text 217"/>
          <p:cNvSpPr/>
          <p:nvPr/>
        </p:nvSpPr>
        <p:spPr>
          <a:xfrm>
            <a:off x="11570033" y="2728696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36" name="Shape 218"/>
          <p:cNvSpPr/>
          <p:nvPr/>
        </p:nvSpPr>
        <p:spPr>
          <a:xfrm>
            <a:off x="11839683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37" name="Text 219"/>
          <p:cNvSpPr/>
          <p:nvPr/>
        </p:nvSpPr>
        <p:spPr>
          <a:xfrm>
            <a:off x="11979716" y="2728696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38" name="Shape 220"/>
          <p:cNvSpPr/>
          <p:nvPr/>
        </p:nvSpPr>
        <p:spPr>
          <a:xfrm>
            <a:off x="12249366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39" name="Text 221"/>
          <p:cNvSpPr/>
          <p:nvPr/>
        </p:nvSpPr>
        <p:spPr>
          <a:xfrm>
            <a:off x="12389400" y="2728696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40" name="Shape 222"/>
          <p:cNvSpPr/>
          <p:nvPr/>
        </p:nvSpPr>
        <p:spPr>
          <a:xfrm>
            <a:off x="12659049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41" name="Text 223"/>
          <p:cNvSpPr/>
          <p:nvPr/>
        </p:nvSpPr>
        <p:spPr>
          <a:xfrm>
            <a:off x="12799083" y="2728696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42" name="Shape 224"/>
          <p:cNvSpPr/>
          <p:nvPr/>
        </p:nvSpPr>
        <p:spPr>
          <a:xfrm>
            <a:off x="13068733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43" name="Text 225"/>
          <p:cNvSpPr/>
          <p:nvPr/>
        </p:nvSpPr>
        <p:spPr>
          <a:xfrm>
            <a:off x="13208766" y="2728696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44" name="Shape 226"/>
          <p:cNvSpPr/>
          <p:nvPr/>
        </p:nvSpPr>
        <p:spPr>
          <a:xfrm>
            <a:off x="10200949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45" name="Text 227"/>
          <p:cNvSpPr/>
          <p:nvPr/>
        </p:nvSpPr>
        <p:spPr>
          <a:xfrm>
            <a:off x="10340984" y="27696642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46" name="Shape 228"/>
          <p:cNvSpPr/>
          <p:nvPr/>
        </p:nvSpPr>
        <p:spPr>
          <a:xfrm>
            <a:off x="10610633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47" name="Text 229"/>
          <p:cNvSpPr/>
          <p:nvPr/>
        </p:nvSpPr>
        <p:spPr>
          <a:xfrm>
            <a:off x="10750667" y="27696642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48" name="Shape 230"/>
          <p:cNvSpPr/>
          <p:nvPr/>
        </p:nvSpPr>
        <p:spPr>
          <a:xfrm>
            <a:off x="11020317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49" name="Text 231"/>
          <p:cNvSpPr/>
          <p:nvPr/>
        </p:nvSpPr>
        <p:spPr>
          <a:xfrm>
            <a:off x="11160350" y="27696642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50" name="Shape 232"/>
          <p:cNvSpPr/>
          <p:nvPr/>
        </p:nvSpPr>
        <p:spPr>
          <a:xfrm>
            <a:off x="11430000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51" name="Text 233"/>
          <p:cNvSpPr/>
          <p:nvPr/>
        </p:nvSpPr>
        <p:spPr>
          <a:xfrm>
            <a:off x="11570033" y="27696642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52" name="Shape 234"/>
          <p:cNvSpPr/>
          <p:nvPr/>
        </p:nvSpPr>
        <p:spPr>
          <a:xfrm>
            <a:off x="11839683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53" name="Text 235"/>
          <p:cNvSpPr/>
          <p:nvPr/>
        </p:nvSpPr>
        <p:spPr>
          <a:xfrm>
            <a:off x="11979716" y="27696642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54" name="Shape 236"/>
          <p:cNvSpPr/>
          <p:nvPr/>
        </p:nvSpPr>
        <p:spPr>
          <a:xfrm>
            <a:off x="12249366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55" name="Text 237"/>
          <p:cNvSpPr/>
          <p:nvPr/>
        </p:nvSpPr>
        <p:spPr>
          <a:xfrm>
            <a:off x="12389400" y="27696642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56" name="Shape 238"/>
          <p:cNvSpPr/>
          <p:nvPr/>
        </p:nvSpPr>
        <p:spPr>
          <a:xfrm>
            <a:off x="12659049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57" name="Text 239"/>
          <p:cNvSpPr/>
          <p:nvPr/>
        </p:nvSpPr>
        <p:spPr>
          <a:xfrm>
            <a:off x="12799083" y="27696642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58" name="Shape 240"/>
          <p:cNvSpPr/>
          <p:nvPr/>
        </p:nvSpPr>
        <p:spPr>
          <a:xfrm>
            <a:off x="13068733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59" name="Text 241"/>
          <p:cNvSpPr/>
          <p:nvPr/>
        </p:nvSpPr>
        <p:spPr>
          <a:xfrm>
            <a:off x="13208766" y="27696642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60" name="Shape 242"/>
          <p:cNvSpPr/>
          <p:nvPr/>
        </p:nvSpPr>
        <p:spPr>
          <a:xfrm>
            <a:off x="10200949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61" name="Text 243"/>
          <p:cNvSpPr/>
          <p:nvPr/>
        </p:nvSpPr>
        <p:spPr>
          <a:xfrm>
            <a:off x="10340984" y="2810632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62" name="Shape 244"/>
          <p:cNvSpPr/>
          <p:nvPr/>
        </p:nvSpPr>
        <p:spPr>
          <a:xfrm>
            <a:off x="10610633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63" name="Text 245"/>
          <p:cNvSpPr/>
          <p:nvPr/>
        </p:nvSpPr>
        <p:spPr>
          <a:xfrm>
            <a:off x="10750667" y="2810632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64" name="Shape 246"/>
          <p:cNvSpPr/>
          <p:nvPr/>
        </p:nvSpPr>
        <p:spPr>
          <a:xfrm>
            <a:off x="11020317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65" name="Text 247"/>
          <p:cNvSpPr/>
          <p:nvPr/>
        </p:nvSpPr>
        <p:spPr>
          <a:xfrm>
            <a:off x="11160350" y="2810632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66" name="Shape 248"/>
          <p:cNvSpPr/>
          <p:nvPr/>
        </p:nvSpPr>
        <p:spPr>
          <a:xfrm>
            <a:off x="11430000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67" name="Text 249"/>
          <p:cNvSpPr/>
          <p:nvPr/>
        </p:nvSpPr>
        <p:spPr>
          <a:xfrm>
            <a:off x="11570033" y="2810632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68" name="Shape 250"/>
          <p:cNvSpPr/>
          <p:nvPr/>
        </p:nvSpPr>
        <p:spPr>
          <a:xfrm>
            <a:off x="11839683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69" name="Text 251"/>
          <p:cNvSpPr/>
          <p:nvPr/>
        </p:nvSpPr>
        <p:spPr>
          <a:xfrm>
            <a:off x="11979716" y="2810632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70" name="Shape 252"/>
          <p:cNvSpPr/>
          <p:nvPr/>
        </p:nvSpPr>
        <p:spPr>
          <a:xfrm>
            <a:off x="12249366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71" name="Text 253"/>
          <p:cNvSpPr/>
          <p:nvPr/>
        </p:nvSpPr>
        <p:spPr>
          <a:xfrm>
            <a:off x="12389400" y="2810632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72" name="Shape 254"/>
          <p:cNvSpPr/>
          <p:nvPr/>
        </p:nvSpPr>
        <p:spPr>
          <a:xfrm>
            <a:off x="12659049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73" name="Text 255"/>
          <p:cNvSpPr/>
          <p:nvPr/>
        </p:nvSpPr>
        <p:spPr>
          <a:xfrm>
            <a:off x="12799083" y="2810632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74" name="Shape 256"/>
          <p:cNvSpPr/>
          <p:nvPr/>
        </p:nvSpPr>
        <p:spPr>
          <a:xfrm>
            <a:off x="13068733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75" name="Text 257"/>
          <p:cNvSpPr/>
          <p:nvPr/>
        </p:nvSpPr>
        <p:spPr>
          <a:xfrm>
            <a:off x="13208766" y="2810632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76" name="Shape 258"/>
          <p:cNvSpPr/>
          <p:nvPr/>
        </p:nvSpPr>
        <p:spPr>
          <a:xfrm>
            <a:off x="10200949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77" name="Text 259"/>
          <p:cNvSpPr/>
          <p:nvPr/>
        </p:nvSpPr>
        <p:spPr>
          <a:xfrm>
            <a:off x="10340984" y="28516008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78" name="Shape 260"/>
          <p:cNvSpPr/>
          <p:nvPr/>
        </p:nvSpPr>
        <p:spPr>
          <a:xfrm>
            <a:off x="10610633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79" name="Text 261"/>
          <p:cNvSpPr/>
          <p:nvPr/>
        </p:nvSpPr>
        <p:spPr>
          <a:xfrm>
            <a:off x="10750667" y="28516008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80" name="Shape 262"/>
          <p:cNvSpPr/>
          <p:nvPr/>
        </p:nvSpPr>
        <p:spPr>
          <a:xfrm>
            <a:off x="11020317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81" name="Text 263"/>
          <p:cNvSpPr/>
          <p:nvPr/>
        </p:nvSpPr>
        <p:spPr>
          <a:xfrm>
            <a:off x="11160350" y="28516008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82" name="Shape 264"/>
          <p:cNvSpPr/>
          <p:nvPr/>
        </p:nvSpPr>
        <p:spPr>
          <a:xfrm>
            <a:off x="11430000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83" name="Text 265"/>
          <p:cNvSpPr/>
          <p:nvPr/>
        </p:nvSpPr>
        <p:spPr>
          <a:xfrm>
            <a:off x="11570033" y="28516008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84" name="Shape 266"/>
          <p:cNvSpPr/>
          <p:nvPr/>
        </p:nvSpPr>
        <p:spPr>
          <a:xfrm>
            <a:off x="11839683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85" name="Text 267"/>
          <p:cNvSpPr/>
          <p:nvPr/>
        </p:nvSpPr>
        <p:spPr>
          <a:xfrm>
            <a:off x="11979716" y="28516008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86" name="Shape 268"/>
          <p:cNvSpPr/>
          <p:nvPr/>
        </p:nvSpPr>
        <p:spPr>
          <a:xfrm>
            <a:off x="12249366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87" name="Text 269"/>
          <p:cNvSpPr/>
          <p:nvPr/>
        </p:nvSpPr>
        <p:spPr>
          <a:xfrm>
            <a:off x="12389400" y="28516008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88" name="Shape 270"/>
          <p:cNvSpPr/>
          <p:nvPr/>
        </p:nvSpPr>
        <p:spPr>
          <a:xfrm>
            <a:off x="12659049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89" name="Text 271"/>
          <p:cNvSpPr/>
          <p:nvPr/>
        </p:nvSpPr>
        <p:spPr>
          <a:xfrm>
            <a:off x="12799083" y="28516008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90" name="Shape 272"/>
          <p:cNvSpPr/>
          <p:nvPr/>
        </p:nvSpPr>
        <p:spPr>
          <a:xfrm>
            <a:off x="13068733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91" name="Text 273"/>
          <p:cNvSpPr/>
          <p:nvPr/>
        </p:nvSpPr>
        <p:spPr>
          <a:xfrm>
            <a:off x="13208766" y="28516008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92" name="Shape 274"/>
          <p:cNvSpPr/>
          <p:nvPr/>
        </p:nvSpPr>
        <p:spPr>
          <a:xfrm>
            <a:off x="10200949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93" name="Text 275"/>
          <p:cNvSpPr/>
          <p:nvPr/>
        </p:nvSpPr>
        <p:spPr>
          <a:xfrm>
            <a:off x="10340984" y="28925693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94" name="Shape 276"/>
          <p:cNvSpPr/>
          <p:nvPr/>
        </p:nvSpPr>
        <p:spPr>
          <a:xfrm>
            <a:off x="10610633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95" name="Text 277"/>
          <p:cNvSpPr/>
          <p:nvPr/>
        </p:nvSpPr>
        <p:spPr>
          <a:xfrm>
            <a:off x="10750667" y="28925693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96" name="Shape 278"/>
          <p:cNvSpPr/>
          <p:nvPr/>
        </p:nvSpPr>
        <p:spPr>
          <a:xfrm>
            <a:off x="11020317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97" name="Text 279"/>
          <p:cNvSpPr/>
          <p:nvPr/>
        </p:nvSpPr>
        <p:spPr>
          <a:xfrm>
            <a:off x="11160350" y="28925693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98" name="Shape 280"/>
          <p:cNvSpPr/>
          <p:nvPr/>
        </p:nvSpPr>
        <p:spPr>
          <a:xfrm>
            <a:off x="11430000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299" name="Text 281"/>
          <p:cNvSpPr/>
          <p:nvPr/>
        </p:nvSpPr>
        <p:spPr>
          <a:xfrm>
            <a:off x="11570033" y="28925693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00" name="Shape 282"/>
          <p:cNvSpPr/>
          <p:nvPr/>
        </p:nvSpPr>
        <p:spPr>
          <a:xfrm>
            <a:off x="11839683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01" name="Text 283"/>
          <p:cNvSpPr/>
          <p:nvPr/>
        </p:nvSpPr>
        <p:spPr>
          <a:xfrm>
            <a:off x="11979716" y="28925693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02" name="Shape 284"/>
          <p:cNvSpPr/>
          <p:nvPr/>
        </p:nvSpPr>
        <p:spPr>
          <a:xfrm>
            <a:off x="12249366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03" name="Text 285"/>
          <p:cNvSpPr/>
          <p:nvPr/>
        </p:nvSpPr>
        <p:spPr>
          <a:xfrm>
            <a:off x="12389400" y="28925693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04" name="Shape 286"/>
          <p:cNvSpPr/>
          <p:nvPr/>
        </p:nvSpPr>
        <p:spPr>
          <a:xfrm>
            <a:off x="12659049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05" name="Text 287"/>
          <p:cNvSpPr/>
          <p:nvPr/>
        </p:nvSpPr>
        <p:spPr>
          <a:xfrm>
            <a:off x="12799083" y="28925693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06" name="Shape 288"/>
          <p:cNvSpPr/>
          <p:nvPr/>
        </p:nvSpPr>
        <p:spPr>
          <a:xfrm>
            <a:off x="13068733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07" name="Text 289"/>
          <p:cNvSpPr/>
          <p:nvPr/>
        </p:nvSpPr>
        <p:spPr>
          <a:xfrm>
            <a:off x="13208766" y="28925693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08" name="Shape 290"/>
          <p:cNvSpPr/>
          <p:nvPr/>
        </p:nvSpPr>
        <p:spPr>
          <a:xfrm>
            <a:off x="10200949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09" name="Text 291"/>
          <p:cNvSpPr/>
          <p:nvPr/>
        </p:nvSpPr>
        <p:spPr>
          <a:xfrm>
            <a:off x="10340984" y="29335375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10" name="Shape 292"/>
          <p:cNvSpPr/>
          <p:nvPr/>
        </p:nvSpPr>
        <p:spPr>
          <a:xfrm>
            <a:off x="10610633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11" name="Text 293"/>
          <p:cNvSpPr/>
          <p:nvPr/>
        </p:nvSpPr>
        <p:spPr>
          <a:xfrm>
            <a:off x="10750667" y="29335375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12" name="Shape 294"/>
          <p:cNvSpPr/>
          <p:nvPr/>
        </p:nvSpPr>
        <p:spPr>
          <a:xfrm>
            <a:off x="11020317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13" name="Text 295"/>
          <p:cNvSpPr/>
          <p:nvPr/>
        </p:nvSpPr>
        <p:spPr>
          <a:xfrm>
            <a:off x="11160350" y="29335375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14" name="Shape 296"/>
          <p:cNvSpPr/>
          <p:nvPr/>
        </p:nvSpPr>
        <p:spPr>
          <a:xfrm>
            <a:off x="11430000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15" name="Text 297"/>
          <p:cNvSpPr/>
          <p:nvPr/>
        </p:nvSpPr>
        <p:spPr>
          <a:xfrm>
            <a:off x="11570033" y="29335375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16" name="Shape 298"/>
          <p:cNvSpPr/>
          <p:nvPr/>
        </p:nvSpPr>
        <p:spPr>
          <a:xfrm>
            <a:off x="11839683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17" name="Text 299"/>
          <p:cNvSpPr/>
          <p:nvPr/>
        </p:nvSpPr>
        <p:spPr>
          <a:xfrm>
            <a:off x="11979716" y="29335375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18" name="Shape 300"/>
          <p:cNvSpPr/>
          <p:nvPr/>
        </p:nvSpPr>
        <p:spPr>
          <a:xfrm>
            <a:off x="12249366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19" name="Text 301"/>
          <p:cNvSpPr/>
          <p:nvPr/>
        </p:nvSpPr>
        <p:spPr>
          <a:xfrm>
            <a:off x="12389400" y="29335375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20" name="Shape 302"/>
          <p:cNvSpPr/>
          <p:nvPr/>
        </p:nvSpPr>
        <p:spPr>
          <a:xfrm>
            <a:off x="12659049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21" name="Text 303"/>
          <p:cNvSpPr/>
          <p:nvPr/>
        </p:nvSpPr>
        <p:spPr>
          <a:xfrm>
            <a:off x="12799083" y="29335375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22" name="Shape 304"/>
          <p:cNvSpPr/>
          <p:nvPr/>
        </p:nvSpPr>
        <p:spPr>
          <a:xfrm>
            <a:off x="13068733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23" name="Text 305"/>
          <p:cNvSpPr/>
          <p:nvPr/>
        </p:nvSpPr>
        <p:spPr>
          <a:xfrm>
            <a:off x="13208766" y="29335375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24" name="Text 306"/>
          <p:cNvSpPr/>
          <p:nvPr/>
        </p:nvSpPr>
        <p:spPr>
          <a:xfrm>
            <a:off x="11163462" y="29735045"/>
            <a:ext cx="144482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1,600 B</a:t>
            </a:r>
            <a:endParaRPr lang="en-US" sz="3000" dirty="0"/>
          </a:p>
        </p:txBody>
      </p:sp>
      <p:sp>
        <p:nvSpPr>
          <p:cNvPr id="325" name="Text 307"/>
          <p:cNvSpPr/>
          <p:nvPr/>
        </p:nvSpPr>
        <p:spPr>
          <a:xfrm>
            <a:off x="10703042" y="30230239"/>
            <a:ext cx="24578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FB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N×N matrix (baseline)</a:t>
            </a:r>
            <a:endParaRPr lang="en-US" sz="1650" dirty="0"/>
          </a:p>
        </p:txBody>
      </p:sp>
      <p:sp>
        <p:nvSpPr>
          <p:cNvPr id="326" name="Text 308"/>
          <p:cNvSpPr/>
          <p:nvPr/>
        </p:nvSpPr>
        <p:spPr>
          <a:xfrm>
            <a:off x="14204020" y="27189950"/>
            <a:ext cx="2058888" cy="761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F2B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−51%</a:t>
            </a:r>
            <a:endParaRPr lang="en-US" sz="5700" dirty="0"/>
          </a:p>
        </p:txBody>
      </p:sp>
      <p:sp>
        <p:nvSpPr>
          <p:cNvPr id="327" name="Text 309"/>
          <p:cNvSpPr/>
          <p:nvPr/>
        </p:nvSpPr>
        <p:spPr>
          <a:xfrm>
            <a:off x="14722808" y="27970893"/>
            <a:ext cx="834141" cy="586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9FB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storage</a:t>
            </a:r>
            <a:endParaRPr lang="en-US" sz="1800" dirty="0"/>
          </a:p>
        </p:txBody>
      </p:sp>
      <p:sp>
        <p:nvSpPr>
          <p:cNvPr id="328" name="Text 310"/>
          <p:cNvSpPr/>
          <p:nvPr/>
        </p:nvSpPr>
        <p:spPr>
          <a:xfrm>
            <a:off x="14873070" y="28614777"/>
            <a:ext cx="609681" cy="696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F2B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329" name="Text 311"/>
          <p:cNvSpPr/>
          <p:nvPr/>
        </p:nvSpPr>
        <p:spPr>
          <a:xfrm>
            <a:off x="17128087" y="25981465"/>
            <a:ext cx="29289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CD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Edge-Cell Half-Adj. </a:t>
            </a:r>
            <a:r>
              <a:rPr lang="en-US" sz="1875" b="1" dirty="0">
                <a:solidFill>
                  <a:srgbClr val="9FB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O(E)</a:t>
            </a:r>
            <a:endParaRPr lang="en-US" sz="1875" dirty="0"/>
          </a:p>
        </p:txBody>
      </p:sp>
      <p:sp>
        <p:nvSpPr>
          <p:cNvPr id="330" name="Shape 312"/>
          <p:cNvSpPr/>
          <p:nvPr/>
        </p:nvSpPr>
        <p:spPr>
          <a:xfrm>
            <a:off x="16840172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31" name="Shape 313"/>
          <p:cNvSpPr/>
          <p:nvPr/>
        </p:nvSpPr>
        <p:spPr>
          <a:xfrm>
            <a:off x="17249855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32" name="Text 314"/>
          <p:cNvSpPr/>
          <p:nvPr/>
        </p:nvSpPr>
        <p:spPr>
          <a:xfrm>
            <a:off x="17389890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33" name="Shape 315"/>
          <p:cNvSpPr/>
          <p:nvPr/>
        </p:nvSpPr>
        <p:spPr>
          <a:xfrm>
            <a:off x="17659538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E2A84E"/>
          </a:solidFill>
          <a:ln w="8659">
            <a:solidFill>
              <a:srgbClr val="E2A84E"/>
            </a:solidFill>
            <a:prstDash val="solid"/>
          </a:ln>
        </p:spPr>
      </p:sp>
      <p:sp>
        <p:nvSpPr>
          <p:cNvPr id="334" name="Text 316"/>
          <p:cNvSpPr/>
          <p:nvPr/>
        </p:nvSpPr>
        <p:spPr>
          <a:xfrm>
            <a:off x="17799573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C1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335" name="Shape 317"/>
          <p:cNvSpPr/>
          <p:nvPr/>
        </p:nvSpPr>
        <p:spPr>
          <a:xfrm>
            <a:off x="18069221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36" name="Text 318"/>
          <p:cNvSpPr/>
          <p:nvPr/>
        </p:nvSpPr>
        <p:spPr>
          <a:xfrm>
            <a:off x="18209256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37" name="Shape 319"/>
          <p:cNvSpPr/>
          <p:nvPr/>
        </p:nvSpPr>
        <p:spPr>
          <a:xfrm>
            <a:off x="18478906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38" name="Text 320"/>
          <p:cNvSpPr/>
          <p:nvPr/>
        </p:nvSpPr>
        <p:spPr>
          <a:xfrm>
            <a:off x="18618939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39" name="Shape 321"/>
          <p:cNvSpPr/>
          <p:nvPr/>
        </p:nvSpPr>
        <p:spPr>
          <a:xfrm>
            <a:off x="18888589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40" name="Text 322"/>
          <p:cNvSpPr/>
          <p:nvPr/>
        </p:nvSpPr>
        <p:spPr>
          <a:xfrm>
            <a:off x="19028622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41" name="Shape 323"/>
          <p:cNvSpPr/>
          <p:nvPr/>
        </p:nvSpPr>
        <p:spPr>
          <a:xfrm>
            <a:off x="19298272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42" name="Text 324"/>
          <p:cNvSpPr/>
          <p:nvPr/>
        </p:nvSpPr>
        <p:spPr>
          <a:xfrm>
            <a:off x="19438305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43" name="Shape 325"/>
          <p:cNvSpPr/>
          <p:nvPr/>
        </p:nvSpPr>
        <p:spPr>
          <a:xfrm>
            <a:off x="19707955" y="26381408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44" name="Text 326"/>
          <p:cNvSpPr/>
          <p:nvPr/>
        </p:nvSpPr>
        <p:spPr>
          <a:xfrm>
            <a:off x="19847989" y="2646759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45" name="Shape 327"/>
          <p:cNvSpPr/>
          <p:nvPr/>
        </p:nvSpPr>
        <p:spPr>
          <a:xfrm>
            <a:off x="16840172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46" name="Shape 328"/>
          <p:cNvSpPr/>
          <p:nvPr/>
        </p:nvSpPr>
        <p:spPr>
          <a:xfrm>
            <a:off x="17249855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47" name="Shape 329"/>
          <p:cNvSpPr/>
          <p:nvPr/>
        </p:nvSpPr>
        <p:spPr>
          <a:xfrm>
            <a:off x="17659538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48" name="Text 330"/>
          <p:cNvSpPr/>
          <p:nvPr/>
        </p:nvSpPr>
        <p:spPr>
          <a:xfrm>
            <a:off x="17799573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49" name="Shape 331"/>
          <p:cNvSpPr/>
          <p:nvPr/>
        </p:nvSpPr>
        <p:spPr>
          <a:xfrm>
            <a:off x="18069221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E2A84E"/>
          </a:solidFill>
          <a:ln w="8659">
            <a:solidFill>
              <a:srgbClr val="E2A84E"/>
            </a:solidFill>
            <a:prstDash val="solid"/>
          </a:ln>
        </p:spPr>
      </p:sp>
      <p:sp>
        <p:nvSpPr>
          <p:cNvPr id="350" name="Text 332"/>
          <p:cNvSpPr/>
          <p:nvPr/>
        </p:nvSpPr>
        <p:spPr>
          <a:xfrm>
            <a:off x="18209256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C1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51" name="Shape 333"/>
          <p:cNvSpPr/>
          <p:nvPr/>
        </p:nvSpPr>
        <p:spPr>
          <a:xfrm>
            <a:off x="18478906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52" name="Text 334"/>
          <p:cNvSpPr/>
          <p:nvPr/>
        </p:nvSpPr>
        <p:spPr>
          <a:xfrm>
            <a:off x="18618939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53" name="Shape 335"/>
          <p:cNvSpPr/>
          <p:nvPr/>
        </p:nvSpPr>
        <p:spPr>
          <a:xfrm>
            <a:off x="18888589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54" name="Text 336"/>
          <p:cNvSpPr/>
          <p:nvPr/>
        </p:nvSpPr>
        <p:spPr>
          <a:xfrm>
            <a:off x="19028622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55" name="Shape 337"/>
          <p:cNvSpPr/>
          <p:nvPr/>
        </p:nvSpPr>
        <p:spPr>
          <a:xfrm>
            <a:off x="19298272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E2A84E"/>
          </a:solidFill>
          <a:ln w="8659">
            <a:solidFill>
              <a:srgbClr val="E2A84E"/>
            </a:solidFill>
            <a:prstDash val="solid"/>
          </a:ln>
        </p:spPr>
      </p:sp>
      <p:sp>
        <p:nvSpPr>
          <p:cNvPr id="356" name="Text 338"/>
          <p:cNvSpPr/>
          <p:nvPr/>
        </p:nvSpPr>
        <p:spPr>
          <a:xfrm>
            <a:off x="19438305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C1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57" name="Shape 339"/>
          <p:cNvSpPr/>
          <p:nvPr/>
        </p:nvSpPr>
        <p:spPr>
          <a:xfrm>
            <a:off x="19707955" y="26791090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58" name="Text 340"/>
          <p:cNvSpPr/>
          <p:nvPr/>
        </p:nvSpPr>
        <p:spPr>
          <a:xfrm>
            <a:off x="19847989" y="2687727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59" name="Shape 341"/>
          <p:cNvSpPr/>
          <p:nvPr/>
        </p:nvSpPr>
        <p:spPr>
          <a:xfrm>
            <a:off x="16840172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60" name="Shape 342"/>
          <p:cNvSpPr/>
          <p:nvPr/>
        </p:nvSpPr>
        <p:spPr>
          <a:xfrm>
            <a:off x="17249855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61" name="Shape 343"/>
          <p:cNvSpPr/>
          <p:nvPr/>
        </p:nvSpPr>
        <p:spPr>
          <a:xfrm>
            <a:off x="17659538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62" name="Shape 344"/>
          <p:cNvSpPr/>
          <p:nvPr/>
        </p:nvSpPr>
        <p:spPr>
          <a:xfrm>
            <a:off x="18069221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63" name="Text 345"/>
          <p:cNvSpPr/>
          <p:nvPr/>
        </p:nvSpPr>
        <p:spPr>
          <a:xfrm>
            <a:off x="18209256" y="2728696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64" name="Shape 346"/>
          <p:cNvSpPr/>
          <p:nvPr/>
        </p:nvSpPr>
        <p:spPr>
          <a:xfrm>
            <a:off x="18478906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E2A84E"/>
          </a:solidFill>
          <a:ln w="8659">
            <a:solidFill>
              <a:srgbClr val="E2A84E"/>
            </a:solidFill>
            <a:prstDash val="solid"/>
          </a:ln>
        </p:spPr>
      </p:sp>
      <p:sp>
        <p:nvSpPr>
          <p:cNvPr id="365" name="Text 347"/>
          <p:cNvSpPr/>
          <p:nvPr/>
        </p:nvSpPr>
        <p:spPr>
          <a:xfrm>
            <a:off x="18618939" y="2728696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C1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66" name="Shape 348"/>
          <p:cNvSpPr/>
          <p:nvPr/>
        </p:nvSpPr>
        <p:spPr>
          <a:xfrm>
            <a:off x="18888589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67" name="Text 349"/>
          <p:cNvSpPr/>
          <p:nvPr/>
        </p:nvSpPr>
        <p:spPr>
          <a:xfrm>
            <a:off x="19028622" y="2728696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68" name="Shape 350"/>
          <p:cNvSpPr/>
          <p:nvPr/>
        </p:nvSpPr>
        <p:spPr>
          <a:xfrm>
            <a:off x="19298272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69" name="Text 351"/>
          <p:cNvSpPr/>
          <p:nvPr/>
        </p:nvSpPr>
        <p:spPr>
          <a:xfrm>
            <a:off x="19438305" y="2728696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70" name="Shape 352"/>
          <p:cNvSpPr/>
          <p:nvPr/>
        </p:nvSpPr>
        <p:spPr>
          <a:xfrm>
            <a:off x="19707955" y="27200775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71" name="Text 353"/>
          <p:cNvSpPr/>
          <p:nvPr/>
        </p:nvSpPr>
        <p:spPr>
          <a:xfrm>
            <a:off x="19847989" y="2728696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72" name="Shape 354"/>
          <p:cNvSpPr/>
          <p:nvPr/>
        </p:nvSpPr>
        <p:spPr>
          <a:xfrm>
            <a:off x="16840172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73" name="Shape 355"/>
          <p:cNvSpPr/>
          <p:nvPr/>
        </p:nvSpPr>
        <p:spPr>
          <a:xfrm>
            <a:off x="17249855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74" name="Shape 356"/>
          <p:cNvSpPr/>
          <p:nvPr/>
        </p:nvSpPr>
        <p:spPr>
          <a:xfrm>
            <a:off x="17659538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75" name="Shape 357"/>
          <p:cNvSpPr/>
          <p:nvPr/>
        </p:nvSpPr>
        <p:spPr>
          <a:xfrm>
            <a:off x="18069221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76" name="Shape 358"/>
          <p:cNvSpPr/>
          <p:nvPr/>
        </p:nvSpPr>
        <p:spPr>
          <a:xfrm>
            <a:off x="18478906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77" name="Text 359"/>
          <p:cNvSpPr/>
          <p:nvPr/>
        </p:nvSpPr>
        <p:spPr>
          <a:xfrm>
            <a:off x="18618939" y="27696642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78" name="Shape 360"/>
          <p:cNvSpPr/>
          <p:nvPr/>
        </p:nvSpPr>
        <p:spPr>
          <a:xfrm>
            <a:off x="18888589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E2A84E"/>
          </a:solidFill>
          <a:ln w="8659">
            <a:solidFill>
              <a:srgbClr val="E2A84E"/>
            </a:solidFill>
            <a:prstDash val="solid"/>
          </a:ln>
        </p:spPr>
      </p:sp>
      <p:sp>
        <p:nvSpPr>
          <p:cNvPr id="379" name="Text 361"/>
          <p:cNvSpPr/>
          <p:nvPr/>
        </p:nvSpPr>
        <p:spPr>
          <a:xfrm>
            <a:off x="19028622" y="27696642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C1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380" name="Shape 362"/>
          <p:cNvSpPr/>
          <p:nvPr/>
        </p:nvSpPr>
        <p:spPr>
          <a:xfrm>
            <a:off x="19298272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81" name="Text 363"/>
          <p:cNvSpPr/>
          <p:nvPr/>
        </p:nvSpPr>
        <p:spPr>
          <a:xfrm>
            <a:off x="19438305" y="27696642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82" name="Shape 364"/>
          <p:cNvSpPr/>
          <p:nvPr/>
        </p:nvSpPr>
        <p:spPr>
          <a:xfrm>
            <a:off x="19707955" y="2761045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83" name="Text 365"/>
          <p:cNvSpPr/>
          <p:nvPr/>
        </p:nvSpPr>
        <p:spPr>
          <a:xfrm>
            <a:off x="19847989" y="27696642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84" name="Shape 366"/>
          <p:cNvSpPr/>
          <p:nvPr/>
        </p:nvSpPr>
        <p:spPr>
          <a:xfrm>
            <a:off x="16840172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85" name="Shape 367"/>
          <p:cNvSpPr/>
          <p:nvPr/>
        </p:nvSpPr>
        <p:spPr>
          <a:xfrm>
            <a:off x="17249855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86" name="Shape 368"/>
          <p:cNvSpPr/>
          <p:nvPr/>
        </p:nvSpPr>
        <p:spPr>
          <a:xfrm>
            <a:off x="17659538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87" name="Shape 369"/>
          <p:cNvSpPr/>
          <p:nvPr/>
        </p:nvSpPr>
        <p:spPr>
          <a:xfrm>
            <a:off x="18069221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88" name="Shape 370"/>
          <p:cNvSpPr/>
          <p:nvPr/>
        </p:nvSpPr>
        <p:spPr>
          <a:xfrm>
            <a:off x="18478906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89" name="Shape 371"/>
          <p:cNvSpPr/>
          <p:nvPr/>
        </p:nvSpPr>
        <p:spPr>
          <a:xfrm>
            <a:off x="18888589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90" name="Text 372"/>
          <p:cNvSpPr/>
          <p:nvPr/>
        </p:nvSpPr>
        <p:spPr>
          <a:xfrm>
            <a:off x="19028622" y="2810632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91" name="Shape 373"/>
          <p:cNvSpPr/>
          <p:nvPr/>
        </p:nvSpPr>
        <p:spPr>
          <a:xfrm>
            <a:off x="19298272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E2A84E"/>
          </a:solidFill>
          <a:ln w="8659">
            <a:solidFill>
              <a:srgbClr val="E2A84E"/>
            </a:solidFill>
            <a:prstDash val="solid"/>
          </a:ln>
        </p:spPr>
      </p:sp>
      <p:sp>
        <p:nvSpPr>
          <p:cNvPr id="392" name="Text 374"/>
          <p:cNvSpPr/>
          <p:nvPr/>
        </p:nvSpPr>
        <p:spPr>
          <a:xfrm>
            <a:off x="19438305" y="2810632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C1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93" name="Shape 375"/>
          <p:cNvSpPr/>
          <p:nvPr/>
        </p:nvSpPr>
        <p:spPr>
          <a:xfrm>
            <a:off x="19707955" y="2802014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394" name="Text 376"/>
          <p:cNvSpPr/>
          <p:nvPr/>
        </p:nvSpPr>
        <p:spPr>
          <a:xfrm>
            <a:off x="19847989" y="2810632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95" name="Shape 377"/>
          <p:cNvSpPr/>
          <p:nvPr/>
        </p:nvSpPr>
        <p:spPr>
          <a:xfrm>
            <a:off x="16840172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96" name="Shape 378"/>
          <p:cNvSpPr/>
          <p:nvPr/>
        </p:nvSpPr>
        <p:spPr>
          <a:xfrm>
            <a:off x="17249855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97" name="Shape 379"/>
          <p:cNvSpPr/>
          <p:nvPr/>
        </p:nvSpPr>
        <p:spPr>
          <a:xfrm>
            <a:off x="17659538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98" name="Shape 380"/>
          <p:cNvSpPr/>
          <p:nvPr/>
        </p:nvSpPr>
        <p:spPr>
          <a:xfrm>
            <a:off x="18069221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99" name="Shape 381"/>
          <p:cNvSpPr/>
          <p:nvPr/>
        </p:nvSpPr>
        <p:spPr>
          <a:xfrm>
            <a:off x="18478906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00" name="Shape 382"/>
          <p:cNvSpPr/>
          <p:nvPr/>
        </p:nvSpPr>
        <p:spPr>
          <a:xfrm>
            <a:off x="18888589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01" name="Shape 383"/>
          <p:cNvSpPr/>
          <p:nvPr/>
        </p:nvSpPr>
        <p:spPr>
          <a:xfrm>
            <a:off x="19298272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402" name="Text 384"/>
          <p:cNvSpPr/>
          <p:nvPr/>
        </p:nvSpPr>
        <p:spPr>
          <a:xfrm>
            <a:off x="19438305" y="28516008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03" name="Shape 385"/>
          <p:cNvSpPr/>
          <p:nvPr/>
        </p:nvSpPr>
        <p:spPr>
          <a:xfrm>
            <a:off x="19707955" y="28429823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E2A84E"/>
          </a:solidFill>
          <a:ln w="8659">
            <a:solidFill>
              <a:srgbClr val="E2A84E"/>
            </a:solidFill>
            <a:prstDash val="solid"/>
          </a:ln>
        </p:spPr>
      </p:sp>
      <p:sp>
        <p:nvSpPr>
          <p:cNvPr id="404" name="Text 386"/>
          <p:cNvSpPr/>
          <p:nvPr/>
        </p:nvSpPr>
        <p:spPr>
          <a:xfrm>
            <a:off x="19847989" y="28516008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C1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405" name="Shape 387"/>
          <p:cNvSpPr/>
          <p:nvPr/>
        </p:nvSpPr>
        <p:spPr>
          <a:xfrm>
            <a:off x="16840172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06" name="Shape 388"/>
          <p:cNvSpPr/>
          <p:nvPr/>
        </p:nvSpPr>
        <p:spPr>
          <a:xfrm>
            <a:off x="17249855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07" name="Shape 389"/>
          <p:cNvSpPr/>
          <p:nvPr/>
        </p:nvSpPr>
        <p:spPr>
          <a:xfrm>
            <a:off x="17659538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08" name="Shape 390"/>
          <p:cNvSpPr/>
          <p:nvPr/>
        </p:nvSpPr>
        <p:spPr>
          <a:xfrm>
            <a:off x="18069221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09" name="Shape 391"/>
          <p:cNvSpPr/>
          <p:nvPr/>
        </p:nvSpPr>
        <p:spPr>
          <a:xfrm>
            <a:off x="18478906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10" name="Shape 392"/>
          <p:cNvSpPr/>
          <p:nvPr/>
        </p:nvSpPr>
        <p:spPr>
          <a:xfrm>
            <a:off x="18888589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11" name="Shape 393"/>
          <p:cNvSpPr/>
          <p:nvPr/>
        </p:nvSpPr>
        <p:spPr>
          <a:xfrm>
            <a:off x="19298272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12" name="Shape 394"/>
          <p:cNvSpPr/>
          <p:nvPr/>
        </p:nvSpPr>
        <p:spPr>
          <a:xfrm>
            <a:off x="19707955" y="28839507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15315A"/>
          </a:solidFill>
          <a:ln w="8659">
            <a:solidFill>
              <a:srgbClr val="244A7E"/>
            </a:solidFill>
            <a:prstDash val="solid"/>
          </a:ln>
        </p:spPr>
      </p:sp>
      <p:sp>
        <p:nvSpPr>
          <p:cNvPr id="413" name="Text 395"/>
          <p:cNvSpPr/>
          <p:nvPr/>
        </p:nvSpPr>
        <p:spPr>
          <a:xfrm>
            <a:off x="19847989" y="28925693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7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14" name="Shape 396"/>
          <p:cNvSpPr/>
          <p:nvPr/>
        </p:nvSpPr>
        <p:spPr>
          <a:xfrm>
            <a:off x="16840172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15" name="Shape 397"/>
          <p:cNvSpPr/>
          <p:nvPr/>
        </p:nvSpPr>
        <p:spPr>
          <a:xfrm>
            <a:off x="17249855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16" name="Shape 398"/>
          <p:cNvSpPr/>
          <p:nvPr/>
        </p:nvSpPr>
        <p:spPr>
          <a:xfrm>
            <a:off x="17659538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17" name="Shape 399"/>
          <p:cNvSpPr/>
          <p:nvPr/>
        </p:nvSpPr>
        <p:spPr>
          <a:xfrm>
            <a:off x="18069221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18" name="Shape 400"/>
          <p:cNvSpPr/>
          <p:nvPr/>
        </p:nvSpPr>
        <p:spPr>
          <a:xfrm>
            <a:off x="18478906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19" name="Shape 401"/>
          <p:cNvSpPr/>
          <p:nvPr/>
        </p:nvSpPr>
        <p:spPr>
          <a:xfrm>
            <a:off x="18888589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20" name="Shape 402"/>
          <p:cNvSpPr/>
          <p:nvPr/>
        </p:nvSpPr>
        <p:spPr>
          <a:xfrm>
            <a:off x="19298272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21" name="Shape 403"/>
          <p:cNvSpPr/>
          <p:nvPr/>
        </p:nvSpPr>
        <p:spPr>
          <a:xfrm>
            <a:off x="19707955" y="29249191"/>
            <a:ext cx="371664" cy="371664"/>
          </a:xfrm>
          <a:prstGeom prst="roundRect">
            <a:avLst>
              <a:gd name="adj" fmla="val 10251"/>
            </a:avLst>
          </a:prstGeom>
          <a:solidFill>
            <a:srgbClr val="FFFFFF">
              <a:alpha val="4000"/>
            </a:srgbClr>
          </a:solidFill>
          <a:ln w="8659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22" name="Text 404"/>
          <p:cNvSpPr/>
          <p:nvPr/>
        </p:nvSpPr>
        <p:spPr>
          <a:xfrm>
            <a:off x="17961659" y="29735045"/>
            <a:ext cx="10718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2B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 B</a:t>
            </a:r>
            <a:endParaRPr lang="en-US" sz="3000" dirty="0"/>
          </a:p>
        </p:txBody>
      </p:sp>
      <p:sp>
        <p:nvSpPr>
          <p:cNvPr id="423" name="Text 405"/>
          <p:cNvSpPr/>
          <p:nvPr/>
        </p:nvSpPr>
        <p:spPr>
          <a:xfrm>
            <a:off x="17017548" y="30230239"/>
            <a:ext cx="3172271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FB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triangle, age+1 (proposed)</a:t>
            </a:r>
            <a:endParaRPr lang="en-US" sz="1650" dirty="0"/>
          </a:p>
        </p:txBody>
      </p:sp>
      <p:sp>
        <p:nvSpPr>
          <p:cNvPr id="424" name="Shape 406"/>
          <p:cNvSpPr/>
          <p:nvPr/>
        </p:nvSpPr>
        <p:spPr>
          <a:xfrm>
            <a:off x="9665033" y="30652776"/>
            <a:ext cx="10949691" cy="734129"/>
          </a:xfrm>
          <a:prstGeom prst="roundRect">
            <a:avLst>
              <a:gd name="adj" fmla="val 12975"/>
            </a:avLst>
          </a:prstGeom>
          <a:solidFill>
            <a:srgbClr val="F2B95C">
              <a:alpha val="12000"/>
            </a:srgbClr>
          </a:solidFill>
          <a:ln w="17318">
            <a:solidFill>
              <a:srgbClr val="F2B95C">
                <a:alpha val="50000"/>
              </a:srgbClr>
            </a:solidFill>
            <a:prstDash val="solid"/>
          </a:ln>
        </p:spPr>
      </p:sp>
      <p:sp>
        <p:nvSpPr>
          <p:cNvPr id="425" name="Text 407"/>
          <p:cNvSpPr/>
          <p:nvPr/>
        </p:nvSpPr>
        <p:spPr>
          <a:xfrm>
            <a:off x="12352869" y="30872634"/>
            <a:ext cx="1905446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D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graph state</a:t>
            </a:r>
            <a:endParaRPr lang="en-US" sz="1875" dirty="0"/>
          </a:p>
        </p:txBody>
      </p:sp>
      <p:sp>
        <p:nvSpPr>
          <p:cNvPr id="426" name="Text 408"/>
          <p:cNvSpPr/>
          <p:nvPr/>
        </p:nvSpPr>
        <p:spPr>
          <a:xfrm>
            <a:off x="14256516" y="30859647"/>
            <a:ext cx="2765078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2,000 B → 1,180 B</a:t>
            </a:r>
            <a:endParaRPr lang="en-US" sz="1950" dirty="0"/>
          </a:p>
        </p:txBody>
      </p:sp>
      <p:sp>
        <p:nvSpPr>
          <p:cNvPr id="427" name="Text 409"/>
          <p:cNvSpPr/>
          <p:nvPr/>
        </p:nvSpPr>
        <p:spPr>
          <a:xfrm>
            <a:off x="16941646" y="30803362"/>
            <a:ext cx="1061307" cy="471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B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−41%</a:t>
            </a:r>
            <a:endParaRPr lang="en-US" sz="3000" dirty="0"/>
          </a:p>
        </p:txBody>
      </p:sp>
      <p:sp>
        <p:nvSpPr>
          <p:cNvPr id="428" name="Shape 410"/>
          <p:cNvSpPr/>
          <p:nvPr/>
        </p:nvSpPr>
        <p:spPr>
          <a:xfrm>
            <a:off x="9665033" y="33587259"/>
            <a:ext cx="10949691" cy="4698233"/>
          </a:xfrm>
          <a:prstGeom prst="roundRect">
            <a:avLst>
              <a:gd name="adj" fmla="val 2838"/>
            </a:avLst>
          </a:prstGeom>
          <a:solidFill>
            <a:srgbClr val="FFFFFF">
              <a:alpha val="6000"/>
            </a:srgbClr>
          </a:solidFill>
          <a:ln w="8659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29" name="Text 411"/>
          <p:cNvSpPr/>
          <p:nvPr/>
        </p:nvSpPr>
        <p:spPr>
          <a:xfrm>
            <a:off x="11838729" y="33881669"/>
            <a:ext cx="6602164" cy="533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kern="0" spc="39" dirty="0">
                <a:solidFill>
                  <a:srgbClr val="F2B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EVERYTHING</a:t>
            </a:r>
            <a:endParaRPr lang="en-US" sz="3900" dirty="0"/>
          </a:p>
        </p:txBody>
      </p:sp>
      <p:sp>
        <p:nvSpPr>
          <p:cNvPr id="430" name="Shape 412"/>
          <p:cNvSpPr/>
          <p:nvPr/>
        </p:nvSpPr>
        <p:spPr>
          <a:xfrm>
            <a:off x="13844533" y="34548419"/>
            <a:ext cx="2590692" cy="2590692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/>
        </p:spPr>
      </p:sp>
      <p:pic>
        <p:nvPicPr>
          <p:cNvPr id="431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996878" y="34700763"/>
            <a:ext cx="2286000" cy="2286000"/>
          </a:xfrm>
          <a:prstGeom prst="rect">
            <a:avLst/>
          </a:prstGeom>
        </p:spPr>
      </p:pic>
      <p:sp>
        <p:nvSpPr>
          <p:cNvPr id="432" name="Text 413"/>
          <p:cNvSpPr/>
          <p:nvPr/>
        </p:nvSpPr>
        <p:spPr>
          <a:xfrm>
            <a:off x="12969822" y="37310534"/>
            <a:ext cx="4339977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CD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· Poster · Slides · Source Code</a:t>
            </a:r>
            <a:endParaRPr lang="en-US" sz="2025" dirty="0"/>
          </a:p>
        </p:txBody>
      </p:sp>
      <p:sp>
        <p:nvSpPr>
          <p:cNvPr id="433" name="Text 414"/>
          <p:cNvSpPr/>
          <p:nvPr/>
        </p:nvSpPr>
        <p:spPr>
          <a:xfrm>
            <a:off x="13068192" y="37679356"/>
            <a:ext cx="4557712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FC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github.com/tzf230201/fpga_gng</a:t>
            </a:r>
            <a:endParaRPr lang="en-US" sz="1875" dirty="0"/>
          </a:p>
        </p:txBody>
      </p:sp>
      <p:sp>
        <p:nvSpPr>
          <p:cNvPr id="434" name="Shape 415"/>
          <p:cNvSpPr/>
          <p:nvPr/>
        </p:nvSpPr>
        <p:spPr>
          <a:xfrm>
            <a:off x="21224242" y="4578765"/>
            <a:ext cx="8731881" cy="2969256"/>
          </a:xfrm>
          <a:prstGeom prst="roundRect">
            <a:avLst>
              <a:gd name="adj" fmla="val 3849"/>
            </a:avLst>
          </a:prstGeom>
          <a:ln w="17318">
            <a:solidFill>
              <a:srgbClr val="D4DBE6"/>
            </a:solidFill>
            <a:prstDash val="solid"/>
          </a:ln>
        </p:spPr>
      </p:sp>
      <p:sp>
        <p:nvSpPr>
          <p:cNvPr id="435" name="Shape 416"/>
          <p:cNvSpPr/>
          <p:nvPr/>
        </p:nvSpPr>
        <p:spPr>
          <a:xfrm>
            <a:off x="21241562" y="4596083"/>
            <a:ext cx="8697245" cy="574747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436" name="Text 417"/>
          <p:cNvSpPr/>
          <p:nvPr/>
        </p:nvSpPr>
        <p:spPr>
          <a:xfrm>
            <a:off x="21470162" y="4710383"/>
            <a:ext cx="8500962" cy="384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MEMORY COMPARISON</a:t>
            </a:r>
            <a:endParaRPr lang="en-US" sz="2400" dirty="0"/>
          </a:p>
        </p:txBody>
      </p:sp>
      <p:sp>
        <p:nvSpPr>
          <p:cNvPr id="437" name="Shape 418"/>
          <p:cNvSpPr/>
          <p:nvPr/>
        </p:nvSpPr>
        <p:spPr>
          <a:xfrm>
            <a:off x="21241562" y="5170830"/>
            <a:ext cx="8697245" cy="23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8" name="Shape 419"/>
          <p:cNvSpPr/>
          <p:nvPr/>
        </p:nvSpPr>
        <p:spPr>
          <a:xfrm>
            <a:off x="21470080" y="5342253"/>
            <a:ext cx="8240207" cy="496815"/>
          </a:xfrm>
          <a:prstGeom prst="roundRect">
            <a:avLst>
              <a:gd name="adj" fmla="val 15338"/>
            </a:avLst>
          </a:prstGeom>
          <a:solidFill>
            <a:srgbClr val="EEF3F9"/>
          </a:solidFill>
          <a:ln/>
        </p:spPr>
      </p:sp>
      <p:sp>
        <p:nvSpPr>
          <p:cNvPr id="439" name="Text 420"/>
          <p:cNvSpPr/>
          <p:nvPr/>
        </p:nvSpPr>
        <p:spPr>
          <a:xfrm>
            <a:off x="21641502" y="5456445"/>
            <a:ext cx="3021509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800" dirty="0"/>
          </a:p>
        </p:txBody>
      </p:sp>
      <p:sp>
        <p:nvSpPr>
          <p:cNvPr id="440" name="Text 421"/>
          <p:cNvSpPr/>
          <p:nvPr/>
        </p:nvSpPr>
        <p:spPr>
          <a:xfrm>
            <a:off x="24216648" y="5456445"/>
            <a:ext cx="1888480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800" dirty="0"/>
          </a:p>
        </p:txBody>
      </p:sp>
      <p:sp>
        <p:nvSpPr>
          <p:cNvPr id="441" name="Text 422"/>
          <p:cNvSpPr/>
          <p:nvPr/>
        </p:nvSpPr>
        <p:spPr>
          <a:xfrm>
            <a:off x="25933450" y="5456445"/>
            <a:ext cx="1888480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1800" dirty="0"/>
          </a:p>
        </p:txBody>
      </p:sp>
      <p:sp>
        <p:nvSpPr>
          <p:cNvPr id="442" name="Text 423"/>
          <p:cNvSpPr/>
          <p:nvPr/>
        </p:nvSpPr>
        <p:spPr>
          <a:xfrm>
            <a:off x="27650236" y="5456445"/>
            <a:ext cx="1888629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</a:t>
            </a:r>
            <a:endParaRPr lang="en-US" sz="1800" dirty="0"/>
          </a:p>
        </p:txBody>
      </p:sp>
      <p:sp>
        <p:nvSpPr>
          <p:cNvPr id="443" name="Shape 424"/>
          <p:cNvSpPr/>
          <p:nvPr/>
        </p:nvSpPr>
        <p:spPr>
          <a:xfrm>
            <a:off x="21470080" y="6342919"/>
            <a:ext cx="8240207" cy="9525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44" name="Text 425"/>
          <p:cNvSpPr/>
          <p:nvPr/>
        </p:nvSpPr>
        <p:spPr>
          <a:xfrm>
            <a:off x="21641502" y="5943789"/>
            <a:ext cx="302150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array</a:t>
            </a:r>
            <a:endParaRPr lang="en-US" sz="1875" dirty="0"/>
          </a:p>
        </p:txBody>
      </p:sp>
      <p:sp>
        <p:nvSpPr>
          <p:cNvPr id="445" name="Text 426"/>
          <p:cNvSpPr/>
          <p:nvPr/>
        </p:nvSpPr>
        <p:spPr>
          <a:xfrm>
            <a:off x="24216648" y="5943789"/>
            <a:ext cx="1888480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800" dirty="0"/>
          </a:p>
        </p:txBody>
      </p:sp>
      <p:sp>
        <p:nvSpPr>
          <p:cNvPr id="446" name="Text 427"/>
          <p:cNvSpPr/>
          <p:nvPr/>
        </p:nvSpPr>
        <p:spPr>
          <a:xfrm>
            <a:off x="25933450" y="5943789"/>
            <a:ext cx="1888480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800" dirty="0"/>
          </a:p>
        </p:txBody>
      </p:sp>
      <p:sp>
        <p:nvSpPr>
          <p:cNvPr id="447" name="Text 428"/>
          <p:cNvSpPr/>
          <p:nvPr/>
        </p:nvSpPr>
        <p:spPr>
          <a:xfrm>
            <a:off x="27650236" y="5943789"/>
            <a:ext cx="188862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800" dirty="0"/>
          </a:p>
        </p:txBody>
      </p:sp>
      <p:sp>
        <p:nvSpPr>
          <p:cNvPr id="448" name="Shape 429"/>
          <p:cNvSpPr/>
          <p:nvPr/>
        </p:nvSpPr>
        <p:spPr>
          <a:xfrm>
            <a:off x="21470080" y="6855429"/>
            <a:ext cx="8240207" cy="17318"/>
          </a:xfrm>
          <a:prstGeom prst="rect">
            <a:avLst/>
          </a:prstGeom>
          <a:solidFill>
            <a:srgbClr val="D4DBE6"/>
          </a:solidFill>
          <a:ln/>
        </p:spPr>
      </p:sp>
      <p:sp>
        <p:nvSpPr>
          <p:cNvPr id="449" name="Text 430"/>
          <p:cNvSpPr/>
          <p:nvPr/>
        </p:nvSpPr>
        <p:spPr>
          <a:xfrm>
            <a:off x="21641502" y="6456299"/>
            <a:ext cx="302150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Memory</a:t>
            </a:r>
            <a:endParaRPr lang="en-US" sz="1875" dirty="0"/>
          </a:p>
        </p:txBody>
      </p:sp>
      <p:sp>
        <p:nvSpPr>
          <p:cNvPr id="450" name="Text 431"/>
          <p:cNvSpPr/>
          <p:nvPr/>
        </p:nvSpPr>
        <p:spPr>
          <a:xfrm>
            <a:off x="24216648" y="6456299"/>
            <a:ext cx="1888480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1,600</a:t>
            </a:r>
            <a:endParaRPr lang="en-US" sz="1800" dirty="0"/>
          </a:p>
        </p:txBody>
      </p:sp>
      <p:sp>
        <p:nvSpPr>
          <p:cNvPr id="451" name="Text 432"/>
          <p:cNvSpPr/>
          <p:nvPr/>
        </p:nvSpPr>
        <p:spPr>
          <a:xfrm>
            <a:off x="25933450" y="6456299"/>
            <a:ext cx="1888480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780</a:t>
            </a:r>
            <a:endParaRPr lang="en-US" sz="1800" dirty="0"/>
          </a:p>
        </p:txBody>
      </p:sp>
      <p:sp>
        <p:nvSpPr>
          <p:cNvPr id="452" name="Text 433"/>
          <p:cNvSpPr/>
          <p:nvPr/>
        </p:nvSpPr>
        <p:spPr>
          <a:xfrm>
            <a:off x="27650236" y="6456299"/>
            <a:ext cx="188862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−51.25</a:t>
            </a:r>
            <a:endParaRPr lang="en-US" sz="1800" dirty="0"/>
          </a:p>
        </p:txBody>
      </p:sp>
      <p:sp>
        <p:nvSpPr>
          <p:cNvPr id="453" name="Shape 434"/>
          <p:cNvSpPr/>
          <p:nvPr/>
        </p:nvSpPr>
        <p:spPr>
          <a:xfrm>
            <a:off x="21470080" y="6872747"/>
            <a:ext cx="8240207" cy="486533"/>
          </a:xfrm>
          <a:prstGeom prst="rect">
            <a:avLst/>
          </a:prstGeom>
          <a:solidFill>
            <a:srgbClr val="FDF6EA"/>
          </a:solidFill>
          <a:ln/>
        </p:spPr>
      </p:sp>
      <p:sp>
        <p:nvSpPr>
          <p:cNvPr id="454" name="Text 435"/>
          <p:cNvSpPr/>
          <p:nvPr/>
        </p:nvSpPr>
        <p:spPr>
          <a:xfrm>
            <a:off x="21641502" y="6977468"/>
            <a:ext cx="302150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graph state</a:t>
            </a:r>
            <a:endParaRPr lang="en-US" sz="1875" dirty="0"/>
          </a:p>
        </p:txBody>
      </p:sp>
      <p:sp>
        <p:nvSpPr>
          <p:cNvPr id="455" name="Text 436"/>
          <p:cNvSpPr/>
          <p:nvPr/>
        </p:nvSpPr>
        <p:spPr>
          <a:xfrm>
            <a:off x="24216648" y="6977468"/>
            <a:ext cx="188848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2,000</a:t>
            </a:r>
            <a:endParaRPr lang="en-US" sz="1800" dirty="0"/>
          </a:p>
        </p:txBody>
      </p:sp>
      <p:sp>
        <p:nvSpPr>
          <p:cNvPr id="456" name="Text 437"/>
          <p:cNvSpPr/>
          <p:nvPr/>
        </p:nvSpPr>
        <p:spPr>
          <a:xfrm>
            <a:off x="25933450" y="6977468"/>
            <a:ext cx="188848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33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1,180</a:t>
            </a:r>
            <a:endParaRPr lang="en-US" sz="1800" dirty="0"/>
          </a:p>
        </p:txBody>
      </p:sp>
      <p:sp>
        <p:nvSpPr>
          <p:cNvPr id="457" name="Text 438"/>
          <p:cNvSpPr/>
          <p:nvPr/>
        </p:nvSpPr>
        <p:spPr>
          <a:xfrm>
            <a:off x="27650236" y="6977468"/>
            <a:ext cx="188862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A6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−41.0</a:t>
            </a:r>
            <a:endParaRPr lang="en-US" sz="1800" dirty="0"/>
          </a:p>
        </p:txBody>
      </p:sp>
      <p:sp>
        <p:nvSpPr>
          <p:cNvPr id="458" name="Shape 439"/>
          <p:cNvSpPr/>
          <p:nvPr/>
        </p:nvSpPr>
        <p:spPr>
          <a:xfrm>
            <a:off x="21224242" y="7700367"/>
            <a:ext cx="8731881" cy="3464448"/>
          </a:xfrm>
          <a:prstGeom prst="roundRect">
            <a:avLst>
              <a:gd name="adj" fmla="val 3299"/>
            </a:avLst>
          </a:prstGeom>
          <a:ln w="17318">
            <a:solidFill>
              <a:srgbClr val="D4DBE6"/>
            </a:solidFill>
            <a:prstDash val="solid"/>
          </a:ln>
        </p:spPr>
      </p:sp>
      <p:sp>
        <p:nvSpPr>
          <p:cNvPr id="459" name="Shape 440"/>
          <p:cNvSpPr/>
          <p:nvPr/>
        </p:nvSpPr>
        <p:spPr>
          <a:xfrm>
            <a:off x="21241562" y="7717685"/>
            <a:ext cx="8697245" cy="574747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460" name="Text 441"/>
          <p:cNvSpPr/>
          <p:nvPr/>
        </p:nvSpPr>
        <p:spPr>
          <a:xfrm>
            <a:off x="21470162" y="7831985"/>
            <a:ext cx="8500962" cy="384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FPGA RESOURCE UTILIZATION</a:t>
            </a:r>
            <a:endParaRPr lang="en-US" sz="2400" dirty="0"/>
          </a:p>
        </p:txBody>
      </p:sp>
      <p:sp>
        <p:nvSpPr>
          <p:cNvPr id="461" name="Shape 442"/>
          <p:cNvSpPr/>
          <p:nvPr/>
        </p:nvSpPr>
        <p:spPr>
          <a:xfrm>
            <a:off x="21241562" y="8292432"/>
            <a:ext cx="8697245" cy="2855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2" name="Shape 443"/>
          <p:cNvSpPr/>
          <p:nvPr/>
        </p:nvSpPr>
        <p:spPr>
          <a:xfrm>
            <a:off x="21470080" y="8463855"/>
            <a:ext cx="8240207" cy="496815"/>
          </a:xfrm>
          <a:prstGeom prst="roundRect">
            <a:avLst>
              <a:gd name="adj" fmla="val 15338"/>
            </a:avLst>
          </a:prstGeom>
          <a:solidFill>
            <a:srgbClr val="EEF3F9"/>
          </a:solidFill>
          <a:ln/>
        </p:spPr>
      </p:sp>
      <p:sp>
        <p:nvSpPr>
          <p:cNvPr id="463" name="Text 444"/>
          <p:cNvSpPr/>
          <p:nvPr/>
        </p:nvSpPr>
        <p:spPr>
          <a:xfrm>
            <a:off x="21641502" y="8578047"/>
            <a:ext cx="2566541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800" dirty="0"/>
          </a:p>
        </p:txBody>
      </p:sp>
      <p:sp>
        <p:nvSpPr>
          <p:cNvPr id="464" name="Text 445"/>
          <p:cNvSpPr/>
          <p:nvPr/>
        </p:nvSpPr>
        <p:spPr>
          <a:xfrm>
            <a:off x="23795236" y="8578047"/>
            <a:ext cx="1974354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</a:t>
            </a:r>
            <a:endParaRPr lang="en-US" sz="1800" dirty="0"/>
          </a:p>
        </p:txBody>
      </p:sp>
      <p:sp>
        <p:nvSpPr>
          <p:cNvPr id="465" name="Text 446"/>
          <p:cNvSpPr/>
          <p:nvPr/>
        </p:nvSpPr>
        <p:spPr>
          <a:xfrm>
            <a:off x="25590103" y="8578047"/>
            <a:ext cx="1974354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Avail.</a:t>
            </a:r>
            <a:endParaRPr lang="en-US" sz="1800" dirty="0"/>
          </a:p>
        </p:txBody>
      </p:sp>
      <p:sp>
        <p:nvSpPr>
          <p:cNvPr id="466" name="Text 447"/>
          <p:cNvSpPr/>
          <p:nvPr/>
        </p:nvSpPr>
        <p:spPr>
          <a:xfrm>
            <a:off x="27367016" y="8578047"/>
            <a:ext cx="2171849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Util.</a:t>
            </a:r>
            <a:endParaRPr lang="en-US" sz="1800" dirty="0"/>
          </a:p>
        </p:txBody>
      </p:sp>
      <p:sp>
        <p:nvSpPr>
          <p:cNvPr id="467" name="Shape 448"/>
          <p:cNvSpPr/>
          <p:nvPr/>
        </p:nvSpPr>
        <p:spPr>
          <a:xfrm>
            <a:off x="21470080" y="8960670"/>
            <a:ext cx="8240207" cy="503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8" name="Text 449"/>
          <p:cNvSpPr/>
          <p:nvPr/>
        </p:nvSpPr>
        <p:spPr>
          <a:xfrm>
            <a:off x="21641502" y="9065391"/>
            <a:ext cx="2566541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</a:t>
            </a:r>
            <a:endParaRPr lang="en-US" sz="1875" dirty="0"/>
          </a:p>
        </p:txBody>
      </p:sp>
      <p:sp>
        <p:nvSpPr>
          <p:cNvPr id="469" name="Text 450"/>
          <p:cNvSpPr/>
          <p:nvPr/>
        </p:nvSpPr>
        <p:spPr>
          <a:xfrm>
            <a:off x="23795236" y="9065391"/>
            <a:ext cx="1974354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3,205</a:t>
            </a:r>
            <a:endParaRPr lang="en-US" sz="1800" dirty="0"/>
          </a:p>
        </p:txBody>
      </p:sp>
      <p:sp>
        <p:nvSpPr>
          <p:cNvPr id="470" name="Text 451"/>
          <p:cNvSpPr/>
          <p:nvPr/>
        </p:nvSpPr>
        <p:spPr>
          <a:xfrm>
            <a:off x="25590103" y="9065391"/>
            <a:ext cx="1974354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8,640</a:t>
            </a:r>
            <a:endParaRPr lang="en-US" sz="1800" dirty="0"/>
          </a:p>
        </p:txBody>
      </p:sp>
      <p:sp>
        <p:nvSpPr>
          <p:cNvPr id="471" name="Text 452"/>
          <p:cNvSpPr/>
          <p:nvPr/>
        </p:nvSpPr>
        <p:spPr>
          <a:xfrm>
            <a:off x="27367016" y="9065391"/>
            <a:ext cx="217184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38%</a:t>
            </a:r>
            <a:endParaRPr lang="en-US" sz="1800" dirty="0"/>
          </a:p>
        </p:txBody>
      </p:sp>
      <p:sp>
        <p:nvSpPr>
          <p:cNvPr id="472" name="Shape 453"/>
          <p:cNvSpPr/>
          <p:nvPr/>
        </p:nvSpPr>
        <p:spPr>
          <a:xfrm>
            <a:off x="21470080" y="9464521"/>
            <a:ext cx="8240207" cy="503851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473" name="Text 454"/>
          <p:cNvSpPr/>
          <p:nvPr/>
        </p:nvSpPr>
        <p:spPr>
          <a:xfrm>
            <a:off x="21641502" y="9569242"/>
            <a:ext cx="2566541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</a:t>
            </a:r>
            <a:endParaRPr lang="en-US" sz="1875" dirty="0"/>
          </a:p>
        </p:txBody>
      </p:sp>
      <p:sp>
        <p:nvSpPr>
          <p:cNvPr id="474" name="Text 455"/>
          <p:cNvSpPr/>
          <p:nvPr/>
        </p:nvSpPr>
        <p:spPr>
          <a:xfrm>
            <a:off x="23795236" y="9569242"/>
            <a:ext cx="1974354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1,408</a:t>
            </a:r>
            <a:endParaRPr lang="en-US" sz="1800" dirty="0"/>
          </a:p>
        </p:txBody>
      </p:sp>
      <p:sp>
        <p:nvSpPr>
          <p:cNvPr id="475" name="Text 456"/>
          <p:cNvSpPr/>
          <p:nvPr/>
        </p:nvSpPr>
        <p:spPr>
          <a:xfrm>
            <a:off x="25590103" y="9569242"/>
            <a:ext cx="1974354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6,693</a:t>
            </a:r>
            <a:endParaRPr lang="en-US" sz="1800" dirty="0"/>
          </a:p>
        </p:txBody>
      </p:sp>
      <p:sp>
        <p:nvSpPr>
          <p:cNvPr id="476" name="Text 457"/>
          <p:cNvSpPr/>
          <p:nvPr/>
        </p:nvSpPr>
        <p:spPr>
          <a:xfrm>
            <a:off x="27367016" y="9569242"/>
            <a:ext cx="217184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22%</a:t>
            </a:r>
            <a:endParaRPr lang="en-US" sz="1800" dirty="0"/>
          </a:p>
        </p:txBody>
      </p:sp>
      <p:sp>
        <p:nvSpPr>
          <p:cNvPr id="477" name="Shape 458"/>
          <p:cNvSpPr/>
          <p:nvPr/>
        </p:nvSpPr>
        <p:spPr>
          <a:xfrm>
            <a:off x="21470080" y="9968372"/>
            <a:ext cx="8240207" cy="503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8" name="Text 459"/>
          <p:cNvSpPr/>
          <p:nvPr/>
        </p:nvSpPr>
        <p:spPr>
          <a:xfrm>
            <a:off x="21641502" y="10073093"/>
            <a:ext cx="2566541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BSRAM</a:t>
            </a:r>
            <a:endParaRPr lang="en-US" sz="1875" dirty="0"/>
          </a:p>
        </p:txBody>
      </p:sp>
      <p:sp>
        <p:nvSpPr>
          <p:cNvPr id="479" name="Text 460"/>
          <p:cNvSpPr/>
          <p:nvPr/>
        </p:nvSpPr>
        <p:spPr>
          <a:xfrm>
            <a:off x="23795236" y="10073093"/>
            <a:ext cx="1974354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480" name="Text 461"/>
          <p:cNvSpPr/>
          <p:nvPr/>
        </p:nvSpPr>
        <p:spPr>
          <a:xfrm>
            <a:off x="25590103" y="10073093"/>
            <a:ext cx="1974354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800" dirty="0"/>
          </a:p>
        </p:txBody>
      </p:sp>
      <p:sp>
        <p:nvSpPr>
          <p:cNvPr id="481" name="Text 462"/>
          <p:cNvSpPr/>
          <p:nvPr/>
        </p:nvSpPr>
        <p:spPr>
          <a:xfrm>
            <a:off x="27367016" y="10073093"/>
            <a:ext cx="217184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24%</a:t>
            </a:r>
            <a:endParaRPr lang="en-US" sz="1800" dirty="0"/>
          </a:p>
        </p:txBody>
      </p:sp>
      <p:sp>
        <p:nvSpPr>
          <p:cNvPr id="482" name="Shape 463"/>
          <p:cNvSpPr/>
          <p:nvPr/>
        </p:nvSpPr>
        <p:spPr>
          <a:xfrm>
            <a:off x="21470080" y="10472222"/>
            <a:ext cx="8240207" cy="503851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483" name="Text 464"/>
          <p:cNvSpPr/>
          <p:nvPr/>
        </p:nvSpPr>
        <p:spPr>
          <a:xfrm>
            <a:off x="21641502" y="10576944"/>
            <a:ext cx="2566541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</a:t>
            </a:r>
            <a:endParaRPr lang="en-US" sz="1875" dirty="0"/>
          </a:p>
        </p:txBody>
      </p:sp>
      <p:sp>
        <p:nvSpPr>
          <p:cNvPr id="484" name="Text 465"/>
          <p:cNvSpPr/>
          <p:nvPr/>
        </p:nvSpPr>
        <p:spPr>
          <a:xfrm>
            <a:off x="23795236" y="10576944"/>
            <a:ext cx="1974354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485" name="Text 466"/>
          <p:cNvSpPr/>
          <p:nvPr/>
        </p:nvSpPr>
        <p:spPr>
          <a:xfrm>
            <a:off x="25590103" y="10576944"/>
            <a:ext cx="1974354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486" name="Text 467"/>
          <p:cNvSpPr/>
          <p:nvPr/>
        </p:nvSpPr>
        <p:spPr>
          <a:xfrm>
            <a:off x="27367016" y="10576944"/>
            <a:ext cx="217184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endParaRPr lang="en-US" sz="1800" dirty="0"/>
          </a:p>
        </p:txBody>
      </p:sp>
      <p:sp>
        <p:nvSpPr>
          <p:cNvPr id="487" name="Shape 468"/>
          <p:cNvSpPr/>
          <p:nvPr/>
        </p:nvSpPr>
        <p:spPr>
          <a:xfrm>
            <a:off x="21224242" y="11317160"/>
            <a:ext cx="8731881" cy="6011574"/>
          </a:xfrm>
          <a:prstGeom prst="roundRect">
            <a:avLst>
              <a:gd name="adj" fmla="val 1901"/>
            </a:avLst>
          </a:prstGeom>
          <a:ln w="17318">
            <a:solidFill>
              <a:srgbClr val="D4DBE6"/>
            </a:solidFill>
            <a:prstDash val="solid"/>
          </a:ln>
        </p:spPr>
      </p:sp>
      <p:sp>
        <p:nvSpPr>
          <p:cNvPr id="488" name="Shape 469"/>
          <p:cNvSpPr/>
          <p:nvPr/>
        </p:nvSpPr>
        <p:spPr>
          <a:xfrm>
            <a:off x="21241562" y="11334479"/>
            <a:ext cx="8697245" cy="574747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489" name="Text 470"/>
          <p:cNvSpPr/>
          <p:nvPr/>
        </p:nvSpPr>
        <p:spPr>
          <a:xfrm>
            <a:off x="21470162" y="11448779"/>
            <a:ext cx="8500962" cy="384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LEARNING PERFORMANCE (QE / TE)</a:t>
            </a:r>
            <a:endParaRPr lang="en-US" sz="2400" dirty="0"/>
          </a:p>
        </p:txBody>
      </p:sp>
      <p:sp>
        <p:nvSpPr>
          <p:cNvPr id="490" name="Shape 471"/>
          <p:cNvSpPr/>
          <p:nvPr/>
        </p:nvSpPr>
        <p:spPr>
          <a:xfrm>
            <a:off x="21241562" y="11909227"/>
            <a:ext cx="8697245" cy="54021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1" name="Text 472"/>
          <p:cNvSpPr/>
          <p:nvPr/>
        </p:nvSpPr>
        <p:spPr>
          <a:xfrm>
            <a:off x="21470080" y="12061572"/>
            <a:ext cx="906422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Moons</a:t>
            </a:r>
            <a:endParaRPr lang="en-US" sz="1800" dirty="0"/>
          </a:p>
        </p:txBody>
      </p:sp>
      <p:sp>
        <p:nvSpPr>
          <p:cNvPr id="492" name="Shape 473"/>
          <p:cNvSpPr/>
          <p:nvPr/>
        </p:nvSpPr>
        <p:spPr>
          <a:xfrm>
            <a:off x="21470080" y="12387100"/>
            <a:ext cx="8240207" cy="413742"/>
          </a:xfrm>
          <a:prstGeom prst="roundRect">
            <a:avLst>
              <a:gd name="adj" fmla="val 13813"/>
            </a:avLst>
          </a:prstGeom>
          <a:solidFill>
            <a:srgbClr val="EEF3F9"/>
          </a:solidFill>
          <a:ln/>
        </p:spPr>
      </p:sp>
      <p:sp>
        <p:nvSpPr>
          <p:cNvPr id="493" name="Text 474"/>
          <p:cNvSpPr/>
          <p:nvPr/>
        </p:nvSpPr>
        <p:spPr>
          <a:xfrm>
            <a:off x="21622427" y="12472743"/>
            <a:ext cx="1678632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</a:t>
            </a:r>
            <a:endParaRPr lang="en-US" sz="1650" dirty="0"/>
          </a:p>
        </p:txBody>
      </p:sp>
      <p:sp>
        <p:nvSpPr>
          <p:cNvPr id="494" name="Text 475"/>
          <p:cNvSpPr/>
          <p:nvPr/>
        </p:nvSpPr>
        <p:spPr>
          <a:xfrm>
            <a:off x="22995852" y="12472743"/>
            <a:ext cx="1678632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endParaRPr lang="en-US" sz="1650" dirty="0"/>
          </a:p>
        </p:txBody>
      </p:sp>
      <p:sp>
        <p:nvSpPr>
          <p:cNvPr id="495" name="Text 476"/>
          <p:cNvSpPr/>
          <p:nvPr/>
        </p:nvSpPr>
        <p:spPr>
          <a:xfrm>
            <a:off x="24521882" y="12472743"/>
            <a:ext cx="1678632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</a:t>
            </a:r>
            <a:endParaRPr lang="en-US" sz="1650" dirty="0"/>
          </a:p>
        </p:txBody>
      </p:sp>
      <p:sp>
        <p:nvSpPr>
          <p:cNvPr id="496" name="Text 477"/>
          <p:cNvSpPr/>
          <p:nvPr/>
        </p:nvSpPr>
        <p:spPr>
          <a:xfrm>
            <a:off x="26017388" y="12472743"/>
            <a:ext cx="2014389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</a:t>
            </a:r>
            <a:endParaRPr lang="en-US" sz="1650" dirty="0"/>
          </a:p>
        </p:txBody>
      </p:sp>
      <p:sp>
        <p:nvSpPr>
          <p:cNvPr id="497" name="Text 478"/>
          <p:cNvSpPr/>
          <p:nvPr/>
        </p:nvSpPr>
        <p:spPr>
          <a:xfrm>
            <a:off x="27879161" y="12472743"/>
            <a:ext cx="1678781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</a:t>
            </a:r>
            <a:endParaRPr lang="en-US" sz="1650" dirty="0"/>
          </a:p>
        </p:txBody>
      </p:sp>
      <p:sp>
        <p:nvSpPr>
          <p:cNvPr id="498" name="Shape 479"/>
          <p:cNvSpPr/>
          <p:nvPr/>
        </p:nvSpPr>
        <p:spPr>
          <a:xfrm>
            <a:off x="21470080" y="12800842"/>
            <a:ext cx="8240207" cy="4380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9" name="Text 480"/>
          <p:cNvSpPr/>
          <p:nvPr/>
        </p:nvSpPr>
        <p:spPr>
          <a:xfrm>
            <a:off x="21622427" y="12877015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725" dirty="0"/>
          </a:p>
        </p:txBody>
      </p:sp>
      <p:sp>
        <p:nvSpPr>
          <p:cNvPr id="500" name="Text 481"/>
          <p:cNvSpPr/>
          <p:nvPr/>
        </p:nvSpPr>
        <p:spPr>
          <a:xfrm>
            <a:off x="22995852" y="12877015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725" dirty="0"/>
          </a:p>
        </p:txBody>
      </p:sp>
      <p:sp>
        <p:nvSpPr>
          <p:cNvPr id="501" name="Text 482"/>
          <p:cNvSpPr/>
          <p:nvPr/>
        </p:nvSpPr>
        <p:spPr>
          <a:xfrm>
            <a:off x="24521882" y="12877015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725" dirty="0"/>
          </a:p>
        </p:txBody>
      </p:sp>
      <p:sp>
        <p:nvSpPr>
          <p:cNvPr id="502" name="Text 483"/>
          <p:cNvSpPr/>
          <p:nvPr/>
        </p:nvSpPr>
        <p:spPr>
          <a:xfrm>
            <a:off x="26017388" y="12877015"/>
            <a:ext cx="20143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0.4750</a:t>
            </a:r>
            <a:endParaRPr lang="en-US" sz="1725" dirty="0"/>
          </a:p>
        </p:txBody>
      </p:sp>
      <p:sp>
        <p:nvSpPr>
          <p:cNvPr id="503" name="Text 484"/>
          <p:cNvSpPr/>
          <p:nvPr/>
        </p:nvSpPr>
        <p:spPr>
          <a:xfrm>
            <a:off x="27879161" y="12877015"/>
            <a:ext cx="16787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725" dirty="0"/>
          </a:p>
        </p:txBody>
      </p:sp>
      <p:sp>
        <p:nvSpPr>
          <p:cNvPr id="504" name="Shape 485"/>
          <p:cNvSpPr/>
          <p:nvPr/>
        </p:nvSpPr>
        <p:spPr>
          <a:xfrm>
            <a:off x="21470080" y="13238937"/>
            <a:ext cx="8240207" cy="438096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505" name="Text 486"/>
          <p:cNvSpPr/>
          <p:nvPr/>
        </p:nvSpPr>
        <p:spPr>
          <a:xfrm>
            <a:off x="21622427" y="13315111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725" dirty="0"/>
          </a:p>
        </p:txBody>
      </p:sp>
      <p:sp>
        <p:nvSpPr>
          <p:cNvPr id="506" name="Text 487"/>
          <p:cNvSpPr/>
          <p:nvPr/>
        </p:nvSpPr>
        <p:spPr>
          <a:xfrm>
            <a:off x="22995852" y="13315111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725" dirty="0"/>
          </a:p>
        </p:txBody>
      </p:sp>
      <p:sp>
        <p:nvSpPr>
          <p:cNvPr id="507" name="Text 488"/>
          <p:cNvSpPr/>
          <p:nvPr/>
        </p:nvSpPr>
        <p:spPr>
          <a:xfrm>
            <a:off x="24521882" y="13315111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1725" dirty="0"/>
          </a:p>
        </p:txBody>
      </p:sp>
      <p:sp>
        <p:nvSpPr>
          <p:cNvPr id="508" name="Text 489"/>
          <p:cNvSpPr/>
          <p:nvPr/>
        </p:nvSpPr>
        <p:spPr>
          <a:xfrm>
            <a:off x="26017388" y="13315111"/>
            <a:ext cx="20143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0.1832</a:t>
            </a:r>
            <a:endParaRPr lang="en-US" sz="1725" dirty="0"/>
          </a:p>
        </p:txBody>
      </p:sp>
      <p:sp>
        <p:nvSpPr>
          <p:cNvPr id="509" name="Text 490"/>
          <p:cNvSpPr/>
          <p:nvPr/>
        </p:nvSpPr>
        <p:spPr>
          <a:xfrm>
            <a:off x="27879161" y="13315111"/>
            <a:ext cx="16787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725" dirty="0"/>
          </a:p>
        </p:txBody>
      </p:sp>
      <p:sp>
        <p:nvSpPr>
          <p:cNvPr id="510" name="Shape 491"/>
          <p:cNvSpPr/>
          <p:nvPr/>
        </p:nvSpPr>
        <p:spPr>
          <a:xfrm>
            <a:off x="21470080" y="13677034"/>
            <a:ext cx="8240207" cy="4380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1" name="Text 492"/>
          <p:cNvSpPr/>
          <p:nvPr/>
        </p:nvSpPr>
        <p:spPr>
          <a:xfrm>
            <a:off x="21622427" y="13753207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1725" dirty="0"/>
          </a:p>
        </p:txBody>
      </p:sp>
      <p:sp>
        <p:nvSpPr>
          <p:cNvPr id="512" name="Text 493"/>
          <p:cNvSpPr/>
          <p:nvPr/>
        </p:nvSpPr>
        <p:spPr>
          <a:xfrm>
            <a:off x="22995852" y="13753207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725" dirty="0"/>
          </a:p>
        </p:txBody>
      </p:sp>
      <p:sp>
        <p:nvSpPr>
          <p:cNvPr id="513" name="Text 494"/>
          <p:cNvSpPr/>
          <p:nvPr/>
        </p:nvSpPr>
        <p:spPr>
          <a:xfrm>
            <a:off x="24521882" y="13753207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1725" dirty="0"/>
          </a:p>
        </p:txBody>
      </p:sp>
      <p:sp>
        <p:nvSpPr>
          <p:cNvPr id="514" name="Text 495"/>
          <p:cNvSpPr/>
          <p:nvPr/>
        </p:nvSpPr>
        <p:spPr>
          <a:xfrm>
            <a:off x="26017388" y="13753207"/>
            <a:ext cx="20143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0.1461</a:t>
            </a:r>
            <a:endParaRPr lang="en-US" sz="1725" dirty="0"/>
          </a:p>
        </p:txBody>
      </p:sp>
      <p:sp>
        <p:nvSpPr>
          <p:cNvPr id="515" name="Text 496"/>
          <p:cNvSpPr/>
          <p:nvPr/>
        </p:nvSpPr>
        <p:spPr>
          <a:xfrm>
            <a:off x="27879161" y="13753207"/>
            <a:ext cx="16787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725" dirty="0"/>
          </a:p>
        </p:txBody>
      </p:sp>
      <p:sp>
        <p:nvSpPr>
          <p:cNvPr id="516" name="Shape 497"/>
          <p:cNvSpPr/>
          <p:nvPr/>
        </p:nvSpPr>
        <p:spPr>
          <a:xfrm>
            <a:off x="21470080" y="14115129"/>
            <a:ext cx="8240207" cy="438096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517" name="Text 498"/>
          <p:cNvSpPr/>
          <p:nvPr/>
        </p:nvSpPr>
        <p:spPr>
          <a:xfrm>
            <a:off x="21622427" y="14191302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725" dirty="0"/>
          </a:p>
        </p:txBody>
      </p:sp>
      <p:sp>
        <p:nvSpPr>
          <p:cNvPr id="518" name="Text 499"/>
          <p:cNvSpPr/>
          <p:nvPr/>
        </p:nvSpPr>
        <p:spPr>
          <a:xfrm>
            <a:off x="22995852" y="14191302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725" dirty="0"/>
          </a:p>
        </p:txBody>
      </p:sp>
      <p:sp>
        <p:nvSpPr>
          <p:cNvPr id="519" name="Text 500"/>
          <p:cNvSpPr/>
          <p:nvPr/>
        </p:nvSpPr>
        <p:spPr>
          <a:xfrm>
            <a:off x="24521882" y="14191302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1725" dirty="0"/>
          </a:p>
        </p:txBody>
      </p:sp>
      <p:sp>
        <p:nvSpPr>
          <p:cNvPr id="520" name="Text 501"/>
          <p:cNvSpPr/>
          <p:nvPr/>
        </p:nvSpPr>
        <p:spPr>
          <a:xfrm>
            <a:off x="26017388" y="14191302"/>
            <a:ext cx="20143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0.1455</a:t>
            </a:r>
            <a:endParaRPr lang="en-US" sz="1725" dirty="0"/>
          </a:p>
        </p:txBody>
      </p:sp>
      <p:sp>
        <p:nvSpPr>
          <p:cNvPr id="521" name="Text 502"/>
          <p:cNvSpPr/>
          <p:nvPr/>
        </p:nvSpPr>
        <p:spPr>
          <a:xfrm>
            <a:off x="27879161" y="14191302"/>
            <a:ext cx="16787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725" dirty="0"/>
          </a:p>
        </p:txBody>
      </p:sp>
      <p:sp>
        <p:nvSpPr>
          <p:cNvPr id="522" name="Text 503"/>
          <p:cNvSpPr/>
          <p:nvPr/>
        </p:nvSpPr>
        <p:spPr>
          <a:xfrm>
            <a:off x="21470080" y="14667418"/>
            <a:ext cx="906422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Concentric Circles</a:t>
            </a:r>
            <a:endParaRPr lang="en-US" sz="1800" dirty="0"/>
          </a:p>
        </p:txBody>
      </p:sp>
      <p:sp>
        <p:nvSpPr>
          <p:cNvPr id="523" name="Shape 504"/>
          <p:cNvSpPr/>
          <p:nvPr/>
        </p:nvSpPr>
        <p:spPr>
          <a:xfrm>
            <a:off x="21470080" y="14992945"/>
            <a:ext cx="8240207" cy="413742"/>
          </a:xfrm>
          <a:prstGeom prst="roundRect">
            <a:avLst>
              <a:gd name="adj" fmla="val 13813"/>
            </a:avLst>
          </a:prstGeom>
          <a:solidFill>
            <a:srgbClr val="EEF3F9"/>
          </a:solidFill>
          <a:ln/>
        </p:spPr>
      </p:sp>
      <p:sp>
        <p:nvSpPr>
          <p:cNvPr id="524" name="Text 505"/>
          <p:cNvSpPr/>
          <p:nvPr/>
        </p:nvSpPr>
        <p:spPr>
          <a:xfrm>
            <a:off x="21622427" y="15078589"/>
            <a:ext cx="1678632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</a:t>
            </a:r>
            <a:endParaRPr lang="en-US" sz="1650" dirty="0"/>
          </a:p>
        </p:txBody>
      </p:sp>
      <p:sp>
        <p:nvSpPr>
          <p:cNvPr id="525" name="Text 506"/>
          <p:cNvSpPr/>
          <p:nvPr/>
        </p:nvSpPr>
        <p:spPr>
          <a:xfrm>
            <a:off x="22995852" y="15078589"/>
            <a:ext cx="1678632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endParaRPr lang="en-US" sz="1650" dirty="0"/>
          </a:p>
        </p:txBody>
      </p:sp>
      <p:sp>
        <p:nvSpPr>
          <p:cNvPr id="526" name="Text 507"/>
          <p:cNvSpPr/>
          <p:nvPr/>
        </p:nvSpPr>
        <p:spPr>
          <a:xfrm>
            <a:off x="24521882" y="15078589"/>
            <a:ext cx="1678632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</a:t>
            </a:r>
            <a:endParaRPr lang="en-US" sz="1650" dirty="0"/>
          </a:p>
        </p:txBody>
      </p:sp>
      <p:sp>
        <p:nvSpPr>
          <p:cNvPr id="527" name="Text 508"/>
          <p:cNvSpPr/>
          <p:nvPr/>
        </p:nvSpPr>
        <p:spPr>
          <a:xfrm>
            <a:off x="26017388" y="15078589"/>
            <a:ext cx="2014389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</a:t>
            </a:r>
            <a:endParaRPr lang="en-US" sz="1650" dirty="0"/>
          </a:p>
        </p:txBody>
      </p:sp>
      <p:sp>
        <p:nvSpPr>
          <p:cNvPr id="528" name="Text 509"/>
          <p:cNvSpPr/>
          <p:nvPr/>
        </p:nvSpPr>
        <p:spPr>
          <a:xfrm>
            <a:off x="27879161" y="15078589"/>
            <a:ext cx="1678781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</a:t>
            </a:r>
            <a:endParaRPr lang="en-US" sz="1650" dirty="0"/>
          </a:p>
        </p:txBody>
      </p:sp>
      <p:sp>
        <p:nvSpPr>
          <p:cNvPr id="529" name="Shape 510"/>
          <p:cNvSpPr/>
          <p:nvPr/>
        </p:nvSpPr>
        <p:spPr>
          <a:xfrm>
            <a:off x="21470080" y="15406687"/>
            <a:ext cx="8240207" cy="4380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0" name="Text 511"/>
          <p:cNvSpPr/>
          <p:nvPr/>
        </p:nvSpPr>
        <p:spPr>
          <a:xfrm>
            <a:off x="21622427" y="15482860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725" dirty="0"/>
          </a:p>
        </p:txBody>
      </p:sp>
      <p:sp>
        <p:nvSpPr>
          <p:cNvPr id="531" name="Text 512"/>
          <p:cNvSpPr/>
          <p:nvPr/>
        </p:nvSpPr>
        <p:spPr>
          <a:xfrm>
            <a:off x="22995852" y="15482860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725" dirty="0"/>
          </a:p>
        </p:txBody>
      </p:sp>
      <p:sp>
        <p:nvSpPr>
          <p:cNvPr id="532" name="Text 513"/>
          <p:cNvSpPr/>
          <p:nvPr/>
        </p:nvSpPr>
        <p:spPr>
          <a:xfrm>
            <a:off x="24521882" y="15482860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1725" dirty="0"/>
          </a:p>
        </p:txBody>
      </p:sp>
      <p:sp>
        <p:nvSpPr>
          <p:cNvPr id="533" name="Text 514"/>
          <p:cNvSpPr/>
          <p:nvPr/>
        </p:nvSpPr>
        <p:spPr>
          <a:xfrm>
            <a:off x="26017388" y="15482860"/>
            <a:ext cx="20143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0.6964</a:t>
            </a:r>
            <a:endParaRPr lang="en-US" sz="1725" dirty="0"/>
          </a:p>
        </p:txBody>
      </p:sp>
      <p:sp>
        <p:nvSpPr>
          <p:cNvPr id="534" name="Text 515"/>
          <p:cNvSpPr/>
          <p:nvPr/>
        </p:nvSpPr>
        <p:spPr>
          <a:xfrm>
            <a:off x="27879161" y="15482860"/>
            <a:ext cx="16787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725" dirty="0"/>
          </a:p>
        </p:txBody>
      </p:sp>
      <p:sp>
        <p:nvSpPr>
          <p:cNvPr id="535" name="Shape 516"/>
          <p:cNvSpPr/>
          <p:nvPr/>
        </p:nvSpPr>
        <p:spPr>
          <a:xfrm>
            <a:off x="21470080" y="15844783"/>
            <a:ext cx="8240207" cy="438096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536" name="Text 517"/>
          <p:cNvSpPr/>
          <p:nvPr/>
        </p:nvSpPr>
        <p:spPr>
          <a:xfrm>
            <a:off x="21622427" y="15920956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725" dirty="0"/>
          </a:p>
        </p:txBody>
      </p:sp>
      <p:sp>
        <p:nvSpPr>
          <p:cNvPr id="537" name="Text 518"/>
          <p:cNvSpPr/>
          <p:nvPr/>
        </p:nvSpPr>
        <p:spPr>
          <a:xfrm>
            <a:off x="22995852" y="15920956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725" dirty="0"/>
          </a:p>
        </p:txBody>
      </p:sp>
      <p:sp>
        <p:nvSpPr>
          <p:cNvPr id="538" name="Text 519"/>
          <p:cNvSpPr/>
          <p:nvPr/>
        </p:nvSpPr>
        <p:spPr>
          <a:xfrm>
            <a:off x="24521882" y="15920956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1725" dirty="0"/>
          </a:p>
        </p:txBody>
      </p:sp>
      <p:sp>
        <p:nvSpPr>
          <p:cNvPr id="539" name="Text 520"/>
          <p:cNvSpPr/>
          <p:nvPr/>
        </p:nvSpPr>
        <p:spPr>
          <a:xfrm>
            <a:off x="26017388" y="15920956"/>
            <a:ext cx="20143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0.2592</a:t>
            </a:r>
            <a:endParaRPr lang="en-US" sz="1725" dirty="0"/>
          </a:p>
        </p:txBody>
      </p:sp>
      <p:sp>
        <p:nvSpPr>
          <p:cNvPr id="540" name="Text 521"/>
          <p:cNvSpPr/>
          <p:nvPr/>
        </p:nvSpPr>
        <p:spPr>
          <a:xfrm>
            <a:off x="27879161" y="15920956"/>
            <a:ext cx="16787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725" dirty="0"/>
          </a:p>
        </p:txBody>
      </p:sp>
      <p:sp>
        <p:nvSpPr>
          <p:cNvPr id="541" name="Shape 522"/>
          <p:cNvSpPr/>
          <p:nvPr/>
        </p:nvSpPr>
        <p:spPr>
          <a:xfrm>
            <a:off x="21470080" y="16282878"/>
            <a:ext cx="8240207" cy="4380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2" name="Text 523"/>
          <p:cNvSpPr/>
          <p:nvPr/>
        </p:nvSpPr>
        <p:spPr>
          <a:xfrm>
            <a:off x="21622427" y="16359051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1725" dirty="0"/>
          </a:p>
        </p:txBody>
      </p:sp>
      <p:sp>
        <p:nvSpPr>
          <p:cNvPr id="543" name="Text 524"/>
          <p:cNvSpPr/>
          <p:nvPr/>
        </p:nvSpPr>
        <p:spPr>
          <a:xfrm>
            <a:off x="22995852" y="16359051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725" dirty="0"/>
          </a:p>
        </p:txBody>
      </p:sp>
      <p:sp>
        <p:nvSpPr>
          <p:cNvPr id="544" name="Text 525"/>
          <p:cNvSpPr/>
          <p:nvPr/>
        </p:nvSpPr>
        <p:spPr>
          <a:xfrm>
            <a:off x="24521882" y="16359051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725" dirty="0"/>
          </a:p>
        </p:txBody>
      </p:sp>
      <p:sp>
        <p:nvSpPr>
          <p:cNvPr id="545" name="Text 526"/>
          <p:cNvSpPr/>
          <p:nvPr/>
        </p:nvSpPr>
        <p:spPr>
          <a:xfrm>
            <a:off x="26017388" y="16359051"/>
            <a:ext cx="20143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0.2000</a:t>
            </a:r>
            <a:endParaRPr lang="en-US" sz="1725" dirty="0"/>
          </a:p>
        </p:txBody>
      </p:sp>
      <p:sp>
        <p:nvSpPr>
          <p:cNvPr id="546" name="Text 527"/>
          <p:cNvSpPr/>
          <p:nvPr/>
        </p:nvSpPr>
        <p:spPr>
          <a:xfrm>
            <a:off x="27879161" y="16359051"/>
            <a:ext cx="16787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</a:t>
            </a:r>
            <a:endParaRPr lang="en-US" sz="1725" dirty="0"/>
          </a:p>
        </p:txBody>
      </p:sp>
      <p:sp>
        <p:nvSpPr>
          <p:cNvPr id="547" name="Shape 528"/>
          <p:cNvSpPr/>
          <p:nvPr/>
        </p:nvSpPr>
        <p:spPr>
          <a:xfrm>
            <a:off x="21470080" y="16720975"/>
            <a:ext cx="8240207" cy="438096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548" name="Text 529"/>
          <p:cNvSpPr/>
          <p:nvPr/>
        </p:nvSpPr>
        <p:spPr>
          <a:xfrm>
            <a:off x="21622427" y="16797148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725" dirty="0"/>
          </a:p>
        </p:txBody>
      </p:sp>
      <p:sp>
        <p:nvSpPr>
          <p:cNvPr id="549" name="Text 530"/>
          <p:cNvSpPr/>
          <p:nvPr/>
        </p:nvSpPr>
        <p:spPr>
          <a:xfrm>
            <a:off x="22995852" y="16797148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725" dirty="0"/>
          </a:p>
        </p:txBody>
      </p:sp>
      <p:sp>
        <p:nvSpPr>
          <p:cNvPr id="550" name="Text 531"/>
          <p:cNvSpPr/>
          <p:nvPr/>
        </p:nvSpPr>
        <p:spPr>
          <a:xfrm>
            <a:off x="24521882" y="16797148"/>
            <a:ext cx="167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1725" dirty="0"/>
          </a:p>
        </p:txBody>
      </p:sp>
      <p:sp>
        <p:nvSpPr>
          <p:cNvPr id="551" name="Text 532"/>
          <p:cNvSpPr/>
          <p:nvPr/>
        </p:nvSpPr>
        <p:spPr>
          <a:xfrm>
            <a:off x="26017388" y="16797148"/>
            <a:ext cx="20143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0.1960</a:t>
            </a:r>
            <a:endParaRPr lang="en-US" sz="1725" dirty="0"/>
          </a:p>
        </p:txBody>
      </p:sp>
      <p:sp>
        <p:nvSpPr>
          <p:cNvPr id="552" name="Text 533"/>
          <p:cNvSpPr/>
          <p:nvPr/>
        </p:nvSpPr>
        <p:spPr>
          <a:xfrm>
            <a:off x="27879161" y="16797148"/>
            <a:ext cx="16787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</a:t>
            </a:r>
            <a:endParaRPr lang="en-US" sz="1725" dirty="0"/>
          </a:p>
        </p:txBody>
      </p:sp>
      <p:sp>
        <p:nvSpPr>
          <p:cNvPr id="553" name="Shape 534"/>
          <p:cNvSpPr/>
          <p:nvPr/>
        </p:nvSpPr>
        <p:spPr>
          <a:xfrm>
            <a:off x="21224242" y="17481081"/>
            <a:ext cx="8731881" cy="11173610"/>
          </a:xfrm>
          <a:prstGeom prst="roundRect">
            <a:avLst>
              <a:gd name="adj" fmla="val 1309"/>
            </a:avLst>
          </a:prstGeom>
          <a:ln w="17318">
            <a:solidFill>
              <a:srgbClr val="D4DBE6"/>
            </a:solidFill>
            <a:prstDash val="solid"/>
          </a:ln>
        </p:spPr>
      </p:sp>
      <p:sp>
        <p:nvSpPr>
          <p:cNvPr id="554" name="Shape 535"/>
          <p:cNvSpPr/>
          <p:nvPr/>
        </p:nvSpPr>
        <p:spPr>
          <a:xfrm>
            <a:off x="21241562" y="17498398"/>
            <a:ext cx="8697245" cy="574747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555" name="Text 536"/>
          <p:cNvSpPr/>
          <p:nvPr/>
        </p:nvSpPr>
        <p:spPr>
          <a:xfrm>
            <a:off x="21470162" y="17612698"/>
            <a:ext cx="8500962" cy="384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LEARNED TOPOLOGIES &amp; TRAINING DYNAMICS</a:t>
            </a:r>
            <a:endParaRPr lang="en-US" sz="2400" dirty="0"/>
          </a:p>
        </p:txBody>
      </p:sp>
      <p:sp>
        <p:nvSpPr>
          <p:cNvPr id="556" name="Shape 537"/>
          <p:cNvSpPr/>
          <p:nvPr/>
        </p:nvSpPr>
        <p:spPr>
          <a:xfrm>
            <a:off x="21241562" y="18073146"/>
            <a:ext cx="8697245" cy="10564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7" name="Text 538"/>
          <p:cNvSpPr/>
          <p:nvPr/>
        </p:nvSpPr>
        <p:spPr>
          <a:xfrm>
            <a:off x="21267410" y="18244569"/>
            <a:ext cx="4458742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Moons — Epoch 32</a:t>
            </a:r>
            <a:endParaRPr lang="en-US" sz="1650" dirty="0"/>
          </a:p>
        </p:txBody>
      </p:sp>
      <p:sp>
        <p:nvSpPr>
          <p:cNvPr id="558" name="Shape 539"/>
          <p:cNvSpPr/>
          <p:nvPr/>
        </p:nvSpPr>
        <p:spPr>
          <a:xfrm>
            <a:off x="21470080" y="18544119"/>
            <a:ext cx="4053401" cy="3192769"/>
          </a:xfrm>
          <a:prstGeom prst="roundRect">
            <a:avLst>
              <a:gd name="adj" fmla="val 2387"/>
            </a:avLst>
          </a:prstGeom>
          <a:ln w="8659">
            <a:solidFill>
              <a:srgbClr val="D4DBE6"/>
            </a:solidFill>
            <a:prstDash val="solid"/>
          </a:ln>
        </p:spPr>
      </p:sp>
      <p:pic>
        <p:nvPicPr>
          <p:cNvPr id="55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478738" y="18552778"/>
            <a:ext cx="4036083" cy="3175451"/>
          </a:xfrm>
          <a:prstGeom prst="rect">
            <a:avLst/>
          </a:prstGeom>
        </p:spPr>
      </p:pic>
      <p:sp>
        <p:nvSpPr>
          <p:cNvPr id="560" name="Text 540"/>
          <p:cNvSpPr/>
          <p:nvPr/>
        </p:nvSpPr>
        <p:spPr>
          <a:xfrm>
            <a:off x="25454073" y="18244569"/>
            <a:ext cx="4458891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Concentric Circles — Epoch 64</a:t>
            </a:r>
            <a:endParaRPr lang="en-US" sz="1650" dirty="0"/>
          </a:p>
        </p:txBody>
      </p:sp>
      <p:sp>
        <p:nvSpPr>
          <p:cNvPr id="561" name="Shape 541"/>
          <p:cNvSpPr/>
          <p:nvPr/>
        </p:nvSpPr>
        <p:spPr>
          <a:xfrm>
            <a:off x="25656750" y="18544119"/>
            <a:ext cx="4053537" cy="3192904"/>
          </a:xfrm>
          <a:prstGeom prst="roundRect">
            <a:avLst>
              <a:gd name="adj" fmla="val 2387"/>
            </a:avLst>
          </a:prstGeom>
          <a:ln w="8659">
            <a:solidFill>
              <a:srgbClr val="D4DBE6"/>
            </a:solidFill>
            <a:prstDash val="solid"/>
          </a:ln>
        </p:spPr>
      </p:sp>
      <p:pic>
        <p:nvPicPr>
          <p:cNvPr id="562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665410" y="18552778"/>
            <a:ext cx="4036219" cy="3175586"/>
          </a:xfrm>
          <a:prstGeom prst="rect">
            <a:avLst/>
          </a:prstGeom>
        </p:spPr>
      </p:pic>
      <p:sp>
        <p:nvSpPr>
          <p:cNvPr id="563" name="Text 542"/>
          <p:cNvSpPr/>
          <p:nvPr/>
        </p:nvSpPr>
        <p:spPr>
          <a:xfrm>
            <a:off x="21470080" y="21870293"/>
            <a:ext cx="9064228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Moons — Training Dynamics (32 epochs)</a:t>
            </a:r>
            <a:endParaRPr lang="en-US" sz="1650" dirty="0"/>
          </a:p>
        </p:txBody>
      </p:sp>
      <p:sp>
        <p:nvSpPr>
          <p:cNvPr id="564" name="Shape 543"/>
          <p:cNvSpPr/>
          <p:nvPr/>
        </p:nvSpPr>
        <p:spPr>
          <a:xfrm>
            <a:off x="21470080" y="22169842"/>
            <a:ext cx="8240207" cy="2926367"/>
          </a:xfrm>
          <a:prstGeom prst="roundRect">
            <a:avLst>
              <a:gd name="adj" fmla="val 2604"/>
            </a:avLst>
          </a:prstGeom>
          <a:ln w="8659">
            <a:solidFill>
              <a:srgbClr val="D4DBE6"/>
            </a:solidFill>
            <a:prstDash val="solid"/>
          </a:ln>
        </p:spPr>
      </p:sp>
      <p:pic>
        <p:nvPicPr>
          <p:cNvPr id="565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478738" y="22178502"/>
            <a:ext cx="8222889" cy="2909049"/>
          </a:xfrm>
          <a:prstGeom prst="rect">
            <a:avLst/>
          </a:prstGeom>
        </p:spPr>
      </p:pic>
      <p:sp>
        <p:nvSpPr>
          <p:cNvPr id="566" name="Text 544"/>
          <p:cNvSpPr/>
          <p:nvPr/>
        </p:nvSpPr>
        <p:spPr>
          <a:xfrm>
            <a:off x="21470080" y="25229479"/>
            <a:ext cx="9064228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Concentric Circles — Training Dynamics (64 epochs)</a:t>
            </a:r>
            <a:endParaRPr lang="en-US" sz="1650" dirty="0"/>
          </a:p>
        </p:txBody>
      </p:sp>
      <p:sp>
        <p:nvSpPr>
          <p:cNvPr id="567" name="Shape 545"/>
          <p:cNvSpPr/>
          <p:nvPr/>
        </p:nvSpPr>
        <p:spPr>
          <a:xfrm>
            <a:off x="21470080" y="25529028"/>
            <a:ext cx="8240207" cy="2936920"/>
          </a:xfrm>
          <a:prstGeom prst="roundRect">
            <a:avLst>
              <a:gd name="adj" fmla="val 2595"/>
            </a:avLst>
          </a:prstGeom>
          <a:ln w="8659">
            <a:solidFill>
              <a:srgbClr val="D4DBE6"/>
            </a:solidFill>
            <a:prstDash val="solid"/>
          </a:ln>
        </p:spPr>
      </p:sp>
      <p:pic>
        <p:nvPicPr>
          <p:cNvPr id="568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478738" y="25537688"/>
            <a:ext cx="8222889" cy="2919602"/>
          </a:xfrm>
          <a:prstGeom prst="rect">
            <a:avLst/>
          </a:prstGeom>
        </p:spPr>
      </p:pic>
      <p:sp>
        <p:nvSpPr>
          <p:cNvPr id="569" name="Shape 546"/>
          <p:cNvSpPr/>
          <p:nvPr/>
        </p:nvSpPr>
        <p:spPr>
          <a:xfrm>
            <a:off x="21224242" y="28807035"/>
            <a:ext cx="8731881" cy="10011803"/>
          </a:xfrm>
          <a:prstGeom prst="roundRect">
            <a:avLst>
              <a:gd name="adj" fmla="val 1309"/>
            </a:avLst>
          </a:prstGeom>
          <a:ln w="17318">
            <a:solidFill>
              <a:srgbClr val="D4DBE6"/>
            </a:solidFill>
            <a:prstDash val="solid"/>
          </a:ln>
        </p:spPr>
      </p:sp>
      <p:sp>
        <p:nvSpPr>
          <p:cNvPr id="570" name="Shape 547"/>
          <p:cNvSpPr/>
          <p:nvPr/>
        </p:nvSpPr>
        <p:spPr>
          <a:xfrm>
            <a:off x="21241562" y="28824355"/>
            <a:ext cx="8697245" cy="574747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571" name="Text 548"/>
          <p:cNvSpPr/>
          <p:nvPr/>
        </p:nvSpPr>
        <p:spPr>
          <a:xfrm>
            <a:off x="21470162" y="28938655"/>
            <a:ext cx="8500962" cy="384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REAL-TIME THROUGHPUT</a:t>
            </a:r>
            <a:endParaRPr lang="en-US" sz="2400" dirty="0"/>
          </a:p>
        </p:txBody>
      </p:sp>
      <p:sp>
        <p:nvSpPr>
          <p:cNvPr id="572" name="Shape 549"/>
          <p:cNvSpPr/>
          <p:nvPr/>
        </p:nvSpPr>
        <p:spPr>
          <a:xfrm>
            <a:off x="21241562" y="29399101"/>
            <a:ext cx="8697245" cy="94024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73" name="Image 2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432062" y="31022274"/>
            <a:ext cx="8316245" cy="4549405"/>
          </a:xfrm>
          <a:prstGeom prst="rect">
            <a:avLst/>
          </a:prstGeom>
        </p:spPr>
      </p:pic>
      <p:sp>
        <p:nvSpPr>
          <p:cNvPr id="574" name="Text 550"/>
          <p:cNvSpPr/>
          <p:nvPr/>
        </p:nvSpPr>
        <p:spPr>
          <a:xfrm>
            <a:off x="21016249" y="35609699"/>
            <a:ext cx="9147869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Per-sample latency ~625 µs, measured from the on-chip 32-bit cycle counter</a:t>
            </a:r>
            <a:endParaRPr lang="en-US" sz="1425" dirty="0"/>
          </a:p>
        </p:txBody>
      </p:sp>
      <p:sp>
        <p:nvSpPr>
          <p:cNvPr id="575" name="Shape 551"/>
          <p:cNvSpPr/>
          <p:nvPr/>
        </p:nvSpPr>
        <p:spPr>
          <a:xfrm>
            <a:off x="21432062" y="35940367"/>
            <a:ext cx="8316245" cy="1237979"/>
          </a:xfrm>
          <a:prstGeom prst="roundRect">
            <a:avLst>
              <a:gd name="adj" fmla="val 6155"/>
            </a:avLst>
          </a:prstGeom>
          <a:ln w="8659">
            <a:solidFill>
              <a:srgbClr val="D4DBE6"/>
            </a:solidFill>
            <a:prstDash val="solid"/>
          </a:ln>
        </p:spPr>
      </p:sp>
      <p:sp>
        <p:nvSpPr>
          <p:cNvPr id="576" name="Shape 552"/>
          <p:cNvSpPr/>
          <p:nvPr/>
        </p:nvSpPr>
        <p:spPr>
          <a:xfrm>
            <a:off x="21440719" y="35949027"/>
            <a:ext cx="8298927" cy="405083"/>
          </a:xfrm>
          <a:prstGeom prst="rect">
            <a:avLst/>
          </a:prstGeom>
          <a:solidFill>
            <a:srgbClr val="EEF3F9"/>
          </a:solidFill>
          <a:ln/>
        </p:spPr>
      </p:sp>
      <p:sp>
        <p:nvSpPr>
          <p:cNvPr id="577" name="Text 553"/>
          <p:cNvSpPr/>
          <p:nvPr/>
        </p:nvSpPr>
        <p:spPr>
          <a:xfrm>
            <a:off x="21593066" y="36034670"/>
            <a:ext cx="2558058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575" dirty="0"/>
          </a:p>
        </p:txBody>
      </p:sp>
      <p:sp>
        <p:nvSpPr>
          <p:cNvPr id="578" name="Text 554"/>
          <p:cNvSpPr/>
          <p:nvPr/>
        </p:nvSpPr>
        <p:spPr>
          <a:xfrm>
            <a:off x="23773222" y="36034670"/>
            <a:ext cx="1598860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Cycles</a:t>
            </a:r>
            <a:endParaRPr lang="en-US" sz="1575" dirty="0"/>
          </a:p>
        </p:txBody>
      </p:sp>
      <p:sp>
        <p:nvSpPr>
          <p:cNvPr id="579" name="Text 555"/>
          <p:cNvSpPr/>
          <p:nvPr/>
        </p:nvSpPr>
        <p:spPr>
          <a:xfrm>
            <a:off x="25226731" y="36034670"/>
            <a:ext cx="1598860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µs</a:t>
            </a:r>
            <a:endParaRPr lang="en-US" sz="1575" dirty="0"/>
          </a:p>
        </p:txBody>
      </p:sp>
      <p:sp>
        <p:nvSpPr>
          <p:cNvPr id="580" name="Text 556"/>
          <p:cNvSpPr/>
          <p:nvPr/>
        </p:nvSpPr>
        <p:spPr>
          <a:xfrm>
            <a:off x="26680242" y="36034670"/>
            <a:ext cx="1598860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Samp/s</a:t>
            </a:r>
            <a:endParaRPr lang="en-US" sz="1575" dirty="0"/>
          </a:p>
        </p:txBody>
      </p:sp>
      <p:sp>
        <p:nvSpPr>
          <p:cNvPr id="581" name="Text 557"/>
          <p:cNvSpPr/>
          <p:nvPr/>
        </p:nvSpPr>
        <p:spPr>
          <a:xfrm>
            <a:off x="28148282" y="36034670"/>
            <a:ext cx="1439019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1C3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</a:t>
            </a:r>
            <a:endParaRPr lang="en-US" sz="1575" dirty="0"/>
          </a:p>
        </p:txBody>
      </p:sp>
      <p:sp>
        <p:nvSpPr>
          <p:cNvPr id="582" name="Shape 558"/>
          <p:cNvSpPr/>
          <p:nvPr/>
        </p:nvSpPr>
        <p:spPr>
          <a:xfrm>
            <a:off x="21440719" y="36757568"/>
            <a:ext cx="8298927" cy="9525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583" name="Text 559"/>
          <p:cNvSpPr/>
          <p:nvPr/>
        </p:nvSpPr>
        <p:spPr>
          <a:xfrm>
            <a:off x="21593066" y="36430283"/>
            <a:ext cx="2558058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Moons</a:t>
            </a:r>
            <a:endParaRPr lang="en-US" sz="1575" dirty="0"/>
          </a:p>
        </p:txBody>
      </p:sp>
      <p:sp>
        <p:nvSpPr>
          <p:cNvPr id="584" name="Text 560"/>
          <p:cNvSpPr/>
          <p:nvPr/>
        </p:nvSpPr>
        <p:spPr>
          <a:xfrm>
            <a:off x="23773222" y="36430283"/>
            <a:ext cx="1598860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16,852</a:t>
            </a:r>
            <a:endParaRPr lang="en-US" sz="1500" dirty="0"/>
          </a:p>
        </p:txBody>
      </p:sp>
      <p:sp>
        <p:nvSpPr>
          <p:cNvPr id="585" name="Text 561"/>
          <p:cNvSpPr/>
          <p:nvPr/>
        </p:nvSpPr>
        <p:spPr>
          <a:xfrm>
            <a:off x="25226731" y="36430283"/>
            <a:ext cx="1598860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624.1</a:t>
            </a:r>
            <a:endParaRPr lang="en-US" sz="1500" dirty="0"/>
          </a:p>
        </p:txBody>
      </p:sp>
      <p:sp>
        <p:nvSpPr>
          <p:cNvPr id="586" name="Text 562"/>
          <p:cNvSpPr/>
          <p:nvPr/>
        </p:nvSpPr>
        <p:spPr>
          <a:xfrm>
            <a:off x="26680242" y="36430283"/>
            <a:ext cx="1598860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1,602</a:t>
            </a:r>
            <a:endParaRPr lang="en-US" sz="1500" dirty="0"/>
          </a:p>
        </p:txBody>
      </p:sp>
      <p:sp>
        <p:nvSpPr>
          <p:cNvPr id="587" name="Text 563"/>
          <p:cNvSpPr/>
          <p:nvPr/>
        </p:nvSpPr>
        <p:spPr>
          <a:xfrm>
            <a:off x="28148282" y="36430283"/>
            <a:ext cx="1439019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5.40</a:t>
            </a:r>
            <a:endParaRPr lang="en-US" sz="1500" dirty="0"/>
          </a:p>
        </p:txBody>
      </p:sp>
      <p:sp>
        <p:nvSpPr>
          <p:cNvPr id="588" name="Shape 564"/>
          <p:cNvSpPr/>
          <p:nvPr/>
        </p:nvSpPr>
        <p:spPr>
          <a:xfrm>
            <a:off x="21440719" y="36766228"/>
            <a:ext cx="8298927" cy="403459"/>
          </a:xfrm>
          <a:prstGeom prst="rect">
            <a:avLst/>
          </a:prstGeom>
          <a:solidFill>
            <a:srgbClr val="F7FAFF"/>
          </a:solidFill>
          <a:ln/>
        </p:spPr>
      </p:sp>
      <p:sp>
        <p:nvSpPr>
          <p:cNvPr id="589" name="Text 565"/>
          <p:cNvSpPr/>
          <p:nvPr/>
        </p:nvSpPr>
        <p:spPr>
          <a:xfrm>
            <a:off x="21593066" y="36842400"/>
            <a:ext cx="2558058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Concentric Circles</a:t>
            </a:r>
            <a:endParaRPr lang="en-US" sz="1575" dirty="0"/>
          </a:p>
        </p:txBody>
      </p:sp>
      <p:sp>
        <p:nvSpPr>
          <p:cNvPr id="590" name="Text 566"/>
          <p:cNvSpPr/>
          <p:nvPr/>
        </p:nvSpPr>
        <p:spPr>
          <a:xfrm>
            <a:off x="23773222" y="36842400"/>
            <a:ext cx="1598860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16,931</a:t>
            </a:r>
            <a:endParaRPr lang="en-US" sz="1500" dirty="0"/>
          </a:p>
        </p:txBody>
      </p:sp>
      <p:sp>
        <p:nvSpPr>
          <p:cNvPr id="591" name="Text 567"/>
          <p:cNvSpPr/>
          <p:nvPr/>
        </p:nvSpPr>
        <p:spPr>
          <a:xfrm>
            <a:off x="25226731" y="36842400"/>
            <a:ext cx="1598860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627.1</a:t>
            </a:r>
            <a:endParaRPr lang="en-US" sz="1500" dirty="0"/>
          </a:p>
        </p:txBody>
      </p:sp>
      <p:sp>
        <p:nvSpPr>
          <p:cNvPr id="592" name="Text 568"/>
          <p:cNvSpPr/>
          <p:nvPr/>
        </p:nvSpPr>
        <p:spPr>
          <a:xfrm>
            <a:off x="26680242" y="36842400"/>
            <a:ext cx="1598860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1,595</a:t>
            </a:r>
            <a:endParaRPr lang="en-US" sz="1500" dirty="0"/>
          </a:p>
        </p:txBody>
      </p:sp>
      <p:sp>
        <p:nvSpPr>
          <p:cNvPr id="593" name="Text 569"/>
          <p:cNvSpPr/>
          <p:nvPr/>
        </p:nvSpPr>
        <p:spPr>
          <a:xfrm>
            <a:off x="28148282" y="36842400"/>
            <a:ext cx="1439019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445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5.72</a:t>
            </a:r>
            <a:endParaRPr lang="en-US" sz="1500" dirty="0"/>
          </a:p>
        </p:txBody>
      </p:sp>
      <p:sp>
        <p:nvSpPr>
          <p:cNvPr id="594" name="Shape 570"/>
          <p:cNvSpPr/>
          <p:nvPr/>
        </p:nvSpPr>
        <p:spPr>
          <a:xfrm>
            <a:off x="323769" y="38971184"/>
            <a:ext cx="29632354" cy="5472545"/>
          </a:xfrm>
          <a:prstGeom prst="roundRect">
            <a:avLst>
              <a:gd name="adj" fmla="val 2089"/>
            </a:avLst>
          </a:prstGeom>
          <a:ln w="17318">
            <a:solidFill>
              <a:srgbClr val="1C3357"/>
            </a:solidFill>
            <a:prstDash val="solid"/>
          </a:ln>
        </p:spPr>
      </p:sp>
      <p:sp>
        <p:nvSpPr>
          <p:cNvPr id="595" name="Shape 571"/>
          <p:cNvSpPr/>
          <p:nvPr/>
        </p:nvSpPr>
        <p:spPr>
          <a:xfrm>
            <a:off x="341087" y="38988502"/>
            <a:ext cx="29597719" cy="476250"/>
          </a:xfrm>
          <a:prstGeom prst="rect">
            <a:avLst/>
          </a:prstGeom>
          <a:solidFill>
            <a:srgbClr val="1C3357"/>
          </a:solidFill>
          <a:ln/>
        </p:spPr>
      </p:sp>
      <p:sp>
        <p:nvSpPr>
          <p:cNvPr id="596" name="Text 572"/>
          <p:cNvSpPr/>
          <p:nvPr/>
        </p:nvSpPr>
        <p:spPr>
          <a:xfrm>
            <a:off x="-102879" y="39083752"/>
            <a:ext cx="304856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 APPLICATIONS</a:t>
            </a:r>
            <a:endParaRPr lang="en-US" sz="1950" dirty="0"/>
          </a:p>
        </p:txBody>
      </p:sp>
      <p:sp>
        <p:nvSpPr>
          <p:cNvPr id="597" name="Shape 573"/>
          <p:cNvSpPr/>
          <p:nvPr/>
        </p:nvSpPr>
        <p:spPr>
          <a:xfrm>
            <a:off x="341087" y="39464754"/>
            <a:ext cx="29597719" cy="49616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8" name="Shape 574"/>
          <p:cNvSpPr/>
          <p:nvPr/>
        </p:nvSpPr>
        <p:spPr>
          <a:xfrm>
            <a:off x="512510" y="39636176"/>
            <a:ext cx="5729071" cy="4301133"/>
          </a:xfrm>
          <a:prstGeom prst="roundRect">
            <a:avLst>
              <a:gd name="adj" fmla="val 1772"/>
            </a:avLst>
          </a:prstGeom>
          <a:solidFill>
            <a:srgbClr val="EEF1F6"/>
          </a:solidFill>
          <a:ln w="8659">
            <a:solidFill>
              <a:srgbClr val="D4DBE6"/>
            </a:solidFill>
            <a:prstDash val="solid"/>
          </a:ln>
        </p:spPr>
      </p:sp>
      <p:pic>
        <p:nvPicPr>
          <p:cNvPr id="599" name="Image 22" descr="preencoded.png"/>
          <p:cNvPicPr>
            <a:picLocks noChangeAspect="1"/>
          </p:cNvPicPr>
          <p:nvPr/>
        </p:nvPicPr>
        <p:blipFill>
          <a:blip r:embed="rId24"/>
          <a:srcRect l="12452" r="12452"/>
          <a:stretch/>
        </p:blipFill>
        <p:spPr>
          <a:xfrm>
            <a:off x="521169" y="39644836"/>
            <a:ext cx="5711753" cy="4283814"/>
          </a:xfrm>
          <a:prstGeom prst="rect">
            <a:avLst/>
          </a:prstGeom>
        </p:spPr>
      </p:pic>
      <p:sp>
        <p:nvSpPr>
          <p:cNvPr id="600" name="Text 575"/>
          <p:cNvSpPr/>
          <p:nvPr/>
        </p:nvSpPr>
        <p:spPr>
          <a:xfrm>
            <a:off x="226056" y="44003877"/>
            <a:ext cx="6301978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Aerial robot</a:t>
            </a:r>
            <a:endParaRPr lang="en-US" sz="1725" dirty="0"/>
          </a:p>
        </p:txBody>
      </p:sp>
      <p:sp>
        <p:nvSpPr>
          <p:cNvPr id="601" name="Shape 576"/>
          <p:cNvSpPr/>
          <p:nvPr/>
        </p:nvSpPr>
        <p:spPr>
          <a:xfrm>
            <a:off x="6393927" y="39636176"/>
            <a:ext cx="5729206" cy="4301133"/>
          </a:xfrm>
          <a:prstGeom prst="roundRect">
            <a:avLst>
              <a:gd name="adj" fmla="val 1772"/>
            </a:avLst>
          </a:prstGeom>
          <a:solidFill>
            <a:srgbClr val="EEF1F6"/>
          </a:solidFill>
          <a:ln w="8659">
            <a:solidFill>
              <a:srgbClr val="D4DBE6"/>
            </a:solidFill>
            <a:prstDash val="solid"/>
          </a:ln>
        </p:spPr>
      </p:sp>
      <p:pic>
        <p:nvPicPr>
          <p:cNvPr id="602" name="Image 23" descr="preencoded.png"/>
          <p:cNvPicPr>
            <a:picLocks noChangeAspect="1"/>
          </p:cNvPicPr>
          <p:nvPr/>
        </p:nvPicPr>
        <p:blipFill>
          <a:blip r:embed="rId25"/>
          <a:srcRect l="5607" r="5607"/>
          <a:stretch/>
        </p:blipFill>
        <p:spPr>
          <a:xfrm>
            <a:off x="6402586" y="39644836"/>
            <a:ext cx="5711888" cy="4283814"/>
          </a:xfrm>
          <a:prstGeom prst="rect">
            <a:avLst/>
          </a:prstGeom>
        </p:spPr>
      </p:pic>
      <p:sp>
        <p:nvSpPr>
          <p:cNvPr id="603" name="Text 577"/>
          <p:cNvSpPr/>
          <p:nvPr/>
        </p:nvSpPr>
        <p:spPr>
          <a:xfrm>
            <a:off x="6107466" y="44003877"/>
            <a:ext cx="6302127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Bio-inspired robot</a:t>
            </a:r>
            <a:endParaRPr lang="en-US" sz="1725" dirty="0"/>
          </a:p>
        </p:txBody>
      </p:sp>
      <p:sp>
        <p:nvSpPr>
          <p:cNvPr id="604" name="Shape 578"/>
          <p:cNvSpPr/>
          <p:nvPr/>
        </p:nvSpPr>
        <p:spPr>
          <a:xfrm>
            <a:off x="12275479" y="39636176"/>
            <a:ext cx="5729071" cy="4301133"/>
          </a:xfrm>
          <a:prstGeom prst="roundRect">
            <a:avLst>
              <a:gd name="adj" fmla="val 1772"/>
            </a:avLst>
          </a:prstGeom>
          <a:solidFill>
            <a:srgbClr val="EEF1F6"/>
          </a:solidFill>
          <a:ln w="8659">
            <a:solidFill>
              <a:srgbClr val="D4DBE6"/>
            </a:solidFill>
            <a:prstDash val="solid"/>
          </a:ln>
        </p:spPr>
      </p:sp>
      <p:pic>
        <p:nvPicPr>
          <p:cNvPr id="605" name="Image 24" descr="preencoded.png"/>
          <p:cNvPicPr>
            <a:picLocks noChangeAspect="1"/>
          </p:cNvPicPr>
          <p:nvPr/>
        </p:nvPicPr>
        <p:blipFill>
          <a:blip r:embed="rId26"/>
          <a:srcRect l="5547" r="5547"/>
          <a:stretch/>
        </p:blipFill>
        <p:spPr>
          <a:xfrm>
            <a:off x="12284137" y="39644836"/>
            <a:ext cx="5711753" cy="4283814"/>
          </a:xfrm>
          <a:prstGeom prst="rect">
            <a:avLst/>
          </a:prstGeom>
        </p:spPr>
      </p:pic>
      <p:sp>
        <p:nvSpPr>
          <p:cNvPr id="606" name="Text 579"/>
          <p:cNvSpPr/>
          <p:nvPr/>
        </p:nvSpPr>
        <p:spPr>
          <a:xfrm>
            <a:off x="11989025" y="44003877"/>
            <a:ext cx="6301978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Swarm robots</a:t>
            </a:r>
            <a:endParaRPr lang="en-US" sz="1725" dirty="0"/>
          </a:p>
        </p:txBody>
      </p:sp>
      <p:sp>
        <p:nvSpPr>
          <p:cNvPr id="607" name="Shape 580"/>
          <p:cNvSpPr/>
          <p:nvPr/>
        </p:nvSpPr>
        <p:spPr>
          <a:xfrm>
            <a:off x="18156895" y="39636176"/>
            <a:ext cx="5729071" cy="4301133"/>
          </a:xfrm>
          <a:prstGeom prst="roundRect">
            <a:avLst>
              <a:gd name="adj" fmla="val 1772"/>
            </a:avLst>
          </a:prstGeom>
          <a:solidFill>
            <a:srgbClr val="EEF1F6"/>
          </a:solidFill>
          <a:ln w="8659">
            <a:solidFill>
              <a:srgbClr val="D4DBE6"/>
            </a:solidFill>
            <a:prstDash val="solid"/>
          </a:ln>
        </p:spPr>
      </p:sp>
      <p:pic>
        <p:nvPicPr>
          <p:cNvPr id="608" name="Image 25" descr="preencoded.png"/>
          <p:cNvPicPr>
            <a:picLocks noChangeAspect="1"/>
          </p:cNvPicPr>
          <p:nvPr/>
        </p:nvPicPr>
        <p:blipFill>
          <a:blip r:embed="rId27"/>
          <a:srcRect l="14851" r="14851"/>
          <a:stretch/>
        </p:blipFill>
        <p:spPr>
          <a:xfrm>
            <a:off x="18165554" y="39644836"/>
            <a:ext cx="5711753" cy="4283814"/>
          </a:xfrm>
          <a:prstGeom prst="rect">
            <a:avLst/>
          </a:prstGeom>
        </p:spPr>
      </p:pic>
      <p:sp>
        <p:nvSpPr>
          <p:cNvPr id="609" name="Text 581"/>
          <p:cNvSpPr/>
          <p:nvPr/>
        </p:nvSpPr>
        <p:spPr>
          <a:xfrm>
            <a:off x="17870442" y="44003877"/>
            <a:ext cx="6301978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robot</a:t>
            </a:r>
            <a:endParaRPr lang="en-US" sz="1725" dirty="0"/>
          </a:p>
        </p:txBody>
      </p:sp>
      <p:sp>
        <p:nvSpPr>
          <p:cNvPr id="610" name="Shape 582"/>
          <p:cNvSpPr/>
          <p:nvPr/>
        </p:nvSpPr>
        <p:spPr>
          <a:xfrm>
            <a:off x="24038312" y="39636176"/>
            <a:ext cx="5729071" cy="4301133"/>
          </a:xfrm>
          <a:prstGeom prst="roundRect">
            <a:avLst>
              <a:gd name="adj" fmla="val 1772"/>
            </a:avLst>
          </a:prstGeom>
          <a:solidFill>
            <a:srgbClr val="EEF1F6"/>
          </a:solidFill>
          <a:ln w="8659">
            <a:solidFill>
              <a:srgbClr val="D4DBE6"/>
            </a:solidFill>
            <a:prstDash val="solid"/>
          </a:ln>
        </p:spPr>
      </p:sp>
      <p:pic>
        <p:nvPicPr>
          <p:cNvPr id="611" name="Image 26" descr="preencoded.png"/>
          <p:cNvPicPr>
            <a:picLocks noChangeAspect="1"/>
          </p:cNvPicPr>
          <p:nvPr/>
        </p:nvPicPr>
        <p:blipFill>
          <a:blip r:embed="rId28"/>
          <a:srcRect l="24297" r="24297"/>
          <a:stretch/>
        </p:blipFill>
        <p:spPr>
          <a:xfrm>
            <a:off x="24046972" y="39644836"/>
            <a:ext cx="5711753" cy="4283814"/>
          </a:xfrm>
          <a:prstGeom prst="rect">
            <a:avLst/>
          </a:prstGeom>
        </p:spPr>
      </p:pic>
      <p:sp>
        <p:nvSpPr>
          <p:cNvPr id="612" name="Text 583"/>
          <p:cNvSpPr/>
          <p:nvPr/>
        </p:nvSpPr>
        <p:spPr>
          <a:xfrm>
            <a:off x="23751858" y="44003877"/>
            <a:ext cx="6301978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4454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inspection</a:t>
            </a:r>
            <a:endParaRPr lang="en-US" sz="1725" dirty="0"/>
          </a:p>
        </p:txBody>
      </p:sp>
      <p:pic>
        <p:nvPicPr>
          <p:cNvPr id="613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99942" y="44596073"/>
            <a:ext cx="1895394" cy="457173"/>
          </a:xfrm>
          <a:prstGeom prst="rect">
            <a:avLst/>
          </a:prstGeom>
        </p:spPr>
      </p:pic>
      <p:sp>
        <p:nvSpPr>
          <p:cNvPr id="614" name="Text 584"/>
          <p:cNvSpPr/>
          <p:nvPr/>
        </p:nvSpPr>
        <p:spPr>
          <a:xfrm>
            <a:off x="2485835" y="44703369"/>
            <a:ext cx="10249346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794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by the Japan Science and Technology Agency (JST), Moonshot R&amp;D Program, grant JPMJMS2034.</a:t>
            </a:r>
            <a:endParaRPr lang="en-US" sz="1575" dirty="0"/>
          </a:p>
        </p:txBody>
      </p:sp>
      <p:sp>
        <p:nvSpPr>
          <p:cNvPr id="615" name="Text 585">
            <a:hlinkClick r:id="rId30"/>
          </p:cNvPr>
          <p:cNvSpPr/>
          <p:nvPr/>
        </p:nvSpPr>
        <p:spPr>
          <a:xfrm>
            <a:off x="27839652" y="44694709"/>
            <a:ext cx="2244328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u="sng" dirty="0">
                <a:solidFill>
                  <a:srgbClr val="000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1246</Words>
  <Application>Microsoft Office PowerPoint</Application>
  <PresentationFormat>Custom</PresentationFormat>
  <Paragraphs>346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Teuku Zikri Fatahillah</cp:lastModifiedBy>
  <cp:revision>2</cp:revision>
  <dcterms:created xsi:type="dcterms:W3CDTF">2026-06-18T23:46:37Z</dcterms:created>
  <dcterms:modified xsi:type="dcterms:W3CDTF">2026-06-18T23:47:27Z</dcterms:modified>
</cp:coreProperties>
</file>