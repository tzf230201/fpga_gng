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6000" cy="6192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92000"/>
            <a:ext cx="30276000" cy="216000"/>
          </a:xfrm>
          <a:prstGeom prst="rect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0000" y="432000"/>
            <a:ext cx="28116000" cy="33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Edge-Cell Graph Encoding and Fixed-Point Arithmetic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for FPGA Growing Neural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816000"/>
            <a:ext cx="28116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Teuku Zikri Fatahillah</a:t>
            </a:r>
            <a:r>
              <a:rPr sz="2700" b="0">
                <a:solidFill>
                  <a:srgbClr val="1B7FB8"/>
                </a:solidFill>
                <a:latin typeface="Calibri"/>
              </a:rPr>
              <a:t>¹   </a:t>
            </a:r>
            <a:r>
              <a:rPr sz="2700" b="1">
                <a:solidFill>
                  <a:srgbClr val="FFFFFF"/>
                </a:solidFill>
                <a:latin typeface="Calibri"/>
              </a:rPr>
              <a:t>Raditya Artha Rochmanto</a:t>
            </a:r>
            <a:r>
              <a:rPr sz="2700" b="0">
                <a:solidFill>
                  <a:srgbClr val="1B7FB8"/>
                </a:solidFill>
                <a:latin typeface="Calibri"/>
              </a:rPr>
              <a:t>¹²   </a:t>
            </a:r>
            <a:r>
              <a:rPr sz="2700" b="1">
                <a:solidFill>
                  <a:srgbClr val="FFFFFF"/>
                </a:solidFill>
                <a:latin typeface="Calibri"/>
              </a:rPr>
              <a:t>Achmad Fahrul Aji</a:t>
            </a:r>
            <a:r>
              <a:rPr sz="2700" b="0">
                <a:solidFill>
                  <a:srgbClr val="1B7FB8"/>
                </a:solidFill>
                <a:latin typeface="Calibri"/>
              </a:rPr>
              <a:t>¹²   </a:t>
            </a:r>
            <a:r>
              <a:rPr sz="2700" b="1">
                <a:solidFill>
                  <a:srgbClr val="FFFFFF"/>
                </a:solidFill>
                <a:latin typeface="Calibri"/>
              </a:rPr>
              <a:t>Anhar Risnumawan</a:t>
            </a:r>
            <a:r>
              <a:rPr sz="2700" b="0">
                <a:solidFill>
                  <a:srgbClr val="1B7FB8"/>
                </a:solidFill>
                <a:latin typeface="Calibri"/>
              </a:rPr>
              <a:t>¹³   </a:t>
            </a:r>
            <a:r>
              <a:rPr sz="2700" b="1">
                <a:solidFill>
                  <a:srgbClr val="FFFFFF"/>
                </a:solidFill>
                <a:latin typeface="Calibri"/>
              </a:rPr>
              <a:t>Chyan Zheng Siow</a:t>
            </a:r>
            <a:r>
              <a:rPr sz="2700" b="0">
                <a:solidFill>
                  <a:srgbClr val="1B7FB8"/>
                </a:solidFill>
                <a:latin typeface="Calibri"/>
              </a:rPr>
              <a:t>¹⁴   </a:t>
            </a:r>
            <a:r>
              <a:rPr sz="2700" b="1">
                <a:solidFill>
                  <a:srgbClr val="FFFFFF"/>
                </a:solidFill>
                <a:latin typeface="Calibri"/>
              </a:rPr>
              <a:t>Naoyuki Kubota</a:t>
            </a:r>
            <a:r>
              <a:rPr sz="2700" b="0">
                <a:solidFill>
                  <a:srgbClr val="1B7FB8"/>
                </a:solidFill>
                <a:latin typeface="Calibri"/>
              </a:rPr>
              <a:t>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968000"/>
            <a:ext cx="28116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900" b="0">
                <a:solidFill>
                  <a:srgbClr val="CFE2F0"/>
                </a:solidFill>
                <a:latin typeface="Calibri"/>
              </a:rPr>
              <a:t>¹ Tokyo Metropolitan University, Japan      ² Politeknik Negeri Semarang, Indonesia      ³ Politeknik Elektronika Negeri Surabaya, Indonesia      ⁴ Changsha Cultural and Creative Arts Vocational College, China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6912000"/>
            <a:ext cx="14040000" cy="10800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0000" y="6912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Motivation &amp;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00" y="7848000"/>
            <a:ext cx="13536000" cy="9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800"/>
              </a:spcAft>
            </a:pPr>
            <a:r>
              <a:rPr sz="2300" b="1">
                <a:solidFill>
                  <a:srgbClr val="1B7FB8"/>
                </a:solidFill>
                <a:latin typeface="Calibri"/>
              </a:rPr>
              <a:t>▸  </a:t>
            </a:r>
            <a:r>
              <a:rPr sz="2300" b="0">
                <a:solidFill>
                  <a:srgbClr val="17252E"/>
                </a:solidFill>
                <a:latin typeface="Calibri"/>
              </a:rPr>
              <a:t>Edge robots &amp; micro-UAVs need </a:t>
            </a:r>
            <a:r>
              <a:rPr sz="2300" b="1">
                <a:solidFill>
                  <a:srgbClr val="0B3D6B"/>
                </a:solidFill>
                <a:latin typeface="Calibri"/>
              </a:rPr>
              <a:t>on-board unsupervised learning</a:t>
            </a:r>
            <a:r>
              <a:rPr sz="2300" b="0">
                <a:solidFill>
                  <a:srgbClr val="17252E"/>
                </a:solidFill>
                <a:latin typeface="Calibri"/>
              </a:rPr>
              <a:t> — no cloud, no labels.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800"/>
              </a:spcAft>
            </a:pPr>
            <a:r>
              <a:rPr sz="2300" b="1">
                <a:solidFill>
                  <a:srgbClr val="1B7FB8"/>
                </a:solidFill>
                <a:latin typeface="Calibri"/>
              </a:rPr>
              <a:t>▸  </a:t>
            </a:r>
            <a:r>
              <a:rPr sz="2300" b="1">
                <a:solidFill>
                  <a:srgbClr val="0B3D6B"/>
                </a:solidFill>
                <a:latin typeface="Calibri"/>
              </a:rPr>
              <a:t>GNG</a:t>
            </a:r>
            <a:r>
              <a:rPr sz="2300" b="0">
                <a:solidFill>
                  <a:srgbClr val="17252E"/>
                </a:solidFill>
                <a:latin typeface="Calibri"/>
              </a:rPr>
              <a:t> fits (incremental, self-organizing) but is </a:t>
            </a:r>
            <a:r>
              <a:rPr sz="2300" b="1">
                <a:solidFill>
                  <a:srgbClr val="C0392B"/>
                </a:solidFill>
                <a:latin typeface="Calibri"/>
              </a:rPr>
              <a:t>memory-heavy</a:t>
            </a:r>
            <a:r>
              <a:rPr sz="2300" b="0">
                <a:solidFill>
                  <a:srgbClr val="17252E"/>
                </a:solidFill>
                <a:latin typeface="Calibri"/>
              </a:rPr>
              <a:t>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300" b="1">
                <a:solidFill>
                  <a:srgbClr val="1B7FB8"/>
                </a:solidFill>
                <a:latin typeface="Calibri"/>
              </a:rPr>
              <a:t>▸  </a:t>
            </a:r>
            <a:r>
              <a:rPr sz="2300" b="0">
                <a:solidFill>
                  <a:srgbClr val="17252E"/>
                </a:solidFill>
                <a:latin typeface="Calibri"/>
              </a:rPr>
              <a:t>Dense adjacency </a:t>
            </a:r>
            <a:r>
              <a:rPr sz="2300" b="1">
                <a:solidFill>
                  <a:srgbClr val="C0392B"/>
                </a:solidFill>
                <a:latin typeface="Calibri"/>
              </a:rPr>
              <a:t>O(N²) = 1,600 B</a:t>
            </a:r>
            <a:r>
              <a:rPr sz="2300" b="0">
                <a:solidFill>
                  <a:srgbClr val="17252E"/>
                </a:solidFill>
                <a:latin typeface="Calibri"/>
              </a:rPr>
              <a:t> and floating-point are costly on small FPGAs.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000" y="11088000"/>
            <a:ext cx="13536000" cy="50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1">
                <a:solidFill>
                  <a:srgbClr val="0B3D6B"/>
                </a:solidFill>
                <a:latin typeface="Calibri"/>
              </a:rPr>
              <a:t>Our fix — store only the upper-triangular half: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4000" y="117360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96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52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08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64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20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77600" y="11736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4000" y="12351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9600" y="123516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5200" y="123516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0800" y="123516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46400" y="123516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2000" y="123516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7600" y="123516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84000" y="129672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9600" y="129672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5200" y="129672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30800" y="129672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46400" y="129672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2000" y="129672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77600" y="129672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84000" y="135828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9600" y="135828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15200" y="135828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30800" y="135828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46400" y="135828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2000" y="135828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77600" y="135828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84000" y="141984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9600" y="141984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15200" y="141984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30800" y="141984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46400" y="141984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2000" y="141984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77600" y="141984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84000" y="148140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99600" y="148140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15200" y="148140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30800" y="148140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46400" y="148140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62000" y="148140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77600" y="14814000"/>
            <a:ext cx="558000" cy="55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840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996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152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308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464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2000" y="15429600"/>
            <a:ext cx="558000" cy="55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77600" y="15429600"/>
            <a:ext cx="558000" cy="558000"/>
          </a:xfrm>
          <a:prstGeom prst="rect">
            <a:avLst/>
          </a:prstGeom>
          <a:solidFill>
            <a:srgbClr val="5A6B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11600" y="11880000"/>
            <a:ext cx="468000" cy="468000"/>
          </a:xfrm>
          <a:prstGeom prst="rect">
            <a:avLst/>
          </a:prstGeom>
          <a:solidFill>
            <a:srgbClr val="1B7F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87600" y="11700000"/>
            <a:ext cx="7988400" cy="86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>
                <a:solidFill>
                  <a:srgbClr val="17252E"/>
                </a:solidFill>
                <a:latin typeface="Calibri"/>
              </a:rPr>
              <a:t>stored: edge-cell (age+1)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11600" y="12888000"/>
            <a:ext cx="468000" cy="468000"/>
          </a:xfrm>
          <a:prstGeom prst="rect">
            <a:avLst/>
          </a:prstGeom>
          <a:solidFill>
            <a:srgbClr val="D9D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87600" y="12708000"/>
            <a:ext cx="7988400" cy="86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>
                <a:solidFill>
                  <a:srgbClr val="17252E"/>
                </a:solidFill>
                <a:latin typeface="Calibri"/>
              </a:rPr>
              <a:t>not stored (symmetric half)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39600" y="14040000"/>
            <a:ext cx="8132400" cy="1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</a:pPr>
            <a:r>
              <a:rPr sz="1900" b="0">
                <a:solidFill>
                  <a:srgbClr val="17252E"/>
                </a:solidFill>
                <a:latin typeface="Calibri"/>
              </a:rPr>
              <a:t>Dense </a:t>
            </a:r>
            <a:r>
              <a:rPr sz="1900" b="1">
                <a:solidFill>
                  <a:srgbClr val="C0392B"/>
                </a:solidFill>
                <a:latin typeface="Calibri"/>
              </a:rPr>
              <a:t>O(N²)</a:t>
            </a:r>
            <a:r>
              <a:rPr sz="1900" b="0">
                <a:solidFill>
                  <a:srgbClr val="17252E"/>
                </a:solidFill>
                <a:latin typeface="Calibri"/>
              </a:rPr>
              <a:t> = 1,600 B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</a:pPr>
            <a:r>
              <a:rPr sz="1900" b="1">
                <a:solidFill>
                  <a:srgbClr val="1E8449"/>
                </a:solidFill>
                <a:latin typeface="Calibri"/>
              </a:rPr>
              <a:t>→  </a:t>
            </a:r>
            <a:r>
              <a:rPr sz="1900" b="1">
                <a:solidFill>
                  <a:srgbClr val="1E8449"/>
                </a:solidFill>
                <a:latin typeface="Calibri"/>
              </a:rPr>
              <a:t>780 B</a:t>
            </a:r>
            <a:r>
              <a:rPr sz="1900" b="0">
                <a:solidFill>
                  <a:srgbClr val="17252E"/>
                </a:solidFill>
                <a:latin typeface="Calibri"/>
              </a:rPr>
              <a:t>  half-adjacency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000" b="0">
                <a:solidFill>
                  <a:srgbClr val="17252E"/>
                </a:solidFill>
                <a:latin typeface="Calibri"/>
              </a:rPr>
              <a:t>= </a:t>
            </a:r>
            <a:r>
              <a:rPr sz="2000" b="1">
                <a:solidFill>
                  <a:srgbClr val="1E8449"/>
                </a:solidFill>
                <a:latin typeface="Calibri"/>
              </a:rPr>
              <a:t>−51% edge storage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0000" y="18144000"/>
            <a:ext cx="14040000" cy="7740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20000" y="18144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Our Contributions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2000" y="19080000"/>
            <a:ext cx="13536000" cy="65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800"/>
              </a:spcAft>
            </a:pPr>
            <a:r>
              <a:rPr sz="2200" b="1">
                <a:solidFill>
                  <a:srgbClr val="0B3D6B"/>
                </a:solidFill>
                <a:latin typeface="Calibri"/>
              </a:rPr>
              <a:t>A fully integer, single-FSM GNG engine</a:t>
            </a:r>
            <a:r>
              <a:rPr sz="2200" b="0">
                <a:solidFill>
                  <a:srgbClr val="17252E"/>
                </a:solidFill>
                <a:latin typeface="Calibri"/>
              </a:rPr>
              <a:t> in synthesizable VHDL on the </a:t>
            </a:r>
            <a:r>
              <a:rPr sz="2200" b="1">
                <a:solidFill>
                  <a:srgbClr val="0B3D6B"/>
                </a:solidFill>
                <a:latin typeface="Calibri"/>
              </a:rPr>
              <a:t>Sipeed Tang Nano 9K</a:t>
            </a:r>
            <a:r>
              <a:rPr sz="2200" b="0">
                <a:solidFill>
                  <a:srgbClr val="17252E"/>
                </a:solidFill>
                <a:latin typeface="Calibri"/>
              </a:rPr>
              <a:t> — no soft-core CPU, no FPU.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1">
                <a:solidFill>
                  <a:srgbClr val="0B3D6B"/>
                </a:solidFill>
                <a:latin typeface="Calibri"/>
              </a:rPr>
              <a:t>Edge-cell encoding</a:t>
            </a:r>
            <a:r>
              <a:rPr sz="2200" b="0">
                <a:solidFill>
                  <a:srgbClr val="17252E"/>
                </a:solidFill>
                <a:latin typeface="Calibri"/>
              </a:rPr>
              <a:t>: half-adjacency as 8-bit age+1 — </a:t>
            </a:r>
            <a:r>
              <a:rPr sz="2200" b="1">
                <a:solidFill>
                  <a:srgbClr val="C0392B"/>
                </a:solidFill>
                <a:latin typeface="Calibri"/>
              </a:rPr>
              <a:t>780 B vs 1,600 B.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1">
                <a:solidFill>
                  <a:srgbClr val="0B3D6B"/>
                </a:solidFill>
                <a:latin typeface="Calibri"/>
              </a:rPr>
              <a:t>Shift-based Q8/Q16</a:t>
            </a:r>
            <a:r>
              <a:rPr sz="2200" b="0">
                <a:solidFill>
                  <a:srgbClr val="17252E"/>
                </a:solidFill>
                <a:latin typeface="Calibri"/>
              </a:rPr>
              <a:t> rates ⇒ single-cycle DSP multiplies.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1">
                <a:solidFill>
                  <a:srgbClr val="0B3D6B"/>
                </a:solidFill>
                <a:latin typeface="Calibri"/>
              </a:rPr>
              <a:t>Fused update pass</a:t>
            </a:r>
            <a:r>
              <a:rPr sz="2200" b="0">
                <a:solidFill>
                  <a:srgbClr val="17252E"/>
                </a:solidFill>
                <a:latin typeface="Calibri"/>
              </a:rPr>
              <a:t>: decay + aging + move + prune in one scan.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0000" y="26316000"/>
            <a:ext cx="14040000" cy="7200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20000" y="26316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GNG Algorithm Core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2000" y="27252000"/>
            <a:ext cx="13536000" cy="60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600"/>
              </a:spcAft>
            </a:pPr>
            <a:r>
              <a:rPr sz="2200" b="0">
                <a:solidFill>
                  <a:srgbClr val="17252E"/>
                </a:solidFill>
                <a:latin typeface="Calibri"/>
              </a:rPr>
              <a:t>Graph </a:t>
            </a:r>
            <a:r>
              <a:rPr sz="2200" b="1">
                <a:solidFill>
                  <a:srgbClr val="0B3D6B"/>
                </a:solidFill>
                <a:latin typeface="Calibri"/>
              </a:rPr>
              <a:t>G = (V, E)</a:t>
            </a:r>
            <a:r>
              <a:rPr sz="2200" b="0">
                <a:solidFill>
                  <a:srgbClr val="17252E"/>
                </a:solidFill>
                <a:latin typeface="Calibri"/>
              </a:rPr>
              <a:t>, weight vectors wᵢ ∈ ℝ². Per input ξ: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0">
                <a:solidFill>
                  <a:srgbClr val="17252E"/>
                </a:solidFill>
                <a:latin typeface="Calibri"/>
              </a:rPr>
              <a:t>Find winner </a:t>
            </a:r>
            <a:r>
              <a:rPr sz="2200" b="1">
                <a:solidFill>
                  <a:srgbClr val="0B3D6B"/>
                </a:solidFill>
                <a:latin typeface="Calibri"/>
              </a:rPr>
              <a:t>s₁</a:t>
            </a:r>
            <a:r>
              <a:rPr sz="2200" b="0">
                <a:solidFill>
                  <a:srgbClr val="17252E"/>
                </a:solidFill>
                <a:latin typeface="Calibri"/>
              </a:rPr>
              <a:t> and runner-up </a:t>
            </a:r>
            <a:r>
              <a:rPr sz="2200" b="1">
                <a:solidFill>
                  <a:srgbClr val="0B3D6B"/>
                </a:solidFill>
                <a:latin typeface="Calibri"/>
              </a:rPr>
              <a:t>s₂</a:t>
            </a:r>
            <a:r>
              <a:rPr sz="2200" b="0">
                <a:solidFill>
                  <a:srgbClr val="17252E"/>
                </a:solidFill>
                <a:latin typeface="Calibri"/>
              </a:rPr>
              <a:t>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0">
                <a:solidFill>
                  <a:srgbClr val="17252E"/>
                </a:solidFill>
                <a:latin typeface="Calibri"/>
              </a:rPr>
              <a:t>Accumulate / decay error; move s₁ toward ξ.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0">
                <a:solidFill>
                  <a:srgbClr val="17252E"/>
                </a:solidFill>
                <a:latin typeface="Calibri"/>
              </a:rPr>
              <a:t>Age edges of s₁; move neighbors; </a:t>
            </a:r>
            <a:r>
              <a:rPr sz="2200" b="1">
                <a:solidFill>
                  <a:srgbClr val="C0392B"/>
                </a:solidFill>
                <a:latin typeface="Calibri"/>
              </a:rPr>
              <a:t>prune over-age.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200" b="1">
                <a:solidFill>
                  <a:srgbClr val="1B7FB8"/>
                </a:solidFill>
                <a:latin typeface="Calibri"/>
              </a:rPr>
              <a:t>▸  </a:t>
            </a:r>
            <a:r>
              <a:rPr sz="2200" b="0">
                <a:solidFill>
                  <a:srgbClr val="17252E"/>
                </a:solidFill>
                <a:latin typeface="Calibri"/>
              </a:rPr>
              <a:t>Connect (s₁, s₂); every λ steps insert a node.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0000" y="33948000"/>
            <a:ext cx="14040000" cy="8316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0000" y="33948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FPGA Architecture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2000" y="34884000"/>
            <a:ext cx="13536000" cy="712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600"/>
              </a:spcAft>
            </a:pPr>
            <a:r>
              <a:rPr sz="2200" b="0">
                <a:solidFill>
                  <a:srgbClr val="17252E"/>
                </a:solidFill>
                <a:latin typeface="Calibri"/>
              </a:rPr>
              <a:t>Single synchronous </a:t>
            </a:r>
            <a:r>
              <a:rPr sz="2200" b="1">
                <a:solidFill>
                  <a:srgbClr val="0B3D6B"/>
                </a:solidFill>
                <a:latin typeface="Calibri"/>
              </a:rPr>
              <a:t>FSM datapath @ 27 MHz</a:t>
            </a:r>
            <a:r>
              <a:rPr sz="2200" b="0">
                <a:solidFill>
                  <a:srgbClr val="17252E"/>
                </a:solidFill>
                <a:latin typeface="Calibri"/>
              </a:rPr>
              <a:t> (no PLL). Three BRAMs: node / edge / dataset.  </a:t>
            </a:r>
            <a:r>
              <a:rPr sz="2200" b="1">
                <a:solidFill>
                  <a:srgbClr val="0B3D6B"/>
                </a:solidFill>
                <a:latin typeface="Calibri"/>
              </a:rPr>
              <a:t>80-bit node word</a:t>
            </a:r>
            <a:r>
              <a:rPr sz="2200" b="0">
                <a:solidFill>
                  <a:srgbClr val="17252E"/>
                </a:solidFill>
                <a:latin typeface="Calibri"/>
              </a:rPr>
              <a:t> = x · y · act · deg · err.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2000" y="37548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INIT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4158000" y="38034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428000" y="37548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SAMPLE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7614000" y="38034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884000" y="37548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WIN_SCAN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11070000" y="38034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1340000" y="37548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UPDATE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72000" y="39780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NB_SCAN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4158000" y="40266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428000" y="39780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CONNECT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7614000" y="40266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884000" y="39780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INSERT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11070000" y="40266000"/>
            <a:ext cx="252000" cy="324000"/>
          </a:xfrm>
          <a:prstGeom prst="right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340000" y="39780000"/>
            <a:ext cx="3168000" cy="12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800" b="1">
                <a:solidFill>
                  <a:srgbClr val="0B3D6B"/>
                </a:solidFill>
                <a:latin typeface="Calibri"/>
              </a:rPr>
              <a:t>DBG/SNAP</a:t>
            </a:r>
          </a:p>
        </p:txBody>
      </p:sp>
      <p:sp>
        <p:nvSpPr>
          <p:cNvPr id="89" name="Down Arrow 88"/>
          <p:cNvSpPr/>
          <p:nvPr/>
        </p:nvSpPr>
        <p:spPr>
          <a:xfrm>
            <a:off x="12762000" y="38952000"/>
            <a:ext cx="324000" cy="720000"/>
          </a:xfrm>
          <a:prstGeom prst="downArrow">
            <a:avLst/>
          </a:prstGeom>
          <a:solidFill>
            <a:srgbClr val="1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0" y="41364000"/>
            <a:ext cx="13536000" cy="12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000" b="0">
                <a:solidFill>
                  <a:srgbClr val="17252E"/>
                </a:solidFill>
                <a:latin typeface="Calibri"/>
              </a:rPr>
              <a:t>Deterministic, bounded per-sample latency — each BRAM read-modify-write ≥ 3 cycles.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5516000" y="6912000"/>
            <a:ext cx="14040000" cy="7128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5516000" y="6912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Key Idea: Edge-Cell Encoding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5768000" y="7848000"/>
            <a:ext cx="13536000" cy="59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600"/>
              </a:spcAft>
            </a:pPr>
            <a:r>
              <a:rPr sz="2200" b="0">
                <a:solidFill>
                  <a:srgbClr val="17252E"/>
                </a:solidFill>
                <a:latin typeface="Calibri"/>
              </a:rPr>
              <a:t>Store only the </a:t>
            </a:r>
            <a:r>
              <a:rPr sz="2200" b="1">
                <a:solidFill>
                  <a:srgbClr val="0B3D6B"/>
                </a:solidFill>
                <a:latin typeface="Calibri"/>
              </a:rPr>
              <a:t>upper triangle</a:t>
            </a:r>
            <a:r>
              <a:rPr sz="2200" b="0">
                <a:solidFill>
                  <a:srgbClr val="17252E"/>
                </a:solidFill>
                <a:latin typeface="Calibri"/>
              </a:rPr>
              <a:t> of the adjacency, one byte per edge, </a:t>
            </a:r>
            <a:r>
              <a:rPr sz="2200" b="1">
                <a:solidFill>
                  <a:srgbClr val="0B3D6B"/>
                </a:solidFill>
                <a:latin typeface="Calibri"/>
              </a:rPr>
              <a:t>age+1</a:t>
            </a:r>
            <a:r>
              <a:rPr sz="2200" b="0">
                <a:solidFill>
                  <a:srgbClr val="17252E"/>
                </a:solidFill>
                <a:latin typeface="Calibri"/>
              </a:rPr>
              <a:t> encoded: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876000" y="9432000"/>
            <a:ext cx="13320000" cy="1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876000" y="9432000"/>
            <a:ext cx="133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0">
                <a:solidFill>
                  <a:srgbClr val="17252E"/>
                </a:solidFill>
                <a:latin typeface="Consolas"/>
              </a:rPr>
              <a:t>E = N(N−1)/2 = </a:t>
            </a:r>
            <a:r>
              <a:rPr sz="2400" b="1">
                <a:solidFill>
                  <a:srgbClr val="C0392B"/>
                </a:solidFill>
                <a:latin typeface="Consolas"/>
              </a:rPr>
              <a:t>780 B</a:t>
            </a:r>
            <a:r>
              <a:rPr sz="2400" b="0">
                <a:solidFill>
                  <a:srgbClr val="5A6B76"/>
                </a:solidFill>
                <a:latin typeface="Consolas"/>
              </a:rPr>
              <a:t>   (vs 1,600 B dense)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768000" y="10728000"/>
            <a:ext cx="13536000" cy="309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100" b="1">
                <a:solidFill>
                  <a:srgbClr val="1B7FB8"/>
                </a:solidFill>
                <a:latin typeface="Calibri"/>
              </a:rPr>
              <a:t>▸  </a:t>
            </a:r>
            <a:r>
              <a:rPr sz="2100" b="1">
                <a:solidFill>
                  <a:srgbClr val="0B3D6B"/>
                </a:solidFill>
                <a:latin typeface="Calibri"/>
              </a:rPr>
              <a:t>cell = 0</a:t>
            </a:r>
            <a:r>
              <a:rPr sz="2100" b="0">
                <a:solidFill>
                  <a:srgbClr val="17252E"/>
                </a:solidFill>
                <a:latin typeface="Calibri"/>
              </a:rPr>
              <a:t> no edge   ·   </a:t>
            </a:r>
            <a:r>
              <a:rPr sz="2100" b="1">
                <a:solidFill>
                  <a:srgbClr val="0B3D6B"/>
                </a:solidFill>
                <a:latin typeface="Calibri"/>
              </a:rPr>
              <a:t>cell = v&gt;0</a:t>
            </a:r>
            <a:r>
              <a:rPr sz="2100" b="0">
                <a:solidFill>
                  <a:srgbClr val="17252E"/>
                </a:solidFill>
                <a:latin typeface="Calibri"/>
              </a:rPr>
              <a:t> active, age = v−1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100" b="1">
                <a:solidFill>
                  <a:srgbClr val="1B7FB8"/>
                </a:solidFill>
                <a:latin typeface="Calibri"/>
              </a:rPr>
              <a:t>▸  </a:t>
            </a:r>
            <a:r>
              <a:rPr sz="2100" b="0">
                <a:solidFill>
                  <a:srgbClr val="17252E"/>
                </a:solidFill>
                <a:latin typeface="Calibri"/>
              </a:rPr>
              <a:t>No active bit; over-age prune = one compare </a:t>
            </a:r>
            <a:r>
              <a:rPr sz="2100" b="1">
                <a:solidFill>
                  <a:srgbClr val="0B3D6B"/>
                </a:solidFill>
                <a:latin typeface="Calibri"/>
              </a:rPr>
              <a:t>(v &gt; 51)</a:t>
            </a:r>
            <a:r>
              <a:rPr sz="2100" b="0">
                <a:solidFill>
                  <a:srgbClr val="17252E"/>
                </a:solidFill>
                <a:latin typeface="Calibri"/>
              </a:rPr>
              <a:t>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100" b="1">
                <a:solidFill>
                  <a:srgbClr val="1B7FB8"/>
                </a:solidFill>
                <a:latin typeface="Calibri"/>
              </a:rPr>
              <a:t>▸  </a:t>
            </a:r>
            <a:r>
              <a:rPr sz="2100" b="1">
                <a:solidFill>
                  <a:srgbClr val="C0392B"/>
                </a:solidFill>
                <a:latin typeface="Calibri"/>
              </a:rPr>
              <a:t>Fused NB_SCAN</a:t>
            </a:r>
            <a:r>
              <a:rPr sz="2100" b="0">
                <a:solidFill>
                  <a:srgbClr val="17252E"/>
                </a:solidFill>
                <a:latin typeface="Calibri"/>
              </a:rPr>
              <a:t> folds decay + aging + move + prune in one scan.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5516000" y="14472000"/>
            <a:ext cx="14040000" cy="7200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5516000" y="14472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Integer Fixed-Point Arithmetic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768000" y="15408000"/>
            <a:ext cx="13536000" cy="60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17252E"/>
                </a:solidFill>
                <a:latin typeface="Calibri"/>
              </a:rPr>
              <a:t>16-bit signed coords in </a:t>
            </a:r>
            <a:r>
              <a:rPr sz="2200" b="1">
                <a:solidFill>
                  <a:srgbClr val="0B3D6B"/>
                </a:solidFill>
                <a:latin typeface="Calibri"/>
              </a:rPr>
              <a:t>[−1000, 1000]</a:t>
            </a:r>
            <a:r>
              <a:rPr sz="2200" b="0">
                <a:solidFill>
                  <a:srgbClr val="17252E"/>
                </a:solidFill>
                <a:latin typeface="Calibri"/>
              </a:rPr>
              <a:t> — shift-scaled rates, no FPU and no divider: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5876000" y="16848000"/>
            <a:ext cx="13320000" cy="345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25400">
            <a:solidFill>
              <a:srgbClr val="1B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020000" y="16956000"/>
            <a:ext cx="13032000" cy="324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/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B3D6B"/>
                </a:solidFill>
                <a:latin typeface="Consolas"/>
              </a:rPr>
              <a:t>dist     </a:t>
            </a:r>
            <a:r>
              <a:rPr sz="2000" b="0">
                <a:solidFill>
                  <a:srgbClr val="17252E"/>
                </a:solidFill>
                <a:latin typeface="Consolas"/>
              </a:rPr>
              <a:t>d² = Δx² + Δy²</a:t>
            </a:r>
            <a:r>
              <a:rPr sz="2000" b="0">
                <a:solidFill>
                  <a:srgbClr val="1E8449"/>
                </a:solidFill>
                <a:latin typeface="Consolas"/>
              </a:rPr>
              <a:t>    9×9 DSP, 35-bit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B3D6B"/>
                </a:solidFill>
                <a:latin typeface="Consolas"/>
              </a:rPr>
              <a:t>winner   </a:t>
            </a:r>
            <a:r>
              <a:rPr sz="2000" b="0">
                <a:solidFill>
                  <a:srgbClr val="17252E"/>
                </a:solidFill>
                <a:latin typeface="Consolas"/>
              </a:rPr>
              <a:t>Δ = (77·δ) &gt;&gt; 8</a:t>
            </a:r>
            <a:r>
              <a:rPr sz="2000" b="0">
                <a:solidFill>
                  <a:srgbClr val="1E8449"/>
                </a:solidFill>
                <a:latin typeface="Consolas"/>
              </a:rPr>
              <a:t>   ε ≈ 0.301  Q8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B3D6B"/>
                </a:solidFill>
                <a:latin typeface="Consolas"/>
              </a:rPr>
              <a:t>neighbor </a:t>
            </a:r>
            <a:r>
              <a:rPr sz="2000" b="0">
                <a:solidFill>
                  <a:srgbClr val="17252E"/>
                </a:solidFill>
                <a:latin typeface="Consolas"/>
              </a:rPr>
              <a:t>Δ = (66·δ) &gt;&gt; 16</a:t>
            </a:r>
            <a:r>
              <a:rPr sz="2000" b="0">
                <a:solidFill>
                  <a:srgbClr val="1E8449"/>
                </a:solidFill>
                <a:latin typeface="Consolas"/>
              </a:rPr>
              <a:t>  ε ≈ 0.001  Q16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0B3D6B"/>
                </a:solidFill>
                <a:latin typeface="Consolas"/>
              </a:rPr>
              <a:t>decay    </a:t>
            </a:r>
            <a:r>
              <a:rPr sz="2000" b="0">
                <a:solidFill>
                  <a:srgbClr val="17252E"/>
                </a:solidFill>
                <a:latin typeface="Consolas"/>
              </a:rPr>
              <a:t>err −= err &gt;&gt; 8</a:t>
            </a:r>
            <a:r>
              <a:rPr sz="2000" b="0">
                <a:solidFill>
                  <a:srgbClr val="1E8449"/>
                </a:solidFill>
                <a:latin typeface="Consolas"/>
              </a:rPr>
              <a:t>   β ≈ 0.996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516000" y="22104000"/>
            <a:ext cx="14040000" cy="8424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5516000" y="22104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768000" y="23040000"/>
            <a:ext cx="13536000" cy="723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04000" y="23184000"/>
            <a:ext cx="6552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0B3D6B"/>
                </a:solidFill>
                <a:latin typeface="Calibri"/>
              </a:rPr>
              <a:t>Memory footprint (Nₘₐₓ=40)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716000" y="23184000"/>
            <a:ext cx="6552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0B3D6B"/>
                </a:solidFill>
                <a:latin typeface="Calibri"/>
              </a:rPr>
              <a:t>FPGA utilization (GW1NR-9C)</a:t>
            </a:r>
          </a:p>
        </p:txBody>
      </p:sp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15804000" y="23688000"/>
          <a:ext cx="6552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000"/>
                <a:gridCol w="2016000"/>
                <a:gridCol w="2016000"/>
              </a:tblGrid>
              <a:tr h="432000">
                <a:tc>
                  <a:txBody>
                    <a:bodyPr/>
                    <a:lstStyle/>
                    <a:p>
                      <a:pPr algn="l"/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Dense adj.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1600 B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2000 B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Edge-cell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780 B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1180 B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22716000" y="23688000"/>
          <a:ext cx="6552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6000"/>
                <a:gridCol w="1800000"/>
                <a:gridCol w="1296000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LUT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3205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1408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BSRAM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</a:tr>
            </a:tbl>
          </a:graphicData>
        </a:graphic>
      </p:graphicFrame>
      <p:sp>
        <p:nvSpPr>
          <p:cNvPr id="109" name="Rectangle 108"/>
          <p:cNvSpPr/>
          <p:nvPr/>
        </p:nvSpPr>
        <p:spPr>
          <a:xfrm>
            <a:off x="15804000" y="26136000"/>
            <a:ext cx="13464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0B3D6B"/>
                </a:solidFill>
                <a:latin typeface="Calibri"/>
              </a:rPr>
              <a:t>Topology quality &amp; runtime (27 MHz)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15804000" y="26640000"/>
          <a:ext cx="13464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000"/>
                <a:gridCol w="1800000"/>
                <a:gridCol w="1800000"/>
                <a:gridCol w="1800000"/>
                <a:gridCol w="1656000"/>
                <a:gridCol w="2088000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QE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TE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µs/sample</a:t>
                      </a:r>
                    </a:p>
                  </a:txBody>
                  <a:tcPr marL="90000" marR="90000" marT="18000" marB="18000" anchor="ctr">
                    <a:solidFill>
                      <a:srgbClr val="0B3D6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Two Moons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0.146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624</a:t>
                      </a:r>
                    </a:p>
                  </a:txBody>
                  <a:tcPr marL="90000" marR="90000" marT="18000" marB="180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Concentric Circles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2E"/>
                          </a:solidFill>
                          <a:latin typeface="Calibri"/>
                        </a:rPr>
                        <a:t>627</a:t>
                      </a:r>
                    </a:p>
                  </a:txBody>
                  <a:tcPr marL="90000" marR="90000" marT="18000" marB="18000" anchor="ctr">
                    <a:solidFill>
                      <a:srgbClr val="DDE8F1"/>
                    </a:solidFill>
                  </a:tcPr>
                </a:tc>
              </a:tr>
            </a:tbl>
          </a:graphicData>
        </a:graphic>
      </p:graphicFrame>
      <p:sp>
        <p:nvSpPr>
          <p:cNvPr id="111" name="Rectangle 110"/>
          <p:cNvSpPr/>
          <p:nvPr/>
        </p:nvSpPr>
        <p:spPr>
          <a:xfrm>
            <a:off x="15804000" y="28224000"/>
            <a:ext cx="13464000" cy="86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2000" b="1">
                <a:solidFill>
                  <a:srgbClr val="1E8449"/>
                </a:solidFill>
                <a:latin typeface="Calibri"/>
              </a:rPr>
              <a:t>Deterministic ~625 µs/sample  ⇒  ~1,600 samples/s on a sub-10K-LUT FPGA.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5516000" y="30960000"/>
            <a:ext cx="14040000" cy="7380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5516000" y="30960000"/>
            <a:ext cx="14040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Learned Topologies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5768000" y="31896000"/>
            <a:ext cx="13536000" cy="619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/>
          </a:p>
        </p:txBody>
      </p:sp>
      <p:pic>
        <p:nvPicPr>
          <p:cNvPr id="115" name="Picture 114" descr="two_moons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000" y="32184000"/>
            <a:ext cx="6624000" cy="5211713"/>
          </a:xfrm>
          <a:prstGeom prst="rect">
            <a:avLst/>
          </a:prstGeom>
        </p:spPr>
      </p:pic>
      <p:pic>
        <p:nvPicPr>
          <p:cNvPr id="116" name="Picture 115" descr="concentric_circles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0000" y="32184000"/>
            <a:ext cx="6624000" cy="5211713"/>
          </a:xfrm>
          <a:prstGeom prst="rect">
            <a:avLst/>
          </a:prstGeom>
        </p:spPr>
      </p:pic>
      <p:sp>
        <p:nvSpPr>
          <p:cNvPr id="117" name="Rectangle 116"/>
          <p:cNvSpPr/>
          <p:nvPr/>
        </p:nvSpPr>
        <p:spPr>
          <a:xfrm>
            <a:off x="15804000" y="37467713"/>
            <a:ext cx="13464000" cy="79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1800" b="0">
                <a:solidFill>
                  <a:srgbClr val="17252E"/>
                </a:solidFill>
                <a:latin typeface="Calibri"/>
              </a:rPr>
              <a:t>Two Moons (left) and Concentric Circles (right), </a:t>
            </a:r>
            <a:r>
              <a:rPr sz="1800" b="1">
                <a:solidFill>
                  <a:srgbClr val="0B3D6B"/>
                </a:solidFill>
                <a:latin typeface="Calibri"/>
              </a:rPr>
              <a:t>Nₘₐₓ = 40</a:t>
            </a:r>
            <a:r>
              <a:rPr sz="1800" b="0">
                <a:solidFill>
                  <a:srgbClr val="17252E"/>
                </a:solidFill>
                <a:latin typeface="Calibri"/>
              </a:rPr>
              <a:t>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5516000" y="38772000"/>
            <a:ext cx="11232000" cy="3492000"/>
          </a:xfrm>
          <a:prstGeom prst="roundRect">
            <a:avLst>
              <a:gd name="adj" fmla="val 4000"/>
            </a:avLst>
          </a:prstGeom>
          <a:solidFill>
            <a:srgbClr val="ECF1F5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5516000" y="38772000"/>
            <a:ext cx="11232000" cy="972000"/>
          </a:xfrm>
          <a:prstGeom prst="roundRect">
            <a:avLst>
              <a:gd name="adj" fmla="val 4000"/>
            </a:avLst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768000" y="39708000"/>
            <a:ext cx="10728000" cy="230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500"/>
              </a:spcAft>
            </a:pPr>
            <a:r>
              <a:rPr sz="2100" b="0">
                <a:solidFill>
                  <a:srgbClr val="17252E"/>
                </a:solidFill>
                <a:latin typeface="Calibri"/>
              </a:rPr>
              <a:t>A </a:t>
            </a:r>
            <a:r>
              <a:rPr sz="2100" b="1">
                <a:solidFill>
                  <a:srgbClr val="0B3D6B"/>
                </a:solidFill>
                <a:latin typeface="Calibri"/>
              </a:rPr>
              <a:t>fully integer, sub-10K-LUT FPGA GNG engine</a:t>
            </a:r>
            <a:r>
              <a:rPr sz="2100" b="0">
                <a:solidFill>
                  <a:srgbClr val="17252E"/>
                </a:solidFill>
                <a:latin typeface="Calibri"/>
              </a:rPr>
              <a:t>. Edge-cell encoding </a:t>
            </a:r>
            <a:r>
              <a:rPr sz="2100" b="1">
                <a:solidFill>
                  <a:srgbClr val="C0392B"/>
                </a:solidFill>
                <a:latin typeface="Calibri"/>
              </a:rPr>
              <a:t>halves edge storage</a:t>
            </a:r>
            <a:r>
              <a:rPr sz="2100" b="0">
                <a:solidFill>
                  <a:srgbClr val="17252E"/>
                </a:solidFill>
                <a:latin typeface="Calibri"/>
              </a:rPr>
              <a:t>; Q8/Q16 fixed-point keeps QE/TE low with deterministic latency — a foundation for </a:t>
            </a:r>
            <a:r>
              <a:rPr sz="2100" b="1">
                <a:solidFill>
                  <a:srgbClr val="0B3D6B"/>
                </a:solidFill>
                <a:latin typeface="Calibri"/>
              </a:rPr>
              <a:t>continual clustering at the edge.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700"/>
              </a:spcAft>
            </a:pPr>
            <a:r>
              <a:rPr sz="1600" b="0">
                <a:solidFill>
                  <a:srgbClr val="5A6B76"/>
                </a:solidFill>
                <a:latin typeface="Calibri"/>
              </a:rPr>
              <a:t>Supported by JST Moonshot R&amp;D, grant JPMJMS2034.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6964000" y="38772000"/>
            <a:ext cx="2592000" cy="34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0480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qr_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2000" y="39060000"/>
            <a:ext cx="2016000" cy="2016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7072000" y="41112000"/>
            <a:ext cx="2376000" cy="9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108000" bIns="108000"/>
          <a:lstStyle/>
          <a:p>
            <a:pPr algn="ctr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>
                <a:solidFill>
                  <a:srgbClr val="0B3D6B"/>
                </a:solidFill>
                <a:latin typeface="Calibri"/>
              </a:rPr>
              <a:t>Source code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3D6B"/>
                </a:solidFill>
                <a:latin typeface="Calibri"/>
              </a:rPr>
              <a:t>&amp;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