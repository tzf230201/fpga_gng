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42805350" cy="3027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716" y="-2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45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88be6cce-0e8c-4ab1-91ae-58291673f02e.claudeusercontent.com/cdn-cgi/l/email-protectio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85750"/>
            <a:ext cx="29060775" cy="4462463"/>
          </a:xfrm>
          <a:prstGeom prst="roundRect">
            <a:avLst>
              <a:gd name="adj" fmla="val 555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25" y="1441847"/>
            <a:ext cx="4095750" cy="21502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78953" y="431800"/>
            <a:ext cx="172555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75" b="1" kern="0" spc="43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WCCI 2026 · MAASTRICHT, NETHERLANDS · 21–26 JUNE 2026 · POSTER SESSION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5543058" y="828675"/>
            <a:ext cx="20527361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Graph Encoding and Fixed-Point Arithmetic for FPGA Growing Neural Gas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1096229" y="2114550"/>
            <a:ext cx="9421019" cy="565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C3357">
                  <a:alpha val="100000"/>
                </a:srgbClr>
              </a:gs>
              <a:gs pos="100000">
                <a:srgbClr val="2D5594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1C3357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77229" y="2320925"/>
            <a:ext cx="152400" cy="152400"/>
          </a:xfrm>
          <a:prstGeom prst="ellipse">
            <a:avLst/>
          </a:prstGeom>
          <a:solidFill>
            <a:srgbClr val="F2B95C"/>
          </a:solidFill>
          <a:ln/>
          <a:effectLst>
            <a:outerShdw blurRad="101600" dist="50800" dir="16200000" algn="bl" rotWithShape="0">
              <a:srgbClr val="F2B95C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384320" y="2219325"/>
            <a:ext cx="9168686" cy="393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unsupervised learning down to the embedded level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0330498" y="2746375"/>
            <a:ext cx="1095248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Teuku Zikri Fatahillah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Raditya Artha Rochmanto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Achmad Fahrul Aji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0330498" y="3289300"/>
            <a:ext cx="1095248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Anhar Risnumawan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Chyan Zheng Siow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</a:t>
            </a:r>
            <a:r>
              <a:rPr lang="en-US" sz="247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Naoyuki Kubota</a:t>
            </a:r>
            <a:r>
              <a:rPr lang="en-US" sz="2063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897808" y="3803650"/>
            <a:ext cx="11817662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 Metropolitan University, Japan ·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Negeri Semarang, Indonesia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97808" y="4231481"/>
            <a:ext cx="11817662" cy="408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Elektronika Negeri Surabaya, Indonesia ·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Changsha Cultural and Creative Arts Vocational College, China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6416002" y="935831"/>
            <a:ext cx="2559050" cy="2768600"/>
          </a:xfrm>
          <a:prstGeom prst="roundRect">
            <a:avLst>
              <a:gd name="adj" fmla="val 6700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0151" y="1119981"/>
            <a:ext cx="2190750" cy="2190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035324" y="3367881"/>
            <a:ext cx="14524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&amp; DATA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25872481" y="3818731"/>
            <a:ext cx="401091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github.com/tzf230201/fpga_gng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609600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9600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19" name="Shape 15"/>
          <p:cNvSpPr/>
          <p:nvPr/>
        </p:nvSpPr>
        <p:spPr>
          <a:xfrm>
            <a:off x="609600" y="4843463"/>
            <a:ext cx="9623425" cy="76200"/>
          </a:xfrm>
          <a:prstGeom prst="rect">
            <a:avLst/>
          </a:prstGeom>
          <a:solidFill>
            <a:srgbClr val="E2A84E"/>
          </a:solidFill>
          <a:ln/>
        </p:spPr>
      </p:sp>
      <p:sp>
        <p:nvSpPr>
          <p:cNvPr id="20" name="Shape 16"/>
          <p:cNvSpPr/>
          <p:nvPr/>
        </p:nvSpPr>
        <p:spPr>
          <a:xfrm>
            <a:off x="609600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1" name="Shape 17"/>
          <p:cNvSpPr/>
          <p:nvPr/>
        </p:nvSpPr>
        <p:spPr>
          <a:xfrm>
            <a:off x="10220325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1003300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</a:t>
            </a:r>
            <a:endParaRPr lang="en-US" sz="7200" dirty="0"/>
          </a:p>
        </p:txBody>
      </p:sp>
      <p:sp>
        <p:nvSpPr>
          <p:cNvPr id="23" name="Text 19"/>
          <p:cNvSpPr/>
          <p:nvPr/>
        </p:nvSpPr>
        <p:spPr>
          <a:xfrm>
            <a:off x="1003300" y="6024563"/>
            <a:ext cx="971962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graph-state memory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(2,000 B → 1,180 B)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10328275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0328275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6" name="Shape 22"/>
          <p:cNvSpPr/>
          <p:nvPr/>
        </p:nvSpPr>
        <p:spPr>
          <a:xfrm>
            <a:off x="10328275" y="4843463"/>
            <a:ext cx="9623425" cy="76200"/>
          </a:xfrm>
          <a:prstGeom prst="rect">
            <a:avLst/>
          </a:prstGeom>
          <a:solidFill>
            <a:srgbClr val="3B6DB4"/>
          </a:solidFill>
          <a:ln/>
        </p:spPr>
      </p:sp>
      <p:sp>
        <p:nvSpPr>
          <p:cNvPr id="27" name="Shape 23"/>
          <p:cNvSpPr/>
          <p:nvPr/>
        </p:nvSpPr>
        <p:spPr>
          <a:xfrm>
            <a:off x="10328275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8" name="Shape 24"/>
          <p:cNvSpPr/>
          <p:nvPr/>
        </p:nvSpPr>
        <p:spPr>
          <a:xfrm>
            <a:off x="19939001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29" name="Text 25"/>
          <p:cNvSpPr/>
          <p:nvPr/>
        </p:nvSpPr>
        <p:spPr>
          <a:xfrm>
            <a:off x="10721976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~625 µs</a:t>
            </a:r>
            <a:endParaRPr lang="en-US" sz="7200" dirty="0"/>
          </a:p>
        </p:txBody>
      </p:sp>
      <p:sp>
        <p:nvSpPr>
          <p:cNvPr id="30" name="Text 26"/>
          <p:cNvSpPr/>
          <p:nvPr/>
        </p:nvSpPr>
        <p:spPr>
          <a:xfrm>
            <a:off x="10721976" y="6024563"/>
            <a:ext cx="971962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latency / sample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(≈1,600 / s)</a:t>
            </a:r>
            <a:endParaRPr lang="en-US" sz="2250" dirty="0"/>
          </a:p>
        </p:txBody>
      </p:sp>
      <p:sp>
        <p:nvSpPr>
          <p:cNvPr id="31" name="Shape 27"/>
          <p:cNvSpPr/>
          <p:nvPr/>
        </p:nvSpPr>
        <p:spPr>
          <a:xfrm>
            <a:off x="20046951" y="4843463"/>
            <a:ext cx="9623425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0046951" y="6545263"/>
            <a:ext cx="9623425" cy="127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3" name="Shape 29"/>
          <p:cNvSpPr/>
          <p:nvPr/>
        </p:nvSpPr>
        <p:spPr>
          <a:xfrm>
            <a:off x="20046951" y="4843463"/>
            <a:ext cx="9623425" cy="762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4" name="Shape 30"/>
          <p:cNvSpPr/>
          <p:nvPr/>
        </p:nvSpPr>
        <p:spPr>
          <a:xfrm>
            <a:off x="20046951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5" name="Shape 31"/>
          <p:cNvSpPr/>
          <p:nvPr/>
        </p:nvSpPr>
        <p:spPr>
          <a:xfrm>
            <a:off x="29657676" y="4843463"/>
            <a:ext cx="12700" cy="1714500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36" name="Text 32"/>
          <p:cNvSpPr/>
          <p:nvPr/>
        </p:nvSpPr>
        <p:spPr>
          <a:xfrm>
            <a:off x="20440650" y="5072063"/>
            <a:ext cx="9719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7200" dirty="0"/>
          </a:p>
        </p:txBody>
      </p:sp>
      <p:sp>
        <p:nvSpPr>
          <p:cNvPr id="37" name="Text 33"/>
          <p:cNvSpPr/>
          <p:nvPr/>
        </p:nvSpPr>
        <p:spPr>
          <a:xfrm>
            <a:off x="20440650" y="6024563"/>
            <a:ext cx="971962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used on a 9K FPGA </a:t>
            </a:r>
            <a:r>
              <a:rPr lang="en-US" sz="225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62% headroom left</a:t>
            </a:r>
            <a:endParaRPr lang="en-US" sz="2250" dirty="0"/>
          </a:p>
        </p:txBody>
      </p:sp>
      <p:sp>
        <p:nvSpPr>
          <p:cNvPr id="38" name="Shape 34"/>
          <p:cNvSpPr/>
          <p:nvPr/>
        </p:nvSpPr>
        <p:spPr>
          <a:xfrm>
            <a:off x="609600" y="6653213"/>
            <a:ext cx="9623425" cy="13862050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946150" y="73834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40" name="Text 36"/>
          <p:cNvSpPr/>
          <p:nvPr/>
        </p:nvSpPr>
        <p:spPr>
          <a:xfrm>
            <a:off x="946150" y="67040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Motivation &amp; Problem</a:t>
            </a:r>
            <a:endParaRPr lang="en-US" sz="3750" dirty="0"/>
          </a:p>
        </p:txBody>
      </p:sp>
      <p:sp>
        <p:nvSpPr>
          <p:cNvPr id="41" name="Text 37"/>
          <p:cNvSpPr/>
          <p:nvPr/>
        </p:nvSpPr>
        <p:spPr>
          <a:xfrm>
            <a:off x="946150" y="7599363"/>
            <a:ext cx="9218835" cy="1978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Micro-UAV swarms and field robots need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on-board unsupervised adaptation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streaming raw data to the cloud is impractical. Learning must run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locally, with bounded memory and deterministic timing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42" name="Text 38"/>
          <p:cNvSpPr/>
          <p:nvPr/>
        </p:nvSpPr>
        <p:spPr>
          <a:xfrm>
            <a:off x="946150" y="9729788"/>
            <a:ext cx="9218835" cy="146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Neural Gas (GNG)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topology incrementally, sample-by-sample, without labels — ideal for streaming data. But classic GNG clashes with small FPGAs:</a:t>
            </a:r>
            <a:endParaRPr lang="en-US" sz="24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953" y="11362532"/>
            <a:ext cx="4734719" cy="32385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946150" y="14689931"/>
            <a:ext cx="9218835" cy="1023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mapping in action: </a:t>
            </a: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explores its surroundings (left) while GNG incrementally builds a graph mirroring the free-space topology (right) — applications like this need adaptation to run </a:t>
            </a: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device itself</a:t>
            </a: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payload-, power-, and link-constrained.</a:t>
            </a:r>
            <a:endParaRPr lang="en-US" sz="1800" dirty="0"/>
          </a:p>
        </p:txBody>
      </p:sp>
      <p:sp>
        <p:nvSpPr>
          <p:cNvPr id="46" name="Shape 41"/>
          <p:cNvSpPr/>
          <p:nvPr/>
        </p:nvSpPr>
        <p:spPr>
          <a:xfrm>
            <a:off x="946150" y="15865476"/>
            <a:ext cx="8950325" cy="1279525"/>
          </a:xfrm>
          <a:prstGeom prst="roundRect">
            <a:avLst>
              <a:gd name="adj" fmla="val 10422"/>
            </a:avLst>
          </a:prstGeom>
          <a:solidFill>
            <a:srgbClr val="F6F8FB"/>
          </a:solidFill>
          <a:ln/>
        </p:spPr>
      </p:sp>
      <p:sp>
        <p:nvSpPr>
          <p:cNvPr id="47" name="Text 42"/>
          <p:cNvSpPr/>
          <p:nvPr/>
        </p:nvSpPr>
        <p:spPr>
          <a:xfrm>
            <a:off x="1193800" y="16094076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48" name="Text 43"/>
          <p:cNvSpPr/>
          <p:nvPr/>
        </p:nvSpPr>
        <p:spPr>
          <a:xfrm>
            <a:off x="1527969" y="16055976"/>
            <a:ext cx="8364482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adjacency is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40×40 8-bit matrix = </a:t>
            </a:r>
            <a:r>
              <a:rPr lang="en-US" sz="2325" b="1" dirty="0">
                <a:solidFill>
                  <a:srgbClr val="B47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B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dominates the BRAM budget of a sub-10K-LUT device.</a:t>
            </a:r>
            <a:endParaRPr lang="en-US" sz="2325" dirty="0"/>
          </a:p>
        </p:txBody>
      </p:sp>
      <p:sp>
        <p:nvSpPr>
          <p:cNvPr id="49" name="Shape 44"/>
          <p:cNvSpPr/>
          <p:nvPr/>
        </p:nvSpPr>
        <p:spPr>
          <a:xfrm>
            <a:off x="946150" y="17297400"/>
            <a:ext cx="8950325" cy="1279525"/>
          </a:xfrm>
          <a:prstGeom prst="roundRect">
            <a:avLst>
              <a:gd name="adj" fmla="val 10422"/>
            </a:avLst>
          </a:prstGeom>
          <a:solidFill>
            <a:srgbClr val="F6F8FB"/>
          </a:solidFill>
          <a:ln/>
        </p:spPr>
      </p:sp>
      <p:sp>
        <p:nvSpPr>
          <p:cNvPr id="50" name="Text 45"/>
          <p:cNvSpPr/>
          <p:nvPr/>
        </p:nvSpPr>
        <p:spPr>
          <a:xfrm>
            <a:off x="1193800" y="17526000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51" name="Text 46"/>
          <p:cNvSpPr/>
          <p:nvPr/>
        </p:nvSpPr>
        <p:spPr>
          <a:xfrm>
            <a:off x="1527969" y="17487900"/>
            <a:ext cx="8364482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Floating-point needs FPU blocks or slow iterative units — </a:t>
            </a: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datapaths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cleanly to LUTs and DSPs.</a:t>
            </a:r>
            <a:endParaRPr lang="en-US" sz="2325" dirty="0"/>
          </a:p>
        </p:txBody>
      </p:sp>
      <p:sp>
        <p:nvSpPr>
          <p:cNvPr id="52" name="Shape 47"/>
          <p:cNvSpPr/>
          <p:nvPr/>
        </p:nvSpPr>
        <p:spPr>
          <a:xfrm>
            <a:off x="946150" y="18729325"/>
            <a:ext cx="8950325" cy="1735138"/>
          </a:xfrm>
          <a:prstGeom prst="roundRect">
            <a:avLst>
              <a:gd name="adj" fmla="val 7685"/>
            </a:avLst>
          </a:prstGeom>
          <a:solidFill>
            <a:srgbClr val="F6F8FB"/>
          </a:solidFill>
          <a:ln/>
        </p:spPr>
      </p:sp>
      <p:sp>
        <p:nvSpPr>
          <p:cNvPr id="53" name="Text 48"/>
          <p:cNvSpPr/>
          <p:nvPr/>
        </p:nvSpPr>
        <p:spPr>
          <a:xfrm>
            <a:off x="1193800" y="18957925"/>
            <a:ext cx="3151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250" dirty="0"/>
          </a:p>
        </p:txBody>
      </p:sp>
      <p:sp>
        <p:nvSpPr>
          <p:cNvPr id="54" name="Text 49"/>
          <p:cNvSpPr/>
          <p:nvPr/>
        </p:nvSpPr>
        <p:spPr>
          <a:xfrm>
            <a:off x="1527969" y="18919825"/>
            <a:ext cx="8364482" cy="139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FPGA self-organizing work targets </a:t>
            </a: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SOMs with static lattices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GNG's per-iteration edge insert/age/prune on a variable graph is the hard part.</a:t>
            </a:r>
            <a:endParaRPr lang="en-US" sz="2325" dirty="0"/>
          </a:p>
        </p:txBody>
      </p:sp>
      <p:sp>
        <p:nvSpPr>
          <p:cNvPr id="55" name="Shape 50"/>
          <p:cNvSpPr/>
          <p:nvPr/>
        </p:nvSpPr>
        <p:spPr>
          <a:xfrm>
            <a:off x="609600" y="20610514"/>
            <a:ext cx="9623425" cy="6810574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946150" y="213407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57" name="Text 52"/>
          <p:cNvSpPr/>
          <p:nvPr/>
        </p:nvSpPr>
        <p:spPr>
          <a:xfrm>
            <a:off x="946150" y="206613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Method Overview</a:t>
            </a:r>
            <a:endParaRPr lang="en-US" sz="3750" dirty="0"/>
          </a:p>
        </p:txBody>
      </p:sp>
      <p:sp>
        <p:nvSpPr>
          <p:cNvPr id="58" name="Text 53"/>
          <p:cNvSpPr/>
          <p:nvPr/>
        </p:nvSpPr>
        <p:spPr>
          <a:xfrm>
            <a:off x="946150" y="21461413"/>
            <a:ext cx="9218835" cy="1480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integer, single-FSM GNG engine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synthesizable VHDL on the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Sipeed Tang Nano 9K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(Gowin GW1NR-9C) — no soft-core CPU, no FPU, no PLL.</a:t>
            </a:r>
            <a:endParaRPr lang="en-US" sz="2400" dirty="0"/>
          </a:p>
        </p:txBody>
      </p:sp>
      <p:sp>
        <p:nvSpPr>
          <p:cNvPr id="59" name="Shape 54"/>
          <p:cNvSpPr/>
          <p:nvPr/>
        </p:nvSpPr>
        <p:spPr>
          <a:xfrm>
            <a:off x="946150" y="23068757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0" name="Text 55"/>
          <p:cNvSpPr/>
          <p:nvPr/>
        </p:nvSpPr>
        <p:spPr>
          <a:xfrm>
            <a:off x="908050" y="23125907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50" dirty="0"/>
          </a:p>
        </p:txBody>
      </p:sp>
      <p:sp>
        <p:nvSpPr>
          <p:cNvPr id="61" name="Text 56"/>
          <p:cNvSpPr/>
          <p:nvPr/>
        </p:nvSpPr>
        <p:spPr>
          <a:xfrm>
            <a:off x="1555750" y="22998908"/>
            <a:ext cx="8590947" cy="9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encoding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upper-triangular half-adjacency with 8-bit age+1 cells: </a:t>
            </a:r>
            <a:r>
              <a:rPr lang="en-US" sz="2325" b="1" dirty="0">
                <a:solidFill>
                  <a:srgbClr val="B47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B vs 1,600 B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storage.</a:t>
            </a:r>
            <a:endParaRPr lang="en-US" sz="2325" dirty="0"/>
          </a:p>
        </p:txBody>
      </p:sp>
      <p:sp>
        <p:nvSpPr>
          <p:cNvPr id="62" name="Shape 57"/>
          <p:cNvSpPr/>
          <p:nvPr/>
        </p:nvSpPr>
        <p:spPr>
          <a:xfrm>
            <a:off x="946150" y="24075233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3" name="Text 58"/>
          <p:cNvSpPr/>
          <p:nvPr/>
        </p:nvSpPr>
        <p:spPr>
          <a:xfrm>
            <a:off x="908050" y="24132383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950" dirty="0"/>
          </a:p>
        </p:txBody>
      </p:sp>
      <p:sp>
        <p:nvSpPr>
          <p:cNvPr id="64" name="Text 59"/>
          <p:cNvSpPr/>
          <p:nvPr/>
        </p:nvSpPr>
        <p:spPr>
          <a:xfrm>
            <a:off x="1555750" y="24005381"/>
            <a:ext cx="8590947" cy="9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Shift-based Q8/Q16 learning rates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adaptation step is one multiply + shift, single DSP cycle.</a:t>
            </a:r>
            <a:endParaRPr lang="en-US" sz="2325" dirty="0"/>
          </a:p>
        </p:txBody>
      </p:sp>
      <p:sp>
        <p:nvSpPr>
          <p:cNvPr id="65" name="Shape 60"/>
          <p:cNvSpPr/>
          <p:nvPr/>
        </p:nvSpPr>
        <p:spPr>
          <a:xfrm>
            <a:off x="946150" y="25069007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6" name="Text 61"/>
          <p:cNvSpPr/>
          <p:nvPr/>
        </p:nvSpPr>
        <p:spPr>
          <a:xfrm>
            <a:off x="908050" y="25126157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950" dirty="0"/>
          </a:p>
        </p:txBody>
      </p:sp>
      <p:sp>
        <p:nvSpPr>
          <p:cNvPr id="67" name="Text 62"/>
          <p:cNvSpPr/>
          <p:nvPr/>
        </p:nvSpPr>
        <p:spPr>
          <a:xfrm>
            <a:off x="1555750" y="24999158"/>
            <a:ext cx="8590947" cy="1379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NB_SCAN pass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error decay + edge aging + neighbor movement + pruning in one sequential sweep; no separate full-array decay pass.</a:t>
            </a:r>
            <a:endParaRPr lang="en-US" sz="2325" dirty="0"/>
          </a:p>
        </p:txBody>
      </p:sp>
      <p:sp>
        <p:nvSpPr>
          <p:cNvPr id="68" name="Shape 63"/>
          <p:cNvSpPr/>
          <p:nvPr/>
        </p:nvSpPr>
        <p:spPr>
          <a:xfrm>
            <a:off x="946150" y="26505694"/>
            <a:ext cx="514350" cy="393700"/>
          </a:xfrm>
          <a:prstGeom prst="roundRect">
            <a:avLst>
              <a:gd name="adj" fmla="val 24194"/>
            </a:avLst>
          </a:prstGeom>
          <a:solidFill>
            <a:srgbClr val="3B6DB4"/>
          </a:solidFill>
          <a:ln/>
        </p:spPr>
      </p:sp>
      <p:sp>
        <p:nvSpPr>
          <p:cNvPr id="69" name="Text 64"/>
          <p:cNvSpPr/>
          <p:nvPr/>
        </p:nvSpPr>
        <p:spPr>
          <a:xfrm>
            <a:off x="908050" y="26562844"/>
            <a:ext cx="5905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950" dirty="0"/>
          </a:p>
        </p:txBody>
      </p:sp>
      <p:sp>
        <p:nvSpPr>
          <p:cNvPr id="70" name="Text 65"/>
          <p:cNvSpPr/>
          <p:nvPr/>
        </p:nvSpPr>
        <p:spPr>
          <a:xfrm>
            <a:off x="1555750" y="26435845"/>
            <a:ext cx="8590947" cy="9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Per-node degree counters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O(N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isolated-node detection without scanning the edge array.</a:t>
            </a:r>
            <a:endParaRPr lang="en-US" sz="2325" dirty="0"/>
          </a:p>
        </p:txBody>
      </p:sp>
      <p:sp>
        <p:nvSpPr>
          <p:cNvPr id="71" name="Shape 66"/>
          <p:cNvSpPr/>
          <p:nvPr/>
        </p:nvSpPr>
        <p:spPr>
          <a:xfrm>
            <a:off x="609600" y="27516337"/>
            <a:ext cx="9623425" cy="12782352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72" name="Shape 67"/>
          <p:cNvSpPr/>
          <p:nvPr/>
        </p:nvSpPr>
        <p:spPr>
          <a:xfrm>
            <a:off x="946150" y="28246586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73" name="Text 68"/>
          <p:cNvSpPr/>
          <p:nvPr/>
        </p:nvSpPr>
        <p:spPr>
          <a:xfrm>
            <a:off x="946150" y="27567136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GNG Loop &amp; Parameters</a:t>
            </a:r>
            <a:endParaRPr lang="en-US" sz="3750" dirty="0"/>
          </a:p>
        </p:txBody>
      </p:sp>
      <p:sp>
        <p:nvSpPr>
          <p:cNvPr id="74" name="Text 69"/>
          <p:cNvSpPr/>
          <p:nvPr/>
        </p:nvSpPr>
        <p:spPr>
          <a:xfrm>
            <a:off x="946150" y="28392637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175" dirty="0"/>
          </a:p>
        </p:txBody>
      </p:sp>
      <p:sp>
        <p:nvSpPr>
          <p:cNvPr id="75" name="Text 70"/>
          <p:cNvSpPr/>
          <p:nvPr/>
        </p:nvSpPr>
        <p:spPr>
          <a:xfrm>
            <a:off x="1317625" y="28367236"/>
            <a:ext cx="8479572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winner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 = argminᵢ ‖ξ − wᵢ‖² 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runner-up </a:t>
            </a:r>
            <a:r>
              <a:rPr lang="en-US" sz="23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s₂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76" name="Text 71"/>
          <p:cNvSpPr/>
          <p:nvPr/>
        </p:nvSpPr>
        <p:spPr>
          <a:xfrm>
            <a:off x="946150" y="28954016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175" dirty="0"/>
          </a:p>
        </p:txBody>
      </p:sp>
      <p:sp>
        <p:nvSpPr>
          <p:cNvPr id="77" name="Text 72"/>
          <p:cNvSpPr/>
          <p:nvPr/>
        </p:nvSpPr>
        <p:spPr>
          <a:xfrm>
            <a:off x="1317625" y="28928616"/>
            <a:ext cx="6403967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winner error; move s₁ toward ξ by ε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78" name="Text 73"/>
          <p:cNvSpPr/>
          <p:nvPr/>
        </p:nvSpPr>
        <p:spPr>
          <a:xfrm>
            <a:off x="946150" y="29566593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175" dirty="0"/>
          </a:p>
        </p:txBody>
      </p:sp>
      <p:sp>
        <p:nvSpPr>
          <p:cNvPr id="79" name="Text 74"/>
          <p:cNvSpPr/>
          <p:nvPr/>
        </p:nvSpPr>
        <p:spPr>
          <a:xfrm>
            <a:off x="1317625" y="29541192"/>
            <a:ext cx="8534331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edges of s₁; move its neighbors by ε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prune edges past A</a:t>
            </a:r>
            <a:r>
              <a:rPr lang="en-US" sz="1937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80" name="Text 75"/>
          <p:cNvSpPr/>
          <p:nvPr/>
        </p:nvSpPr>
        <p:spPr>
          <a:xfrm>
            <a:off x="946150" y="30179170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175" dirty="0"/>
          </a:p>
        </p:txBody>
      </p:sp>
      <p:sp>
        <p:nvSpPr>
          <p:cNvPr id="81" name="Text 76"/>
          <p:cNvSpPr/>
          <p:nvPr/>
        </p:nvSpPr>
        <p:spPr>
          <a:xfrm>
            <a:off x="1317625" y="30153769"/>
            <a:ext cx="660999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(s₁, s₂) with age 0; decay all errors by β.</a:t>
            </a:r>
            <a:endParaRPr lang="en-US" sz="2325" dirty="0"/>
          </a:p>
        </p:txBody>
      </p:sp>
      <p:sp>
        <p:nvSpPr>
          <p:cNvPr id="82" name="Text 77"/>
          <p:cNvSpPr/>
          <p:nvPr/>
        </p:nvSpPr>
        <p:spPr>
          <a:xfrm>
            <a:off x="946150" y="30740549"/>
            <a:ext cx="35242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2175" dirty="0"/>
          </a:p>
        </p:txBody>
      </p:sp>
      <p:sp>
        <p:nvSpPr>
          <p:cNvPr id="83" name="Text 78"/>
          <p:cNvSpPr/>
          <p:nvPr/>
        </p:nvSpPr>
        <p:spPr>
          <a:xfrm>
            <a:off x="1317625" y="30715148"/>
            <a:ext cx="8836216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λ samples: insert a node between the max-error node and its worst neighbor; split errors by α.</a:t>
            </a:r>
            <a:endParaRPr lang="en-US" sz="2325" dirty="0"/>
          </a:p>
        </p:txBody>
      </p:sp>
      <p:sp>
        <p:nvSpPr>
          <p:cNvPr id="84" name="Shape 79"/>
          <p:cNvSpPr/>
          <p:nvPr/>
        </p:nvSpPr>
        <p:spPr>
          <a:xfrm>
            <a:off x="946150" y="31723608"/>
            <a:ext cx="8950325" cy="4991100"/>
          </a:xfrm>
          <a:prstGeom prst="roundRect">
            <a:avLst>
              <a:gd name="adj" fmla="val 2672"/>
            </a:avLst>
          </a:prstGeom>
          <a:ln w="12700">
            <a:solidFill>
              <a:srgbClr val="DBE2EC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958850" y="31736309"/>
            <a:ext cx="8924925" cy="5588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86" name="Text 81"/>
          <p:cNvSpPr/>
          <p:nvPr/>
        </p:nvSpPr>
        <p:spPr>
          <a:xfrm>
            <a:off x="1187450" y="31869659"/>
            <a:ext cx="310483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950" dirty="0"/>
          </a:p>
        </p:txBody>
      </p:sp>
      <p:sp>
        <p:nvSpPr>
          <p:cNvPr id="87" name="Text 82"/>
          <p:cNvSpPr/>
          <p:nvPr/>
        </p:nvSpPr>
        <p:spPr>
          <a:xfrm>
            <a:off x="4010025" y="31869659"/>
            <a:ext cx="206974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950" dirty="0"/>
          </a:p>
        </p:txBody>
      </p:sp>
      <p:sp>
        <p:nvSpPr>
          <p:cNvPr id="88" name="Text 83"/>
          <p:cNvSpPr/>
          <p:nvPr/>
        </p:nvSpPr>
        <p:spPr>
          <a:xfrm>
            <a:off x="5891610" y="31869659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mapping</a:t>
            </a:r>
            <a:endParaRPr lang="en-US" sz="1950" dirty="0"/>
          </a:p>
        </p:txBody>
      </p:sp>
      <p:sp>
        <p:nvSpPr>
          <p:cNvPr id="89" name="Shape 84"/>
          <p:cNvSpPr/>
          <p:nvPr/>
        </p:nvSpPr>
        <p:spPr>
          <a:xfrm>
            <a:off x="958850" y="32295108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5"/>
          <p:cNvSpPr/>
          <p:nvPr/>
        </p:nvSpPr>
        <p:spPr>
          <a:xfrm>
            <a:off x="1187450" y="3240940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Nₘₐₓ (max nodes)</a:t>
            </a:r>
            <a:endParaRPr lang="en-US" sz="2025" dirty="0"/>
          </a:p>
        </p:txBody>
      </p:sp>
      <p:sp>
        <p:nvSpPr>
          <p:cNvPr id="91" name="Text 86"/>
          <p:cNvSpPr/>
          <p:nvPr/>
        </p:nvSpPr>
        <p:spPr>
          <a:xfrm>
            <a:off x="4010025" y="32422109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875" dirty="0"/>
          </a:p>
        </p:txBody>
      </p:sp>
      <p:sp>
        <p:nvSpPr>
          <p:cNvPr id="92" name="Text 87"/>
          <p:cNvSpPr/>
          <p:nvPr/>
        </p:nvSpPr>
        <p:spPr>
          <a:xfrm>
            <a:off x="5891610" y="32434809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BRAM depth</a:t>
            </a:r>
            <a:endParaRPr lang="en-US" sz="1800" dirty="0"/>
          </a:p>
        </p:txBody>
      </p:sp>
      <p:sp>
        <p:nvSpPr>
          <p:cNvPr id="93" name="Shape 88"/>
          <p:cNvSpPr/>
          <p:nvPr/>
        </p:nvSpPr>
        <p:spPr>
          <a:xfrm>
            <a:off x="958850" y="32841209"/>
            <a:ext cx="8924925" cy="5461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94" name="Text 89"/>
          <p:cNvSpPr/>
          <p:nvPr/>
        </p:nvSpPr>
        <p:spPr>
          <a:xfrm>
            <a:off x="1187450" y="32955509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Aₘₐₓ (max edge age)</a:t>
            </a:r>
            <a:endParaRPr lang="en-US" sz="2025" dirty="0"/>
          </a:p>
        </p:txBody>
      </p:sp>
      <p:sp>
        <p:nvSpPr>
          <p:cNvPr id="95" name="Text 90"/>
          <p:cNvSpPr/>
          <p:nvPr/>
        </p:nvSpPr>
        <p:spPr>
          <a:xfrm>
            <a:off x="4010025" y="32968209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875" dirty="0"/>
          </a:p>
        </p:txBody>
      </p:sp>
      <p:sp>
        <p:nvSpPr>
          <p:cNvPr id="96" name="Text 91"/>
          <p:cNvSpPr/>
          <p:nvPr/>
        </p:nvSpPr>
        <p:spPr>
          <a:xfrm>
            <a:off x="5891610" y="3298090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A_MAX_STORED = 51</a:t>
            </a:r>
            <a:endParaRPr lang="en-US" sz="1800" dirty="0"/>
          </a:p>
        </p:txBody>
      </p:sp>
      <p:sp>
        <p:nvSpPr>
          <p:cNvPr id="97" name="Shape 92"/>
          <p:cNvSpPr/>
          <p:nvPr/>
        </p:nvSpPr>
        <p:spPr>
          <a:xfrm>
            <a:off x="958850" y="33387309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3"/>
          <p:cNvSpPr/>
          <p:nvPr/>
        </p:nvSpPr>
        <p:spPr>
          <a:xfrm>
            <a:off x="1187450" y="33501609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(insertion period)</a:t>
            </a:r>
            <a:endParaRPr lang="en-US" sz="2025" dirty="0"/>
          </a:p>
        </p:txBody>
      </p:sp>
      <p:sp>
        <p:nvSpPr>
          <p:cNvPr id="99" name="Text 94"/>
          <p:cNvSpPr/>
          <p:nvPr/>
        </p:nvSpPr>
        <p:spPr>
          <a:xfrm>
            <a:off x="4010025" y="3351430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100" name="Text 95"/>
          <p:cNvSpPr/>
          <p:nvPr/>
        </p:nvSpPr>
        <p:spPr>
          <a:xfrm>
            <a:off x="5891610" y="33527009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lambda_cnt counter</a:t>
            </a:r>
            <a:endParaRPr lang="en-US" sz="1800" dirty="0"/>
          </a:p>
        </p:txBody>
      </p:sp>
      <p:sp>
        <p:nvSpPr>
          <p:cNvPr id="101" name="Shape 96"/>
          <p:cNvSpPr/>
          <p:nvPr/>
        </p:nvSpPr>
        <p:spPr>
          <a:xfrm>
            <a:off x="958850" y="33933408"/>
            <a:ext cx="8924925" cy="558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02" name="Text 97"/>
          <p:cNvSpPr/>
          <p:nvPr/>
        </p:nvSpPr>
        <p:spPr>
          <a:xfrm>
            <a:off x="1187450" y="34047708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εw (winner lr)</a:t>
            </a:r>
            <a:endParaRPr lang="en-US" sz="2025" dirty="0"/>
          </a:p>
        </p:txBody>
      </p:sp>
      <p:sp>
        <p:nvSpPr>
          <p:cNvPr id="103" name="Text 98"/>
          <p:cNvSpPr/>
          <p:nvPr/>
        </p:nvSpPr>
        <p:spPr>
          <a:xfrm>
            <a:off x="4010025" y="34060409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0.301</a:t>
            </a:r>
            <a:endParaRPr lang="en-US" sz="1875" dirty="0"/>
          </a:p>
        </p:txBody>
      </p:sp>
      <p:sp>
        <p:nvSpPr>
          <p:cNvPr id="104" name="Text 99"/>
          <p:cNvSpPr/>
          <p:nvPr/>
        </p:nvSpPr>
        <p:spPr>
          <a:xfrm>
            <a:off x="5891610" y="34073109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EPS_WIN_Q8 = 77, ≫ 8</a:t>
            </a:r>
            <a:endParaRPr lang="en-US" sz="1800" dirty="0"/>
          </a:p>
        </p:txBody>
      </p:sp>
      <p:sp>
        <p:nvSpPr>
          <p:cNvPr id="105" name="Shape 100"/>
          <p:cNvSpPr/>
          <p:nvPr/>
        </p:nvSpPr>
        <p:spPr>
          <a:xfrm>
            <a:off x="958850" y="34492209"/>
            <a:ext cx="8924925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1"/>
          <p:cNvSpPr/>
          <p:nvPr/>
        </p:nvSpPr>
        <p:spPr>
          <a:xfrm>
            <a:off x="1187450" y="34606509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εn (neighbor lr)</a:t>
            </a:r>
            <a:endParaRPr lang="en-US" sz="2025" dirty="0"/>
          </a:p>
        </p:txBody>
      </p:sp>
      <p:sp>
        <p:nvSpPr>
          <p:cNvPr id="107" name="Text 102"/>
          <p:cNvSpPr/>
          <p:nvPr/>
        </p:nvSpPr>
        <p:spPr>
          <a:xfrm>
            <a:off x="4010025" y="3461920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0.001</a:t>
            </a:r>
            <a:endParaRPr lang="en-US" sz="1875" dirty="0"/>
          </a:p>
        </p:txBody>
      </p:sp>
      <p:sp>
        <p:nvSpPr>
          <p:cNvPr id="108" name="Text 103"/>
          <p:cNvSpPr/>
          <p:nvPr/>
        </p:nvSpPr>
        <p:spPr>
          <a:xfrm>
            <a:off x="5891610" y="34631909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EPS_N_Q16 = 66, ≫ 16</a:t>
            </a:r>
            <a:endParaRPr lang="en-US" sz="1800" dirty="0"/>
          </a:p>
        </p:txBody>
      </p:sp>
      <p:sp>
        <p:nvSpPr>
          <p:cNvPr id="109" name="Shape 104"/>
          <p:cNvSpPr/>
          <p:nvPr/>
        </p:nvSpPr>
        <p:spPr>
          <a:xfrm>
            <a:off x="958850" y="35051009"/>
            <a:ext cx="8924925" cy="5461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0" name="Text 105"/>
          <p:cNvSpPr/>
          <p:nvPr/>
        </p:nvSpPr>
        <p:spPr>
          <a:xfrm>
            <a:off x="1187450" y="35165309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(error split)</a:t>
            </a:r>
            <a:endParaRPr lang="en-US" sz="2025" dirty="0"/>
          </a:p>
        </p:txBody>
      </p:sp>
      <p:sp>
        <p:nvSpPr>
          <p:cNvPr id="111" name="Text 106"/>
          <p:cNvSpPr/>
          <p:nvPr/>
        </p:nvSpPr>
        <p:spPr>
          <a:xfrm>
            <a:off x="4010025" y="35178009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75" dirty="0"/>
          </a:p>
        </p:txBody>
      </p:sp>
      <p:sp>
        <p:nvSpPr>
          <p:cNvPr id="112" name="Text 107"/>
          <p:cNvSpPr/>
          <p:nvPr/>
        </p:nvSpPr>
        <p:spPr>
          <a:xfrm>
            <a:off x="5891610" y="35190708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INS_ALPHA_SHIFT = 1</a:t>
            </a:r>
            <a:endParaRPr lang="en-US" sz="1800" dirty="0"/>
          </a:p>
        </p:txBody>
      </p:sp>
      <p:sp>
        <p:nvSpPr>
          <p:cNvPr id="113" name="Shape 108"/>
          <p:cNvSpPr/>
          <p:nvPr/>
        </p:nvSpPr>
        <p:spPr>
          <a:xfrm>
            <a:off x="958850" y="35597109"/>
            <a:ext cx="8924925" cy="546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09"/>
          <p:cNvSpPr/>
          <p:nvPr/>
        </p:nvSpPr>
        <p:spPr>
          <a:xfrm>
            <a:off x="1187450" y="35711409"/>
            <a:ext cx="310483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(error decay)</a:t>
            </a:r>
            <a:endParaRPr lang="en-US" sz="2025" dirty="0"/>
          </a:p>
        </p:txBody>
      </p:sp>
      <p:sp>
        <p:nvSpPr>
          <p:cNvPr id="115" name="Text 110"/>
          <p:cNvSpPr/>
          <p:nvPr/>
        </p:nvSpPr>
        <p:spPr>
          <a:xfrm>
            <a:off x="4010025" y="35724108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0.9961</a:t>
            </a:r>
            <a:endParaRPr lang="en-US" sz="1875" dirty="0"/>
          </a:p>
        </p:txBody>
      </p:sp>
      <p:sp>
        <p:nvSpPr>
          <p:cNvPr id="116" name="Text 111"/>
          <p:cNvSpPr/>
          <p:nvPr/>
        </p:nvSpPr>
        <p:spPr>
          <a:xfrm>
            <a:off x="5891610" y="35736809"/>
            <a:ext cx="413992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ERR_DECAY_SHIFT = 8</a:t>
            </a:r>
            <a:endParaRPr lang="en-US" sz="1800" dirty="0"/>
          </a:p>
        </p:txBody>
      </p:sp>
      <p:sp>
        <p:nvSpPr>
          <p:cNvPr id="117" name="Shape 112"/>
          <p:cNvSpPr/>
          <p:nvPr/>
        </p:nvSpPr>
        <p:spPr>
          <a:xfrm>
            <a:off x="958850" y="36143208"/>
            <a:ext cx="8924925" cy="5588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8" name="Text 113"/>
          <p:cNvSpPr/>
          <p:nvPr/>
        </p:nvSpPr>
        <p:spPr>
          <a:xfrm>
            <a:off x="1187450" y="36257508"/>
            <a:ext cx="31048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ERR_SHIFT (acc. scale)</a:t>
            </a:r>
            <a:endParaRPr lang="en-US" sz="2025" dirty="0"/>
          </a:p>
        </p:txBody>
      </p:sp>
      <p:sp>
        <p:nvSpPr>
          <p:cNvPr id="119" name="Text 114"/>
          <p:cNvSpPr/>
          <p:nvPr/>
        </p:nvSpPr>
        <p:spPr>
          <a:xfrm>
            <a:off x="4010025" y="36270209"/>
            <a:ext cx="20697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120" name="Text 115"/>
          <p:cNvSpPr/>
          <p:nvPr/>
        </p:nvSpPr>
        <p:spPr>
          <a:xfrm>
            <a:off x="5891610" y="36282909"/>
            <a:ext cx="41399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d² ≫ 4 before accum.</a:t>
            </a:r>
            <a:endParaRPr lang="en-US" sz="1800" dirty="0"/>
          </a:p>
        </p:txBody>
      </p:sp>
      <p:sp>
        <p:nvSpPr>
          <p:cNvPr id="121" name="Shape 116"/>
          <p:cNvSpPr/>
          <p:nvPr/>
        </p:nvSpPr>
        <p:spPr>
          <a:xfrm>
            <a:off x="10328275" y="6653213"/>
            <a:ext cx="9623425" cy="33645477"/>
          </a:xfrm>
          <a:prstGeom prst="roundRect">
            <a:avLst>
              <a:gd name="adj" fmla="val 2573"/>
            </a:avLst>
          </a:prstGeom>
          <a:gradFill rotWithShape="1">
            <a:gsLst>
              <a:gs pos="0">
                <a:srgbClr val="1C3357">
                  <a:alpha val="100000"/>
                </a:srgbClr>
              </a:gs>
              <a:gs pos="100000">
                <a:srgbClr val="0F2240">
                  <a:alpha val="100000"/>
                </a:srgbClr>
              </a:gs>
            </a:gsLst>
            <a:lin ang="4500000" scaled="0"/>
          </a:gradFill>
          <a:ln/>
          <a:effectLst>
            <a:outerShdw blurRad="457200" dist="171450" dir="5400000" algn="bl" rotWithShape="0">
              <a:srgbClr val="0F2240">
                <a:alpha val="34000"/>
              </a:srgbClr>
            </a:outerShdw>
          </a:effectLst>
        </p:spPr>
      </p:sp>
      <p:sp>
        <p:nvSpPr>
          <p:cNvPr id="122" name="Shape 117"/>
          <p:cNvSpPr/>
          <p:nvPr/>
        </p:nvSpPr>
        <p:spPr>
          <a:xfrm>
            <a:off x="10518775" y="6988175"/>
            <a:ext cx="2862064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2A84E">
                  <a:alpha val="0"/>
                </a:srgbClr>
              </a:gs>
              <a:gs pos="100000">
                <a:srgbClr val="E2A84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3" name="Text 118"/>
          <p:cNvSpPr/>
          <p:nvPr/>
        </p:nvSpPr>
        <p:spPr>
          <a:xfrm>
            <a:off x="13552289" y="6805613"/>
            <a:ext cx="3492937" cy="431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432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</a:t>
            </a:r>
            <a:endParaRPr lang="en-US" sz="2700" dirty="0"/>
          </a:p>
        </p:txBody>
      </p:sp>
      <p:sp>
        <p:nvSpPr>
          <p:cNvPr id="124" name="Shape 119"/>
          <p:cNvSpPr/>
          <p:nvPr/>
        </p:nvSpPr>
        <p:spPr>
          <a:xfrm>
            <a:off x="16899136" y="6988175"/>
            <a:ext cx="2862064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2A84E">
                  <a:alpha val="100000"/>
                </a:srgbClr>
              </a:gs>
              <a:gs pos="100000">
                <a:srgbClr val="E2A84E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5" name="Shape 120"/>
          <p:cNvSpPr/>
          <p:nvPr/>
        </p:nvSpPr>
        <p:spPr>
          <a:xfrm>
            <a:off x="10461625" y="7304088"/>
            <a:ext cx="9356725" cy="13368536"/>
          </a:xfrm>
          <a:prstGeom prst="roundRect">
            <a:avLst>
              <a:gd name="adj" fmla="val 2240"/>
            </a:avLst>
          </a:prstGeom>
          <a:solidFill>
            <a:srgbClr val="FFFDF7"/>
          </a:solidFill>
          <a:ln w="12700">
            <a:solidFill>
              <a:srgbClr val="ECD9B3"/>
            </a:solidFill>
            <a:prstDash val="solid"/>
          </a:ln>
          <a:effectLst>
            <a:outerShdw blurRad="285750" dist="76200" dir="5400000" algn="bl" rotWithShape="0">
              <a:srgbClr val="8C641E">
                <a:alpha val="8000"/>
              </a:srgbClr>
            </a:outerShdw>
          </a:effectLst>
        </p:spPr>
      </p:sp>
      <p:sp>
        <p:nvSpPr>
          <p:cNvPr id="126" name="Shape 121"/>
          <p:cNvSpPr/>
          <p:nvPr/>
        </p:nvSpPr>
        <p:spPr>
          <a:xfrm>
            <a:off x="10798176" y="8034338"/>
            <a:ext cx="8683625" cy="25400"/>
          </a:xfrm>
          <a:prstGeom prst="rect">
            <a:avLst/>
          </a:prstGeom>
          <a:solidFill>
            <a:srgbClr val="ECD9B3"/>
          </a:solidFill>
          <a:ln/>
        </p:spPr>
      </p:sp>
      <p:sp>
        <p:nvSpPr>
          <p:cNvPr id="127" name="Text 122"/>
          <p:cNvSpPr/>
          <p:nvPr/>
        </p:nvSpPr>
        <p:spPr>
          <a:xfrm>
            <a:off x="10798176" y="7354888"/>
            <a:ext cx="955198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Edge-Cell Encoding</a:t>
            </a:r>
            <a:endParaRPr lang="en-US" sz="3750" dirty="0"/>
          </a:p>
        </p:txBody>
      </p:sp>
      <p:sp>
        <p:nvSpPr>
          <p:cNvPr id="128" name="Text 123"/>
          <p:cNvSpPr/>
          <p:nvPr/>
        </p:nvSpPr>
        <p:spPr>
          <a:xfrm>
            <a:off x="10798176" y="8250238"/>
            <a:ext cx="8944134" cy="1493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are undirected, so store only the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triangle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adjacency — one byte per node pair, coding </a:t>
            </a:r>
            <a:r>
              <a:rPr lang="en-US" sz="24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and age together </a:t>
            </a:r>
            <a:r>
              <a:rPr lang="en-US" sz="24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  <p:sp>
        <p:nvSpPr>
          <p:cNvPr id="129" name="Shape 124"/>
          <p:cNvSpPr/>
          <p:nvPr/>
        </p:nvSpPr>
        <p:spPr>
          <a:xfrm>
            <a:off x="10798176" y="9895682"/>
            <a:ext cx="8683625" cy="5092700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12700">
            <a:solidFill>
              <a:srgbClr val="EEE5D0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1534775" y="10194131"/>
            <a:ext cx="46259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j →</a:t>
            </a:r>
            <a:endParaRPr lang="en-US" sz="1725" dirty="0"/>
          </a:p>
        </p:txBody>
      </p:sp>
      <p:sp>
        <p:nvSpPr>
          <p:cNvPr id="131" name="Text 126"/>
          <p:cNvSpPr/>
          <p:nvPr/>
        </p:nvSpPr>
        <p:spPr>
          <a:xfrm rot="10800000">
            <a:off x="11060113" y="10510044"/>
            <a:ext cx="314325" cy="4219575"/>
          </a:xfrm>
          <a:prstGeom prst="rect">
            <a:avLst/>
          </a:prstGeom>
          <a:noFill/>
          <a:ln/>
        </p:spPr>
        <p:txBody>
          <a:bodyPr vert="eaVert"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 →</a:t>
            </a:r>
            <a:endParaRPr lang="en-US" sz="1725" dirty="0"/>
          </a:p>
        </p:txBody>
      </p:sp>
      <p:sp>
        <p:nvSpPr>
          <p:cNvPr id="132" name="Text 127"/>
          <p:cNvSpPr/>
          <p:nvPr/>
        </p:nvSpPr>
        <p:spPr>
          <a:xfrm>
            <a:off x="118332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3" name="Text 128"/>
          <p:cNvSpPr/>
          <p:nvPr/>
        </p:nvSpPr>
        <p:spPr>
          <a:xfrm>
            <a:off x="124809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4" name="Text 129"/>
          <p:cNvSpPr/>
          <p:nvPr/>
        </p:nvSpPr>
        <p:spPr>
          <a:xfrm>
            <a:off x="131286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5" name="Text 130"/>
          <p:cNvSpPr/>
          <p:nvPr/>
        </p:nvSpPr>
        <p:spPr>
          <a:xfrm>
            <a:off x="137763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36" name="Text 131"/>
          <p:cNvSpPr/>
          <p:nvPr/>
        </p:nvSpPr>
        <p:spPr>
          <a:xfrm>
            <a:off x="144240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37" name="Text 132"/>
          <p:cNvSpPr/>
          <p:nvPr/>
        </p:nvSpPr>
        <p:spPr>
          <a:xfrm>
            <a:off x="15071725" y="10511632"/>
            <a:ext cx="6667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38" name="Text 133"/>
          <p:cNvSpPr/>
          <p:nvPr/>
        </p:nvSpPr>
        <p:spPr>
          <a:xfrm>
            <a:off x="11395075" y="110101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9" name="Shape 134"/>
          <p:cNvSpPr/>
          <p:nvPr/>
        </p:nvSpPr>
        <p:spPr>
          <a:xfrm>
            <a:off x="118713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40" name="Shape 135"/>
          <p:cNvSpPr/>
          <p:nvPr/>
        </p:nvSpPr>
        <p:spPr>
          <a:xfrm>
            <a:off x="125190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41" name="Text 136"/>
          <p:cNvSpPr/>
          <p:nvPr/>
        </p:nvSpPr>
        <p:spPr>
          <a:xfrm>
            <a:off x="127456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2" name="Shape 137"/>
          <p:cNvSpPr/>
          <p:nvPr/>
        </p:nvSpPr>
        <p:spPr>
          <a:xfrm>
            <a:off x="131667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133933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4" name="Shape 139"/>
          <p:cNvSpPr/>
          <p:nvPr/>
        </p:nvSpPr>
        <p:spPr>
          <a:xfrm>
            <a:off x="138144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140410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6" name="Shape 141"/>
          <p:cNvSpPr/>
          <p:nvPr/>
        </p:nvSpPr>
        <p:spPr>
          <a:xfrm>
            <a:off x="144621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7" name="Text 142"/>
          <p:cNvSpPr/>
          <p:nvPr/>
        </p:nvSpPr>
        <p:spPr>
          <a:xfrm>
            <a:off x="146887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8" name="Shape 143"/>
          <p:cNvSpPr/>
          <p:nvPr/>
        </p:nvSpPr>
        <p:spPr>
          <a:xfrm>
            <a:off x="15109825" y="108608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5336441" y="110101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0" name="Text 145"/>
          <p:cNvSpPr/>
          <p:nvPr/>
        </p:nvSpPr>
        <p:spPr>
          <a:xfrm>
            <a:off x="11395075" y="116578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51" name="Shape 146"/>
          <p:cNvSpPr/>
          <p:nvPr/>
        </p:nvSpPr>
        <p:spPr>
          <a:xfrm>
            <a:off x="118713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52" name="Shape 147"/>
          <p:cNvSpPr/>
          <p:nvPr/>
        </p:nvSpPr>
        <p:spPr>
          <a:xfrm>
            <a:off x="125190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53" name="Shape 148"/>
          <p:cNvSpPr/>
          <p:nvPr/>
        </p:nvSpPr>
        <p:spPr>
          <a:xfrm>
            <a:off x="131667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133933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5" name="Shape 150"/>
          <p:cNvSpPr/>
          <p:nvPr/>
        </p:nvSpPr>
        <p:spPr>
          <a:xfrm>
            <a:off x="138144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56" name="Text 151"/>
          <p:cNvSpPr/>
          <p:nvPr/>
        </p:nvSpPr>
        <p:spPr>
          <a:xfrm>
            <a:off x="140410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57" name="Shape 152"/>
          <p:cNvSpPr/>
          <p:nvPr/>
        </p:nvSpPr>
        <p:spPr>
          <a:xfrm>
            <a:off x="144621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146887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9" name="Shape 154"/>
          <p:cNvSpPr/>
          <p:nvPr/>
        </p:nvSpPr>
        <p:spPr>
          <a:xfrm>
            <a:off x="15109825" y="115085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15336441" y="116578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1" name="Text 156"/>
          <p:cNvSpPr/>
          <p:nvPr/>
        </p:nvSpPr>
        <p:spPr>
          <a:xfrm>
            <a:off x="11395075" y="123055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2" name="Shape 157"/>
          <p:cNvSpPr/>
          <p:nvPr/>
        </p:nvSpPr>
        <p:spPr>
          <a:xfrm>
            <a:off x="118713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3" name="Shape 158"/>
          <p:cNvSpPr/>
          <p:nvPr/>
        </p:nvSpPr>
        <p:spPr>
          <a:xfrm>
            <a:off x="125190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4" name="Shape 159"/>
          <p:cNvSpPr/>
          <p:nvPr/>
        </p:nvSpPr>
        <p:spPr>
          <a:xfrm>
            <a:off x="131667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65" name="Shape 160"/>
          <p:cNvSpPr/>
          <p:nvPr/>
        </p:nvSpPr>
        <p:spPr>
          <a:xfrm>
            <a:off x="138144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66" name="Text 161"/>
          <p:cNvSpPr/>
          <p:nvPr/>
        </p:nvSpPr>
        <p:spPr>
          <a:xfrm>
            <a:off x="140410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7" name="Shape 162"/>
          <p:cNvSpPr/>
          <p:nvPr/>
        </p:nvSpPr>
        <p:spPr>
          <a:xfrm>
            <a:off x="144621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146887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69" name="Shape 164"/>
          <p:cNvSpPr/>
          <p:nvPr/>
        </p:nvSpPr>
        <p:spPr>
          <a:xfrm>
            <a:off x="15109825" y="121562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15336441" y="123055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1" name="Text 166"/>
          <p:cNvSpPr/>
          <p:nvPr/>
        </p:nvSpPr>
        <p:spPr>
          <a:xfrm>
            <a:off x="11395075" y="129532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2" name="Shape 167"/>
          <p:cNvSpPr/>
          <p:nvPr/>
        </p:nvSpPr>
        <p:spPr>
          <a:xfrm>
            <a:off x="118713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3" name="Shape 168"/>
          <p:cNvSpPr/>
          <p:nvPr/>
        </p:nvSpPr>
        <p:spPr>
          <a:xfrm>
            <a:off x="125190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4" name="Shape 169"/>
          <p:cNvSpPr/>
          <p:nvPr/>
        </p:nvSpPr>
        <p:spPr>
          <a:xfrm>
            <a:off x="131667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5" name="Shape 170"/>
          <p:cNvSpPr/>
          <p:nvPr/>
        </p:nvSpPr>
        <p:spPr>
          <a:xfrm>
            <a:off x="138144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76" name="Shape 171"/>
          <p:cNvSpPr/>
          <p:nvPr/>
        </p:nvSpPr>
        <p:spPr>
          <a:xfrm>
            <a:off x="144621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77" name="Text 172"/>
          <p:cNvSpPr/>
          <p:nvPr/>
        </p:nvSpPr>
        <p:spPr>
          <a:xfrm>
            <a:off x="14688741" y="129532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8" name="Shape 173"/>
          <p:cNvSpPr/>
          <p:nvPr/>
        </p:nvSpPr>
        <p:spPr>
          <a:xfrm>
            <a:off x="15109825" y="128039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15336441" y="129532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0" name="Text 175"/>
          <p:cNvSpPr/>
          <p:nvPr/>
        </p:nvSpPr>
        <p:spPr>
          <a:xfrm>
            <a:off x="11395075" y="136009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1" name="Shape 176"/>
          <p:cNvSpPr/>
          <p:nvPr/>
        </p:nvSpPr>
        <p:spPr>
          <a:xfrm>
            <a:off x="118713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2" name="Shape 177"/>
          <p:cNvSpPr/>
          <p:nvPr/>
        </p:nvSpPr>
        <p:spPr>
          <a:xfrm>
            <a:off x="125190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3" name="Shape 178"/>
          <p:cNvSpPr/>
          <p:nvPr/>
        </p:nvSpPr>
        <p:spPr>
          <a:xfrm>
            <a:off x="131667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4" name="Shape 179"/>
          <p:cNvSpPr/>
          <p:nvPr/>
        </p:nvSpPr>
        <p:spPr>
          <a:xfrm>
            <a:off x="138144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5" name="Shape 180"/>
          <p:cNvSpPr/>
          <p:nvPr/>
        </p:nvSpPr>
        <p:spPr>
          <a:xfrm>
            <a:off x="144621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86" name="Shape 181"/>
          <p:cNvSpPr/>
          <p:nvPr/>
        </p:nvSpPr>
        <p:spPr>
          <a:xfrm>
            <a:off x="15109825" y="134516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187" name="Text 182"/>
          <p:cNvSpPr/>
          <p:nvPr/>
        </p:nvSpPr>
        <p:spPr>
          <a:xfrm>
            <a:off x="15336441" y="13600907"/>
            <a:ext cx="21351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8" name="Text 183"/>
          <p:cNvSpPr/>
          <p:nvPr/>
        </p:nvSpPr>
        <p:spPr>
          <a:xfrm>
            <a:off x="11395075" y="14248607"/>
            <a:ext cx="4572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89" name="Shape 184"/>
          <p:cNvSpPr/>
          <p:nvPr/>
        </p:nvSpPr>
        <p:spPr>
          <a:xfrm>
            <a:off x="118713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0" name="Shape 185"/>
          <p:cNvSpPr/>
          <p:nvPr/>
        </p:nvSpPr>
        <p:spPr>
          <a:xfrm>
            <a:off x="125190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1" name="Shape 186"/>
          <p:cNvSpPr/>
          <p:nvPr/>
        </p:nvSpPr>
        <p:spPr>
          <a:xfrm>
            <a:off x="131667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2" name="Shape 187"/>
          <p:cNvSpPr/>
          <p:nvPr/>
        </p:nvSpPr>
        <p:spPr>
          <a:xfrm>
            <a:off x="138144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3" name="Shape 188"/>
          <p:cNvSpPr/>
          <p:nvPr/>
        </p:nvSpPr>
        <p:spPr>
          <a:xfrm>
            <a:off x="144621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4" name="Shape 189"/>
          <p:cNvSpPr/>
          <p:nvPr/>
        </p:nvSpPr>
        <p:spPr>
          <a:xfrm>
            <a:off x="15109825" y="14099381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EDF1F7"/>
          </a:solidFill>
          <a:ln/>
        </p:spPr>
      </p:sp>
      <p:sp>
        <p:nvSpPr>
          <p:cNvPr id="195" name="Shape 190"/>
          <p:cNvSpPr/>
          <p:nvPr/>
        </p:nvSpPr>
        <p:spPr>
          <a:xfrm>
            <a:off x="15795625" y="11484372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E2A84E"/>
          </a:solidFill>
          <a:ln/>
        </p:spPr>
      </p:sp>
      <p:sp>
        <p:nvSpPr>
          <p:cNvPr id="196" name="Text 191"/>
          <p:cNvSpPr/>
          <p:nvPr/>
        </p:nvSpPr>
        <p:spPr>
          <a:xfrm>
            <a:off x="16309975" y="11272441"/>
            <a:ext cx="2959576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age + 1 </a:t>
            </a:r>
            <a:r>
              <a:rPr lang="en-US" sz="21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(stored edge)</a:t>
            </a:r>
            <a:endParaRPr lang="en-US" sz="2175" dirty="0"/>
          </a:p>
        </p:txBody>
      </p:sp>
      <p:sp>
        <p:nvSpPr>
          <p:cNvPr id="197" name="Shape 192"/>
          <p:cNvSpPr/>
          <p:nvPr/>
        </p:nvSpPr>
        <p:spPr>
          <a:xfrm>
            <a:off x="15795625" y="12267407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98" name="Text 193"/>
          <p:cNvSpPr/>
          <p:nvPr/>
        </p:nvSpPr>
        <p:spPr>
          <a:xfrm>
            <a:off x="16309975" y="12248754"/>
            <a:ext cx="2779157" cy="437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= 0 </a:t>
            </a:r>
            <a:r>
              <a:rPr lang="en-US" sz="21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edge)</a:t>
            </a:r>
            <a:endParaRPr lang="en-US" sz="2175" dirty="0"/>
          </a:p>
        </p:txBody>
      </p:sp>
      <p:sp>
        <p:nvSpPr>
          <p:cNvPr id="199" name="Shape 194"/>
          <p:cNvSpPr/>
          <p:nvPr/>
        </p:nvSpPr>
        <p:spPr>
          <a:xfrm>
            <a:off x="15795625" y="13044091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EDF1F7"/>
          </a:solidFill>
          <a:ln/>
        </p:spPr>
      </p:sp>
      <p:sp>
        <p:nvSpPr>
          <p:cNvPr id="200" name="Text 195"/>
          <p:cNvSpPr/>
          <p:nvPr/>
        </p:nvSpPr>
        <p:spPr>
          <a:xfrm>
            <a:off x="16309975" y="12838509"/>
            <a:ext cx="2959576" cy="811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triangle + diagonal — never stored</a:t>
            </a:r>
            <a:endParaRPr lang="en-US" sz="2175" dirty="0"/>
          </a:p>
        </p:txBody>
      </p:sp>
      <p:sp>
        <p:nvSpPr>
          <p:cNvPr id="201" name="Shape 196"/>
          <p:cNvSpPr/>
          <p:nvPr/>
        </p:nvSpPr>
        <p:spPr>
          <a:xfrm>
            <a:off x="10798176" y="15178882"/>
            <a:ext cx="8683625" cy="2561630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EE5D0"/>
            </a:solidFill>
            <a:prstDash val="solid"/>
          </a:ln>
        </p:spPr>
      </p:sp>
      <p:sp>
        <p:nvSpPr>
          <p:cNvPr id="202" name="Text 197"/>
          <p:cNvSpPr/>
          <p:nvPr/>
        </p:nvSpPr>
        <p:spPr>
          <a:xfrm>
            <a:off x="11039475" y="15343982"/>
            <a:ext cx="8447056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Half-adjacency indexing — flatten the 2D upper triangle into one 1D array, row by row:</a:t>
            </a:r>
            <a:endParaRPr lang="en-US" sz="2025" dirty="0"/>
          </a:p>
        </p:txBody>
      </p:sp>
      <p:sp>
        <p:nvSpPr>
          <p:cNvPr id="203" name="Shape 198"/>
          <p:cNvSpPr/>
          <p:nvPr/>
        </p:nvSpPr>
        <p:spPr>
          <a:xfrm>
            <a:off x="1103947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4" name="Text 199"/>
          <p:cNvSpPr/>
          <p:nvPr/>
        </p:nvSpPr>
        <p:spPr>
          <a:xfrm>
            <a:off x="1101407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75" dirty="0"/>
          </a:p>
        </p:txBody>
      </p:sp>
      <p:sp>
        <p:nvSpPr>
          <p:cNvPr id="205" name="Text 200"/>
          <p:cNvSpPr/>
          <p:nvPr/>
        </p:nvSpPr>
        <p:spPr>
          <a:xfrm>
            <a:off x="1101407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</a:t>
            </a:r>
            <a:endParaRPr lang="en-US" sz="1200" dirty="0"/>
          </a:p>
        </p:txBody>
      </p:sp>
      <p:sp>
        <p:nvSpPr>
          <p:cNvPr id="206" name="Shape 201"/>
          <p:cNvSpPr/>
          <p:nvPr/>
        </p:nvSpPr>
        <p:spPr>
          <a:xfrm>
            <a:off x="11589346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7" name="Text 202"/>
          <p:cNvSpPr/>
          <p:nvPr/>
        </p:nvSpPr>
        <p:spPr>
          <a:xfrm>
            <a:off x="11563945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75" dirty="0"/>
          </a:p>
        </p:txBody>
      </p:sp>
      <p:sp>
        <p:nvSpPr>
          <p:cNvPr id="208" name="Text 203"/>
          <p:cNvSpPr/>
          <p:nvPr/>
        </p:nvSpPr>
        <p:spPr>
          <a:xfrm>
            <a:off x="11563945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</a:t>
            </a:r>
            <a:endParaRPr lang="en-US" sz="1200" dirty="0"/>
          </a:p>
        </p:txBody>
      </p:sp>
      <p:sp>
        <p:nvSpPr>
          <p:cNvPr id="209" name="Shape 204"/>
          <p:cNvSpPr/>
          <p:nvPr/>
        </p:nvSpPr>
        <p:spPr>
          <a:xfrm>
            <a:off x="1213941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1211401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75" dirty="0"/>
          </a:p>
        </p:txBody>
      </p:sp>
      <p:sp>
        <p:nvSpPr>
          <p:cNvPr id="211" name="Text 206"/>
          <p:cNvSpPr/>
          <p:nvPr/>
        </p:nvSpPr>
        <p:spPr>
          <a:xfrm>
            <a:off x="1211401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</a:t>
            </a:r>
            <a:endParaRPr lang="en-US" sz="1200" dirty="0"/>
          </a:p>
        </p:txBody>
      </p:sp>
      <p:sp>
        <p:nvSpPr>
          <p:cNvPr id="212" name="Shape 207"/>
          <p:cNvSpPr/>
          <p:nvPr/>
        </p:nvSpPr>
        <p:spPr>
          <a:xfrm>
            <a:off x="12689285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3" name="Text 208"/>
          <p:cNvSpPr/>
          <p:nvPr/>
        </p:nvSpPr>
        <p:spPr>
          <a:xfrm>
            <a:off x="12663885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75" dirty="0"/>
          </a:p>
        </p:txBody>
      </p:sp>
      <p:sp>
        <p:nvSpPr>
          <p:cNvPr id="214" name="Text 209"/>
          <p:cNvSpPr/>
          <p:nvPr/>
        </p:nvSpPr>
        <p:spPr>
          <a:xfrm>
            <a:off x="12663885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</a:t>
            </a:r>
            <a:endParaRPr lang="en-US" sz="1200" dirty="0"/>
          </a:p>
        </p:txBody>
      </p:sp>
      <p:sp>
        <p:nvSpPr>
          <p:cNvPr id="215" name="Shape 210"/>
          <p:cNvSpPr/>
          <p:nvPr/>
        </p:nvSpPr>
        <p:spPr>
          <a:xfrm>
            <a:off x="1323935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6" name="Text 211"/>
          <p:cNvSpPr/>
          <p:nvPr/>
        </p:nvSpPr>
        <p:spPr>
          <a:xfrm>
            <a:off x="1321395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75" dirty="0"/>
          </a:p>
        </p:txBody>
      </p:sp>
      <p:sp>
        <p:nvSpPr>
          <p:cNvPr id="217" name="Text 212"/>
          <p:cNvSpPr/>
          <p:nvPr/>
        </p:nvSpPr>
        <p:spPr>
          <a:xfrm>
            <a:off x="1321395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</a:t>
            </a:r>
            <a:endParaRPr lang="en-US" sz="1200" dirty="0"/>
          </a:p>
        </p:txBody>
      </p:sp>
      <p:sp>
        <p:nvSpPr>
          <p:cNvPr id="218" name="Shape 213"/>
          <p:cNvSpPr/>
          <p:nvPr/>
        </p:nvSpPr>
        <p:spPr>
          <a:xfrm>
            <a:off x="13789223" y="16023431"/>
            <a:ext cx="502444" cy="563959"/>
          </a:xfrm>
          <a:prstGeom prst="roundRect">
            <a:avLst>
              <a:gd name="adj" fmla="val 11374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9" name="Text 214"/>
          <p:cNvSpPr/>
          <p:nvPr/>
        </p:nvSpPr>
        <p:spPr>
          <a:xfrm>
            <a:off x="13763824" y="16102807"/>
            <a:ext cx="553244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75" dirty="0"/>
          </a:p>
        </p:txBody>
      </p:sp>
      <p:sp>
        <p:nvSpPr>
          <p:cNvPr id="220" name="Text 215"/>
          <p:cNvSpPr/>
          <p:nvPr/>
        </p:nvSpPr>
        <p:spPr>
          <a:xfrm>
            <a:off x="13763824" y="16332796"/>
            <a:ext cx="553244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</a:t>
            </a:r>
            <a:endParaRPr lang="en-US" sz="1200" dirty="0"/>
          </a:p>
        </p:txBody>
      </p:sp>
      <p:sp>
        <p:nvSpPr>
          <p:cNvPr id="221" name="Shape 216"/>
          <p:cNvSpPr/>
          <p:nvPr/>
        </p:nvSpPr>
        <p:spPr>
          <a:xfrm>
            <a:off x="14339292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E2A84E"/>
          </a:solidFill>
          <a:ln w="12700">
            <a:solidFill>
              <a:srgbClr val="E2A84E"/>
            </a:solidFill>
            <a:prstDash val="solid"/>
          </a:ln>
        </p:spPr>
      </p:sp>
      <p:sp>
        <p:nvSpPr>
          <p:cNvPr id="222" name="Text 217"/>
          <p:cNvSpPr/>
          <p:nvPr/>
        </p:nvSpPr>
        <p:spPr>
          <a:xfrm>
            <a:off x="14313893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75" dirty="0"/>
          </a:p>
        </p:txBody>
      </p:sp>
      <p:sp>
        <p:nvSpPr>
          <p:cNvPr id="223" name="Text 218"/>
          <p:cNvSpPr/>
          <p:nvPr/>
        </p:nvSpPr>
        <p:spPr>
          <a:xfrm>
            <a:off x="14313893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</a:t>
            </a:r>
            <a:endParaRPr lang="en-US" sz="1200" dirty="0"/>
          </a:p>
        </p:txBody>
      </p:sp>
      <p:sp>
        <p:nvSpPr>
          <p:cNvPr id="224" name="Shape 219"/>
          <p:cNvSpPr/>
          <p:nvPr/>
        </p:nvSpPr>
        <p:spPr>
          <a:xfrm>
            <a:off x="1488916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14863762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75" dirty="0"/>
          </a:p>
        </p:txBody>
      </p:sp>
      <p:sp>
        <p:nvSpPr>
          <p:cNvPr id="226" name="Text 221"/>
          <p:cNvSpPr/>
          <p:nvPr/>
        </p:nvSpPr>
        <p:spPr>
          <a:xfrm>
            <a:off x="14863762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</a:t>
            </a:r>
            <a:endParaRPr lang="en-US" sz="1200" dirty="0"/>
          </a:p>
        </p:txBody>
      </p:sp>
      <p:sp>
        <p:nvSpPr>
          <p:cNvPr id="227" name="Shape 222"/>
          <p:cNvSpPr/>
          <p:nvPr/>
        </p:nvSpPr>
        <p:spPr>
          <a:xfrm>
            <a:off x="1543903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1541363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75" dirty="0"/>
          </a:p>
        </p:txBody>
      </p:sp>
      <p:sp>
        <p:nvSpPr>
          <p:cNvPr id="229" name="Text 224"/>
          <p:cNvSpPr/>
          <p:nvPr/>
        </p:nvSpPr>
        <p:spPr>
          <a:xfrm>
            <a:off x="1541363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</a:t>
            </a:r>
            <a:endParaRPr lang="en-US" sz="1200" dirty="0"/>
          </a:p>
        </p:txBody>
      </p:sp>
      <p:sp>
        <p:nvSpPr>
          <p:cNvPr id="230" name="Shape 225"/>
          <p:cNvSpPr/>
          <p:nvPr/>
        </p:nvSpPr>
        <p:spPr>
          <a:xfrm>
            <a:off x="15988903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1596350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75" dirty="0"/>
          </a:p>
        </p:txBody>
      </p:sp>
      <p:sp>
        <p:nvSpPr>
          <p:cNvPr id="232" name="Text 227"/>
          <p:cNvSpPr/>
          <p:nvPr/>
        </p:nvSpPr>
        <p:spPr>
          <a:xfrm>
            <a:off x="1596350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</a:t>
            </a:r>
            <a:endParaRPr lang="en-US" sz="1200" dirty="0"/>
          </a:p>
        </p:txBody>
      </p:sp>
      <p:sp>
        <p:nvSpPr>
          <p:cNvPr id="233" name="Shape 228"/>
          <p:cNvSpPr/>
          <p:nvPr/>
        </p:nvSpPr>
        <p:spPr>
          <a:xfrm>
            <a:off x="1653877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16513373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75" dirty="0"/>
          </a:p>
        </p:txBody>
      </p:sp>
      <p:sp>
        <p:nvSpPr>
          <p:cNvPr id="235" name="Text 230"/>
          <p:cNvSpPr/>
          <p:nvPr/>
        </p:nvSpPr>
        <p:spPr>
          <a:xfrm>
            <a:off x="16513373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</a:t>
            </a:r>
            <a:endParaRPr lang="en-US" sz="1200" dirty="0"/>
          </a:p>
        </p:txBody>
      </p:sp>
      <p:sp>
        <p:nvSpPr>
          <p:cNvPr id="236" name="Shape 231"/>
          <p:cNvSpPr/>
          <p:nvPr/>
        </p:nvSpPr>
        <p:spPr>
          <a:xfrm>
            <a:off x="1708864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7" name="Text 232"/>
          <p:cNvSpPr/>
          <p:nvPr/>
        </p:nvSpPr>
        <p:spPr>
          <a:xfrm>
            <a:off x="1706324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75" dirty="0"/>
          </a:p>
        </p:txBody>
      </p:sp>
      <p:sp>
        <p:nvSpPr>
          <p:cNvPr id="238" name="Text 233"/>
          <p:cNvSpPr/>
          <p:nvPr/>
        </p:nvSpPr>
        <p:spPr>
          <a:xfrm>
            <a:off x="1706324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</a:t>
            </a:r>
            <a:endParaRPr lang="en-US" sz="1200" dirty="0"/>
          </a:p>
        </p:txBody>
      </p:sp>
      <p:sp>
        <p:nvSpPr>
          <p:cNvPr id="239" name="Shape 234"/>
          <p:cNvSpPr/>
          <p:nvPr/>
        </p:nvSpPr>
        <p:spPr>
          <a:xfrm>
            <a:off x="17638514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761311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75" dirty="0"/>
          </a:p>
        </p:txBody>
      </p:sp>
      <p:sp>
        <p:nvSpPr>
          <p:cNvPr id="241" name="Text 236"/>
          <p:cNvSpPr/>
          <p:nvPr/>
        </p:nvSpPr>
        <p:spPr>
          <a:xfrm>
            <a:off x="1761311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</a:t>
            </a:r>
            <a:endParaRPr lang="en-US" sz="1200" dirty="0"/>
          </a:p>
        </p:txBody>
      </p:sp>
      <p:sp>
        <p:nvSpPr>
          <p:cNvPr id="242" name="Shape 237"/>
          <p:cNvSpPr/>
          <p:nvPr/>
        </p:nvSpPr>
        <p:spPr>
          <a:xfrm>
            <a:off x="1818838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3" name="Text 238"/>
          <p:cNvSpPr/>
          <p:nvPr/>
        </p:nvSpPr>
        <p:spPr>
          <a:xfrm>
            <a:off x="18162984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75" dirty="0"/>
          </a:p>
        </p:txBody>
      </p:sp>
      <p:sp>
        <p:nvSpPr>
          <p:cNvPr id="244" name="Text 239"/>
          <p:cNvSpPr/>
          <p:nvPr/>
        </p:nvSpPr>
        <p:spPr>
          <a:xfrm>
            <a:off x="18162984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</a:t>
            </a:r>
            <a:endParaRPr lang="en-US" sz="1200" dirty="0"/>
          </a:p>
        </p:txBody>
      </p:sp>
      <p:sp>
        <p:nvSpPr>
          <p:cNvPr id="245" name="Shape 240"/>
          <p:cNvSpPr/>
          <p:nvPr/>
        </p:nvSpPr>
        <p:spPr>
          <a:xfrm>
            <a:off x="18738255" y="16023431"/>
            <a:ext cx="502245" cy="563959"/>
          </a:xfrm>
          <a:prstGeom prst="roundRect">
            <a:avLst>
              <a:gd name="adj" fmla="val 11379"/>
            </a:avLst>
          </a:prstGeom>
          <a:solidFill>
            <a:srgbClr val="F6F8FB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6" name="Text 241"/>
          <p:cNvSpPr/>
          <p:nvPr/>
        </p:nvSpPr>
        <p:spPr>
          <a:xfrm>
            <a:off x="18712855" y="16102807"/>
            <a:ext cx="553045" cy="268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75" dirty="0"/>
          </a:p>
        </p:txBody>
      </p:sp>
      <p:sp>
        <p:nvSpPr>
          <p:cNvPr id="247" name="Text 242"/>
          <p:cNvSpPr/>
          <p:nvPr/>
        </p:nvSpPr>
        <p:spPr>
          <a:xfrm>
            <a:off x="18712855" y="16332796"/>
            <a:ext cx="553045" cy="213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4,5</a:t>
            </a:r>
            <a:endParaRPr lang="en-US" sz="1200" dirty="0"/>
          </a:p>
        </p:txBody>
      </p:sp>
      <p:sp>
        <p:nvSpPr>
          <p:cNvPr id="248" name="Text 243"/>
          <p:cNvSpPr/>
          <p:nvPr/>
        </p:nvSpPr>
        <p:spPr>
          <a:xfrm>
            <a:off x="11408569" y="16957477"/>
            <a:ext cx="13771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idx(i, j) =</a:t>
            </a:r>
            <a:endParaRPr lang="en-US" sz="2400" dirty="0"/>
          </a:p>
        </p:txBody>
      </p:sp>
      <p:sp>
        <p:nvSpPr>
          <p:cNvPr id="249" name="Text 244"/>
          <p:cNvSpPr/>
          <p:nvPr/>
        </p:nvSpPr>
        <p:spPr>
          <a:xfrm>
            <a:off x="12927211" y="16701691"/>
            <a:ext cx="2443817" cy="4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(2N</a:t>
            </a:r>
            <a:r>
              <a:rPr lang="en-US" sz="2000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</a:t>
            </a: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i − 1)</a:t>
            </a:r>
            <a:endParaRPr lang="en-US" sz="2400" dirty="0"/>
          </a:p>
        </p:txBody>
      </p:sp>
      <p:sp>
        <p:nvSpPr>
          <p:cNvPr id="250" name="Shape 245"/>
          <p:cNvSpPr/>
          <p:nvPr/>
        </p:nvSpPr>
        <p:spPr>
          <a:xfrm>
            <a:off x="13828118" y="17153137"/>
            <a:ext cx="398859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251" name="Text 246"/>
          <p:cNvSpPr/>
          <p:nvPr/>
        </p:nvSpPr>
        <p:spPr>
          <a:xfrm>
            <a:off x="13942418" y="17213462"/>
            <a:ext cx="2101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52" name="Text 247"/>
          <p:cNvSpPr/>
          <p:nvPr/>
        </p:nvSpPr>
        <p:spPr>
          <a:xfrm>
            <a:off x="15394781" y="16957477"/>
            <a:ext cx="16440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(j − i − 1)</a:t>
            </a:r>
            <a:endParaRPr lang="en-US" sz="2400" dirty="0"/>
          </a:p>
        </p:txBody>
      </p:sp>
      <p:sp>
        <p:nvSpPr>
          <p:cNvPr id="253" name="Text 248"/>
          <p:cNvSpPr/>
          <p:nvPr/>
        </p:nvSpPr>
        <p:spPr>
          <a:xfrm>
            <a:off x="17041813" y="16982877"/>
            <a:ext cx="201233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(1,3) → cell 6</a:t>
            </a:r>
            <a:endParaRPr lang="en-US" sz="1725" dirty="0"/>
          </a:p>
        </p:txBody>
      </p:sp>
      <p:sp>
        <p:nvSpPr>
          <p:cNvPr id="254" name="Shape 249"/>
          <p:cNvSpPr/>
          <p:nvPr/>
        </p:nvSpPr>
        <p:spPr>
          <a:xfrm>
            <a:off x="10798176" y="17931011"/>
            <a:ext cx="8683625" cy="1714500"/>
          </a:xfrm>
          <a:prstGeom prst="roundRect">
            <a:avLst>
              <a:gd name="adj" fmla="val 7778"/>
            </a:avLst>
          </a:prstGeom>
          <a:ln w="12700">
            <a:solidFill>
              <a:srgbClr val="EEE5D0"/>
            </a:solidFill>
            <a:prstDash val="solid"/>
          </a:ln>
        </p:spPr>
      </p:sp>
      <p:sp>
        <p:nvSpPr>
          <p:cNvPr id="255" name="Shape 250"/>
          <p:cNvSpPr/>
          <p:nvPr/>
        </p:nvSpPr>
        <p:spPr>
          <a:xfrm>
            <a:off x="10810875" y="17943712"/>
            <a:ext cx="8658225" cy="558800"/>
          </a:xfrm>
          <a:prstGeom prst="rect">
            <a:avLst/>
          </a:prstGeom>
          <a:solidFill>
            <a:srgbClr val="9A6717"/>
          </a:solidFill>
          <a:ln/>
        </p:spPr>
      </p:sp>
      <p:sp>
        <p:nvSpPr>
          <p:cNvPr id="256" name="Text 251"/>
          <p:cNvSpPr/>
          <p:nvPr/>
        </p:nvSpPr>
        <p:spPr>
          <a:xfrm>
            <a:off x="11039475" y="18077062"/>
            <a:ext cx="360840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950" dirty="0"/>
          </a:p>
        </p:txBody>
      </p:sp>
      <p:sp>
        <p:nvSpPr>
          <p:cNvPr id="257" name="Text 252"/>
          <p:cNvSpPr/>
          <p:nvPr/>
        </p:nvSpPr>
        <p:spPr>
          <a:xfrm>
            <a:off x="14155837" y="18077062"/>
            <a:ext cx="180409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950" dirty="0"/>
          </a:p>
        </p:txBody>
      </p:sp>
      <p:sp>
        <p:nvSpPr>
          <p:cNvPr id="258" name="Text 253"/>
          <p:cNvSpPr/>
          <p:nvPr/>
        </p:nvSpPr>
        <p:spPr>
          <a:xfrm>
            <a:off x="15795903" y="18077062"/>
            <a:ext cx="180431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950" dirty="0"/>
          </a:p>
        </p:txBody>
      </p:sp>
      <p:sp>
        <p:nvSpPr>
          <p:cNvPr id="259" name="Text 254"/>
          <p:cNvSpPr/>
          <p:nvPr/>
        </p:nvSpPr>
        <p:spPr>
          <a:xfrm>
            <a:off x="17436208" y="18077062"/>
            <a:ext cx="180409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950" dirty="0"/>
          </a:p>
        </p:txBody>
      </p:sp>
      <p:sp>
        <p:nvSpPr>
          <p:cNvPr id="260" name="Shape 255"/>
          <p:cNvSpPr/>
          <p:nvPr/>
        </p:nvSpPr>
        <p:spPr>
          <a:xfrm>
            <a:off x="10810875" y="18502511"/>
            <a:ext cx="8658225" cy="565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1" name="Text 256"/>
          <p:cNvSpPr/>
          <p:nvPr/>
        </p:nvSpPr>
        <p:spPr>
          <a:xfrm>
            <a:off x="11039475" y="18626336"/>
            <a:ext cx="3608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adjacency (baseline)</a:t>
            </a:r>
            <a:endParaRPr lang="en-US" sz="2100" dirty="0"/>
          </a:p>
        </p:txBody>
      </p:sp>
      <p:sp>
        <p:nvSpPr>
          <p:cNvPr id="262" name="Text 257"/>
          <p:cNvSpPr/>
          <p:nvPr/>
        </p:nvSpPr>
        <p:spPr>
          <a:xfrm>
            <a:off x="14155837" y="18626336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</a:t>
            </a:r>
            <a:endParaRPr lang="en-US" sz="1950" dirty="0"/>
          </a:p>
        </p:txBody>
      </p:sp>
      <p:sp>
        <p:nvSpPr>
          <p:cNvPr id="263" name="Text 258"/>
          <p:cNvSpPr/>
          <p:nvPr/>
        </p:nvSpPr>
        <p:spPr>
          <a:xfrm>
            <a:off x="15795903" y="18626336"/>
            <a:ext cx="18043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1,600 B</a:t>
            </a:r>
            <a:endParaRPr lang="en-US" sz="1950" dirty="0"/>
          </a:p>
        </p:txBody>
      </p:sp>
      <p:sp>
        <p:nvSpPr>
          <p:cNvPr id="264" name="Text 259"/>
          <p:cNvSpPr/>
          <p:nvPr/>
        </p:nvSpPr>
        <p:spPr>
          <a:xfrm>
            <a:off x="17436208" y="18626336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 B</a:t>
            </a:r>
            <a:endParaRPr lang="en-US" sz="1950" dirty="0"/>
          </a:p>
        </p:txBody>
      </p:sp>
      <p:sp>
        <p:nvSpPr>
          <p:cNvPr id="265" name="Shape 260"/>
          <p:cNvSpPr/>
          <p:nvPr/>
        </p:nvSpPr>
        <p:spPr>
          <a:xfrm>
            <a:off x="10810875" y="19067662"/>
            <a:ext cx="8658225" cy="565150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266" name="Text 261"/>
          <p:cNvSpPr/>
          <p:nvPr/>
        </p:nvSpPr>
        <p:spPr>
          <a:xfrm>
            <a:off x="11039475" y="19191487"/>
            <a:ext cx="3608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Edge-cells (proposed)</a:t>
            </a:r>
            <a:endParaRPr lang="en-US" sz="2100" dirty="0"/>
          </a:p>
        </p:txBody>
      </p:sp>
      <p:sp>
        <p:nvSpPr>
          <p:cNvPr id="267" name="Text 262"/>
          <p:cNvSpPr/>
          <p:nvPr/>
        </p:nvSpPr>
        <p:spPr>
          <a:xfrm>
            <a:off x="14155837" y="19191487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</a:t>
            </a:r>
            <a:endParaRPr lang="en-US" sz="1950" dirty="0"/>
          </a:p>
        </p:txBody>
      </p:sp>
      <p:sp>
        <p:nvSpPr>
          <p:cNvPr id="268" name="Text 263"/>
          <p:cNvSpPr/>
          <p:nvPr/>
        </p:nvSpPr>
        <p:spPr>
          <a:xfrm>
            <a:off x="15795903" y="19191487"/>
            <a:ext cx="18043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 B</a:t>
            </a:r>
            <a:endParaRPr lang="en-US" sz="1950" dirty="0"/>
          </a:p>
        </p:txBody>
      </p:sp>
      <p:sp>
        <p:nvSpPr>
          <p:cNvPr id="269" name="Text 264"/>
          <p:cNvSpPr/>
          <p:nvPr/>
        </p:nvSpPr>
        <p:spPr>
          <a:xfrm>
            <a:off x="17436208" y="19191487"/>
            <a:ext cx="180409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1,180 B</a:t>
            </a:r>
            <a:endParaRPr lang="en-US" sz="1950" dirty="0"/>
          </a:p>
        </p:txBody>
      </p:sp>
      <p:sp>
        <p:nvSpPr>
          <p:cNvPr id="270" name="Text 265"/>
          <p:cNvSpPr/>
          <p:nvPr/>
        </p:nvSpPr>
        <p:spPr>
          <a:xfrm>
            <a:off x="10667921" y="19836012"/>
            <a:ext cx="8944134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−51.25% edge storage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02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 total graph state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</a:t>
            </a:r>
            <a:r>
              <a:rPr lang="en-US" sz="1688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 — freeing BRAM for application logic.</a:t>
            </a:r>
            <a:endParaRPr lang="en-US" sz="2025" dirty="0"/>
          </a:p>
        </p:txBody>
      </p:sp>
      <p:sp>
        <p:nvSpPr>
          <p:cNvPr id="271" name="Shape 266"/>
          <p:cNvSpPr/>
          <p:nvPr/>
        </p:nvSpPr>
        <p:spPr>
          <a:xfrm>
            <a:off x="10461625" y="20777399"/>
            <a:ext cx="9356725" cy="19397465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272" name="Shape 267"/>
          <p:cNvSpPr/>
          <p:nvPr/>
        </p:nvSpPr>
        <p:spPr>
          <a:xfrm>
            <a:off x="10798176" y="21507648"/>
            <a:ext cx="86836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273" name="Text 268"/>
          <p:cNvSpPr/>
          <p:nvPr/>
        </p:nvSpPr>
        <p:spPr>
          <a:xfrm>
            <a:off x="10798176" y="20828198"/>
            <a:ext cx="955198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Fixed-Point Arithmetic</a:t>
            </a:r>
            <a:endParaRPr lang="en-US" sz="3750" dirty="0"/>
          </a:p>
        </p:txBody>
      </p:sp>
      <p:sp>
        <p:nvSpPr>
          <p:cNvPr id="274" name="Text 269"/>
          <p:cNvSpPr/>
          <p:nvPr/>
        </p:nvSpPr>
        <p:spPr>
          <a:xfrm>
            <a:off x="10798176" y="22347436"/>
            <a:ext cx="6452203" cy="13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datapath </a:t>
            </a: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floating-point unit. The whole engine runs on a </a:t>
            </a:r>
            <a:r>
              <a:rPr lang="en-US" sz="22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Nano 9K @ 27 MHz </a:t>
            </a:r>
            <a:r>
              <a:rPr lang="en-US" sz="22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(single FSM, 3 BRAMs, UART 1 Mbit/s).</a:t>
            </a:r>
            <a:endParaRPr lang="en-US" sz="2250" dirty="0"/>
          </a:p>
        </p:txBody>
      </p:sp>
      <p:sp>
        <p:nvSpPr>
          <p:cNvPr id="275" name="Shape 270"/>
          <p:cNvSpPr/>
          <p:nvPr/>
        </p:nvSpPr>
        <p:spPr>
          <a:xfrm>
            <a:off x="17291050" y="21637823"/>
            <a:ext cx="2190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27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9951" y="21726725"/>
            <a:ext cx="2012950" cy="2012950"/>
          </a:xfrm>
          <a:prstGeom prst="rect">
            <a:avLst/>
          </a:prstGeom>
        </p:spPr>
      </p:pic>
      <p:sp>
        <p:nvSpPr>
          <p:cNvPr id="277" name="Text 271"/>
          <p:cNvSpPr/>
          <p:nvPr/>
        </p:nvSpPr>
        <p:spPr>
          <a:xfrm>
            <a:off x="17252950" y="23885723"/>
            <a:ext cx="22669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Nano 9K · GW1NR-9C</a:t>
            </a:r>
            <a:endParaRPr lang="en-US" sz="1575" dirty="0"/>
          </a:p>
        </p:txBody>
      </p:sp>
      <p:sp>
        <p:nvSpPr>
          <p:cNvPr id="278" name="Text 272"/>
          <p:cNvSpPr/>
          <p:nvPr/>
        </p:nvSpPr>
        <p:spPr>
          <a:xfrm>
            <a:off x="10798176" y="24473099"/>
            <a:ext cx="8944134" cy="797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representation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16-bit signed integers in </a:t>
            </a:r>
            <a:r>
              <a:rPr lang="en-US" sz="21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[−1000, 1000]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min-max normalization:</a:t>
            </a:r>
            <a:endParaRPr lang="en-US" sz="2100" dirty="0"/>
          </a:p>
        </p:txBody>
      </p:sp>
      <p:sp>
        <p:nvSpPr>
          <p:cNvPr id="279" name="Text 273"/>
          <p:cNvSpPr/>
          <p:nvPr/>
        </p:nvSpPr>
        <p:spPr>
          <a:xfrm>
            <a:off x="12282488" y="25537120"/>
            <a:ext cx="106005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250" dirty="0"/>
          </a:p>
        </p:txBody>
      </p:sp>
      <p:sp>
        <p:nvSpPr>
          <p:cNvPr id="280" name="Text 274"/>
          <p:cNvSpPr/>
          <p:nvPr/>
        </p:nvSpPr>
        <p:spPr>
          <a:xfrm>
            <a:off x="13399691" y="25565695"/>
            <a:ext cx="18335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endParaRPr lang="en-US" sz="2250" dirty="0"/>
          </a:p>
        </p:txBody>
      </p:sp>
      <p:sp>
        <p:nvSpPr>
          <p:cNvPr id="281" name="Text 275"/>
          <p:cNvSpPr/>
          <p:nvPr/>
        </p:nvSpPr>
        <p:spPr>
          <a:xfrm>
            <a:off x="13968016" y="25298995"/>
            <a:ext cx="11506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endParaRPr lang="en-US" sz="2250" dirty="0"/>
          </a:p>
        </p:txBody>
      </p:sp>
      <p:sp>
        <p:nvSpPr>
          <p:cNvPr id="282" name="Shape 276"/>
          <p:cNvSpPr/>
          <p:nvPr/>
        </p:nvSpPr>
        <p:spPr>
          <a:xfrm>
            <a:off x="13640198" y="25724446"/>
            <a:ext cx="1684536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283" name="Text 277"/>
          <p:cNvSpPr/>
          <p:nvPr/>
        </p:nvSpPr>
        <p:spPr>
          <a:xfrm>
            <a:off x="13735448" y="25775246"/>
            <a:ext cx="166249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endParaRPr lang="en-US" sz="2250" dirty="0"/>
          </a:p>
        </p:txBody>
      </p:sp>
      <p:sp>
        <p:nvSpPr>
          <p:cNvPr id="284" name="Text 278"/>
          <p:cNvSpPr/>
          <p:nvPr/>
        </p:nvSpPr>
        <p:spPr>
          <a:xfrm>
            <a:off x="15458083" y="25565695"/>
            <a:ext cx="18335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285" name="Text 279"/>
          <p:cNvSpPr/>
          <p:nvPr/>
        </p:nvSpPr>
        <p:spPr>
          <a:xfrm>
            <a:off x="15698589" y="25565695"/>
            <a:ext cx="10985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2s − s ,</a:t>
            </a:r>
            <a:endParaRPr lang="en-US" sz="2250" dirty="0"/>
          </a:p>
        </p:txBody>
      </p:sp>
      <p:sp>
        <p:nvSpPr>
          <p:cNvPr id="286" name="Text 280"/>
          <p:cNvSpPr/>
          <p:nvPr/>
        </p:nvSpPr>
        <p:spPr>
          <a:xfrm>
            <a:off x="16854290" y="25578397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1000</a:t>
            </a:r>
            <a:endParaRPr lang="en-US" sz="1875" dirty="0"/>
          </a:p>
        </p:txBody>
      </p:sp>
      <p:sp>
        <p:nvSpPr>
          <p:cNvPr id="287" name="Text 281"/>
          <p:cNvSpPr/>
          <p:nvPr/>
        </p:nvSpPr>
        <p:spPr>
          <a:xfrm>
            <a:off x="10798176" y="26267371"/>
            <a:ext cx="95519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80-bit node word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BRAM entry per node:</a:t>
            </a:r>
            <a:endParaRPr lang="en-US" sz="2100" dirty="0"/>
          </a:p>
        </p:txBody>
      </p:sp>
      <p:sp>
        <p:nvSpPr>
          <p:cNvPr id="288" name="Shape 282"/>
          <p:cNvSpPr/>
          <p:nvPr/>
        </p:nvSpPr>
        <p:spPr>
          <a:xfrm>
            <a:off x="10798176" y="26664247"/>
            <a:ext cx="8709025" cy="527050"/>
          </a:xfrm>
          <a:prstGeom prst="roundRect">
            <a:avLst>
              <a:gd name="adj" fmla="val 21687"/>
            </a:avLst>
          </a:prstGeom>
          <a:ln w="12700">
            <a:solidFill>
              <a:srgbClr val="C9D4E4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10810875" y="26676946"/>
            <a:ext cx="1933774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0" name="Shape 284"/>
          <p:cNvSpPr/>
          <p:nvPr/>
        </p:nvSpPr>
        <p:spPr>
          <a:xfrm>
            <a:off x="12731949" y="26676946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1" name="Text 285"/>
          <p:cNvSpPr/>
          <p:nvPr/>
        </p:nvSpPr>
        <p:spPr>
          <a:xfrm>
            <a:off x="10772775" y="26781721"/>
            <a:ext cx="199727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[16]</a:t>
            </a:r>
            <a:endParaRPr lang="en-US" sz="1800" dirty="0"/>
          </a:p>
        </p:txBody>
      </p:sp>
      <p:sp>
        <p:nvSpPr>
          <p:cNvPr id="292" name="Shape 286"/>
          <p:cNvSpPr/>
          <p:nvPr/>
        </p:nvSpPr>
        <p:spPr>
          <a:xfrm>
            <a:off x="12744649" y="26676946"/>
            <a:ext cx="1933972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3" name="Shape 287"/>
          <p:cNvSpPr/>
          <p:nvPr/>
        </p:nvSpPr>
        <p:spPr>
          <a:xfrm>
            <a:off x="14665921" y="26676946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4" name="Text 288"/>
          <p:cNvSpPr/>
          <p:nvPr/>
        </p:nvSpPr>
        <p:spPr>
          <a:xfrm>
            <a:off x="12706549" y="26781721"/>
            <a:ext cx="199747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[16]</a:t>
            </a:r>
            <a:endParaRPr lang="en-US" sz="1800" dirty="0"/>
          </a:p>
        </p:txBody>
      </p:sp>
      <p:sp>
        <p:nvSpPr>
          <p:cNvPr id="295" name="Shape 289"/>
          <p:cNvSpPr/>
          <p:nvPr/>
        </p:nvSpPr>
        <p:spPr>
          <a:xfrm>
            <a:off x="14678620" y="26676946"/>
            <a:ext cx="973336" cy="501650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296" name="Shape 290"/>
          <p:cNvSpPr/>
          <p:nvPr/>
        </p:nvSpPr>
        <p:spPr>
          <a:xfrm>
            <a:off x="15639256" y="26676946"/>
            <a:ext cx="12700" cy="501650"/>
          </a:xfrm>
          <a:prstGeom prst="rect">
            <a:avLst/>
          </a:prstGeom>
          <a:solidFill>
            <a:srgbClr val="C9D4E4"/>
          </a:solidFill>
          <a:ln/>
        </p:spPr>
      </p:sp>
      <p:sp>
        <p:nvSpPr>
          <p:cNvPr id="297" name="Text 291"/>
          <p:cNvSpPr/>
          <p:nvPr/>
        </p:nvSpPr>
        <p:spPr>
          <a:xfrm>
            <a:off x="14640520" y="26781721"/>
            <a:ext cx="10368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 [8]</a:t>
            </a:r>
            <a:endParaRPr lang="en-US" sz="1800" dirty="0"/>
          </a:p>
        </p:txBody>
      </p:sp>
      <p:sp>
        <p:nvSpPr>
          <p:cNvPr id="298" name="Shape 292"/>
          <p:cNvSpPr/>
          <p:nvPr/>
        </p:nvSpPr>
        <p:spPr>
          <a:xfrm>
            <a:off x="15651956" y="26676946"/>
            <a:ext cx="3842544" cy="50165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299" name="Text 293"/>
          <p:cNvSpPr/>
          <p:nvPr/>
        </p:nvSpPr>
        <p:spPr>
          <a:xfrm>
            <a:off x="15594318" y="26781721"/>
            <a:ext cx="39578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[32]</a:t>
            </a:r>
            <a:endParaRPr lang="en-US" sz="1800" dirty="0"/>
          </a:p>
        </p:txBody>
      </p:sp>
      <p:sp>
        <p:nvSpPr>
          <p:cNvPr id="300" name="Text 294"/>
          <p:cNvSpPr/>
          <p:nvPr/>
        </p:nvSpPr>
        <p:spPr>
          <a:xfrm>
            <a:off x="10798176" y="27296071"/>
            <a:ext cx="8944134" cy="797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Squared-distance unit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maps directly onto a 9×9 DSP multiplier, overflow-free:</a:t>
            </a:r>
            <a:endParaRPr lang="en-US" sz="2100" dirty="0"/>
          </a:p>
        </p:txBody>
      </p:sp>
      <p:sp>
        <p:nvSpPr>
          <p:cNvPr id="301" name="Text 295"/>
          <p:cNvSpPr/>
          <p:nvPr/>
        </p:nvSpPr>
        <p:spPr>
          <a:xfrm>
            <a:off x="12677379" y="28121967"/>
            <a:ext cx="5417741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 = ξ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Δy = ξ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</a:t>
            </a: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y</a:t>
            </a:r>
            <a:r>
              <a:rPr lang="en-US" sz="1813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</a:t>
            </a:r>
            <a:r>
              <a:rPr lang="en-US" sz="15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17-bit signed</a:t>
            </a:r>
            <a:endParaRPr lang="en-US" sz="2175" dirty="0"/>
          </a:p>
        </p:txBody>
      </p:sp>
      <p:sp>
        <p:nvSpPr>
          <p:cNvPr id="302" name="Text 296"/>
          <p:cNvSpPr/>
          <p:nvPr/>
        </p:nvSpPr>
        <p:spPr>
          <a:xfrm>
            <a:off x="13244513" y="28780383"/>
            <a:ext cx="416982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d² = Δx² + Δy² </a:t>
            </a:r>
            <a:r>
              <a:rPr lang="en-US" sz="157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35-bit unsigned</a:t>
            </a:r>
            <a:endParaRPr lang="en-US" sz="2175" dirty="0"/>
          </a:p>
        </p:txBody>
      </p:sp>
      <p:sp>
        <p:nvSpPr>
          <p:cNvPr id="303" name="Text 297"/>
          <p:cNvSpPr/>
          <p:nvPr/>
        </p:nvSpPr>
        <p:spPr>
          <a:xfrm>
            <a:off x="10798176" y="29202659"/>
            <a:ext cx="955198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learning rates </a:t>
            </a:r>
            <a:r>
              <a:rPr lang="en-US" sz="21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multiply + shift each (single DSP cycle):</a:t>
            </a:r>
            <a:endParaRPr lang="en-US" sz="2100" dirty="0"/>
          </a:p>
        </p:txBody>
      </p:sp>
      <p:sp>
        <p:nvSpPr>
          <p:cNvPr id="304" name="Shape 298"/>
          <p:cNvSpPr/>
          <p:nvPr/>
        </p:nvSpPr>
        <p:spPr>
          <a:xfrm>
            <a:off x="10798176" y="29637633"/>
            <a:ext cx="8683625" cy="920750"/>
          </a:xfrm>
          <a:prstGeom prst="roundRect">
            <a:avLst>
              <a:gd name="adj" fmla="val 12414"/>
            </a:avLst>
          </a:prstGeom>
          <a:solidFill>
            <a:srgbClr val="F0F5FC"/>
          </a:solidFill>
          <a:ln/>
        </p:spPr>
      </p:sp>
      <p:sp>
        <p:nvSpPr>
          <p:cNvPr id="305" name="Text 299"/>
          <p:cNvSpPr/>
          <p:nvPr/>
        </p:nvSpPr>
        <p:spPr>
          <a:xfrm>
            <a:off x="11007726" y="29964659"/>
            <a:ext cx="2095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(Q8)</a:t>
            </a:r>
            <a:endParaRPr lang="en-US" sz="1800" dirty="0"/>
          </a:p>
        </p:txBody>
      </p:sp>
      <p:sp>
        <p:nvSpPr>
          <p:cNvPr id="306" name="Text 300"/>
          <p:cNvSpPr/>
          <p:nvPr/>
        </p:nvSpPr>
        <p:spPr>
          <a:xfrm>
            <a:off x="13065126" y="29932908"/>
            <a:ext cx="410368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</a:t>
            </a:r>
            <a:endParaRPr lang="en-US" sz="2250" dirty="0"/>
          </a:p>
        </p:txBody>
      </p:sp>
      <p:sp>
        <p:nvSpPr>
          <p:cNvPr id="307" name="Text 301"/>
          <p:cNvSpPr/>
          <p:nvPr/>
        </p:nvSpPr>
        <p:spPr>
          <a:xfrm>
            <a:off x="13513594" y="29964659"/>
            <a:ext cx="2980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</a:t>
            </a:r>
            <a:endParaRPr lang="en-US" sz="1875" dirty="0"/>
          </a:p>
        </p:txBody>
      </p:sp>
      <p:sp>
        <p:nvSpPr>
          <p:cNvPr id="308" name="Text 302"/>
          <p:cNvSpPr/>
          <p:nvPr/>
        </p:nvSpPr>
        <p:spPr>
          <a:xfrm>
            <a:off x="13849748" y="29920209"/>
            <a:ext cx="429021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⌊</a:t>
            </a:r>
            <a:endParaRPr lang="en-US" sz="2250" dirty="0"/>
          </a:p>
        </p:txBody>
      </p:sp>
      <p:sp>
        <p:nvSpPr>
          <p:cNvPr id="309" name="Text 303"/>
          <p:cNvSpPr/>
          <p:nvPr/>
        </p:nvSpPr>
        <p:spPr>
          <a:xfrm>
            <a:off x="14412119" y="29713833"/>
            <a:ext cx="16675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(ξ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310" name="Shape 304"/>
          <p:cNvSpPr/>
          <p:nvPr/>
        </p:nvSpPr>
        <p:spPr>
          <a:xfrm>
            <a:off x="14934605" y="30139284"/>
            <a:ext cx="453430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11" name="Text 305"/>
          <p:cNvSpPr/>
          <p:nvPr/>
        </p:nvSpPr>
        <p:spPr>
          <a:xfrm>
            <a:off x="15029855" y="30190084"/>
            <a:ext cx="30827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2⁸</a:t>
            </a:r>
            <a:endParaRPr lang="en-US" sz="1800" dirty="0"/>
          </a:p>
        </p:txBody>
      </p:sp>
      <p:sp>
        <p:nvSpPr>
          <p:cNvPr id="312" name="Text 306"/>
          <p:cNvSpPr/>
          <p:nvPr/>
        </p:nvSpPr>
        <p:spPr>
          <a:xfrm>
            <a:off x="16120270" y="29920209"/>
            <a:ext cx="176410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⌋</a:t>
            </a:r>
            <a:endParaRPr lang="en-US" sz="2250" dirty="0"/>
          </a:p>
        </p:txBody>
      </p:sp>
      <p:sp>
        <p:nvSpPr>
          <p:cNvPr id="313" name="Text 307"/>
          <p:cNvSpPr/>
          <p:nvPr/>
        </p:nvSpPr>
        <p:spPr>
          <a:xfrm>
            <a:off x="16372880" y="29930131"/>
            <a:ext cx="1397655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r>
              <a:rPr lang="en-US" sz="1438" baseline="-400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0.301</a:t>
            </a:r>
            <a:endParaRPr lang="en-US" sz="1725" dirty="0"/>
          </a:p>
        </p:txBody>
      </p:sp>
      <p:sp>
        <p:nvSpPr>
          <p:cNvPr id="314" name="Shape 308"/>
          <p:cNvSpPr/>
          <p:nvPr/>
        </p:nvSpPr>
        <p:spPr>
          <a:xfrm>
            <a:off x="10798176" y="30634584"/>
            <a:ext cx="8683625" cy="920750"/>
          </a:xfrm>
          <a:prstGeom prst="roundRect">
            <a:avLst>
              <a:gd name="adj" fmla="val 12414"/>
            </a:avLst>
          </a:prstGeom>
          <a:solidFill>
            <a:srgbClr val="F0F5FC"/>
          </a:solidFill>
          <a:ln/>
        </p:spPr>
      </p:sp>
      <p:sp>
        <p:nvSpPr>
          <p:cNvPr id="315" name="Text 309"/>
          <p:cNvSpPr/>
          <p:nvPr/>
        </p:nvSpPr>
        <p:spPr>
          <a:xfrm>
            <a:off x="11007726" y="30961608"/>
            <a:ext cx="2095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(Q16)</a:t>
            </a:r>
            <a:endParaRPr lang="en-US" sz="1800" dirty="0"/>
          </a:p>
        </p:txBody>
      </p:sp>
      <p:sp>
        <p:nvSpPr>
          <p:cNvPr id="316" name="Text 310"/>
          <p:cNvSpPr/>
          <p:nvPr/>
        </p:nvSpPr>
        <p:spPr>
          <a:xfrm>
            <a:off x="13065126" y="30929859"/>
            <a:ext cx="410368" cy="3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Δx</a:t>
            </a:r>
            <a:endParaRPr lang="en-US" sz="2250" dirty="0"/>
          </a:p>
        </p:txBody>
      </p:sp>
      <p:sp>
        <p:nvSpPr>
          <p:cNvPr id="317" name="Text 311"/>
          <p:cNvSpPr/>
          <p:nvPr/>
        </p:nvSpPr>
        <p:spPr>
          <a:xfrm>
            <a:off x="13513594" y="30961608"/>
            <a:ext cx="2166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75" dirty="0"/>
          </a:p>
        </p:txBody>
      </p:sp>
      <p:sp>
        <p:nvSpPr>
          <p:cNvPr id="318" name="Text 312"/>
          <p:cNvSpPr/>
          <p:nvPr/>
        </p:nvSpPr>
        <p:spPr>
          <a:xfrm>
            <a:off x="13768388" y="30917159"/>
            <a:ext cx="429023" cy="36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⌊</a:t>
            </a:r>
            <a:endParaRPr lang="en-US" sz="2250" dirty="0"/>
          </a:p>
        </p:txBody>
      </p:sp>
      <p:sp>
        <p:nvSpPr>
          <p:cNvPr id="319" name="Text 313"/>
          <p:cNvSpPr/>
          <p:nvPr/>
        </p:nvSpPr>
        <p:spPr>
          <a:xfrm>
            <a:off x="14330760" y="30710784"/>
            <a:ext cx="162167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 (ξ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x</a:t>
            </a:r>
            <a:r>
              <a:rPr lang="en-US" sz="1875" i="1" baseline="-40000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250" dirty="0"/>
          </a:p>
        </p:txBody>
      </p:sp>
      <p:sp>
        <p:nvSpPr>
          <p:cNvPr id="320" name="Shape 314"/>
          <p:cNvSpPr/>
          <p:nvPr/>
        </p:nvSpPr>
        <p:spPr>
          <a:xfrm>
            <a:off x="14763949" y="31136234"/>
            <a:ext cx="590550" cy="1270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21" name="Text 315"/>
          <p:cNvSpPr/>
          <p:nvPr/>
        </p:nvSpPr>
        <p:spPr>
          <a:xfrm>
            <a:off x="14859199" y="31187034"/>
            <a:ext cx="45910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2¹⁶</a:t>
            </a:r>
            <a:endParaRPr lang="en-US" sz="1800" dirty="0"/>
          </a:p>
        </p:txBody>
      </p:sp>
      <p:sp>
        <p:nvSpPr>
          <p:cNvPr id="322" name="Text 316"/>
          <p:cNvSpPr/>
          <p:nvPr/>
        </p:nvSpPr>
        <p:spPr>
          <a:xfrm>
            <a:off x="15997238" y="30917159"/>
            <a:ext cx="176411" cy="36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1C3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⌋</a:t>
            </a:r>
            <a:endParaRPr lang="en-US" sz="2250" dirty="0"/>
          </a:p>
        </p:txBody>
      </p:sp>
      <p:sp>
        <p:nvSpPr>
          <p:cNvPr id="323" name="Text 317"/>
          <p:cNvSpPr/>
          <p:nvPr/>
        </p:nvSpPr>
        <p:spPr>
          <a:xfrm>
            <a:off x="16249849" y="30927080"/>
            <a:ext cx="1397655" cy="37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r>
              <a:rPr lang="en-US" sz="1438" baseline="-400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725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0.001</a:t>
            </a:r>
            <a:endParaRPr lang="en-US" sz="1725" dirty="0"/>
          </a:p>
        </p:txBody>
      </p:sp>
      <p:sp>
        <p:nvSpPr>
          <p:cNvPr id="324" name="Shape 318"/>
          <p:cNvSpPr/>
          <p:nvPr/>
        </p:nvSpPr>
        <p:spPr>
          <a:xfrm>
            <a:off x="10798176" y="31631534"/>
            <a:ext cx="8683625" cy="520700"/>
          </a:xfrm>
          <a:prstGeom prst="roundRect">
            <a:avLst>
              <a:gd name="adj" fmla="val 21951"/>
            </a:avLst>
          </a:prstGeom>
          <a:solidFill>
            <a:srgbClr val="FFFDF7"/>
          </a:solidFill>
          <a:ln w="12700">
            <a:solidFill>
              <a:srgbClr val="ECD9B3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11020425" y="31758534"/>
            <a:ext cx="27950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Multiplierless error decay</a:t>
            </a:r>
            <a:endParaRPr lang="en-US" sz="1800" dirty="0"/>
          </a:p>
        </p:txBody>
      </p:sp>
      <p:sp>
        <p:nvSpPr>
          <p:cNvPr id="326" name="Text 320"/>
          <p:cNvSpPr/>
          <p:nvPr/>
        </p:nvSpPr>
        <p:spPr>
          <a:xfrm>
            <a:off x="13713818" y="31720434"/>
            <a:ext cx="2458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−= err ≫ 8</a:t>
            </a:r>
            <a:endParaRPr lang="en-US" sz="2025" dirty="0"/>
          </a:p>
        </p:txBody>
      </p:sp>
      <p:sp>
        <p:nvSpPr>
          <p:cNvPr id="327" name="Text 321"/>
          <p:cNvSpPr/>
          <p:nvPr/>
        </p:nvSpPr>
        <p:spPr>
          <a:xfrm>
            <a:off x="16101417" y="31758534"/>
            <a:ext cx="2668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i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multiplier (β ≈ 0.9961)</a:t>
            </a:r>
            <a:endParaRPr lang="en-US" sz="1725" dirty="0"/>
          </a:p>
        </p:txBody>
      </p:sp>
      <p:sp>
        <p:nvSpPr>
          <p:cNvPr id="328" name="Shape 322"/>
          <p:cNvSpPr/>
          <p:nvPr/>
        </p:nvSpPr>
        <p:spPr>
          <a:xfrm>
            <a:off x="10798176" y="32257008"/>
            <a:ext cx="8683625" cy="1319411"/>
          </a:xfrm>
          <a:prstGeom prst="roundRect">
            <a:avLst>
              <a:gd name="adj" fmla="val 8663"/>
            </a:avLst>
          </a:prstGeom>
          <a:solidFill>
            <a:srgbClr val="F6F8FB"/>
          </a:solidFill>
          <a:ln/>
        </p:spPr>
      </p:sp>
      <p:sp>
        <p:nvSpPr>
          <p:cNvPr id="329" name="Text 323"/>
          <p:cNvSpPr/>
          <p:nvPr/>
        </p:nvSpPr>
        <p:spPr>
          <a:xfrm>
            <a:off x="10969626" y="32371308"/>
            <a:ext cx="8601234" cy="1128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update: </a:t>
            </a:r>
            <a:r>
              <a:rPr lang="en-US" sz="1950" dirty="0">
                <a:solidFill>
                  <a:srgbClr val="6B7A93"/>
                </a:solidFill>
                <a:highlight>
                  <a:srgbClr val="F6F8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winner move, edge aging, neighbor move, error decay &amp; pruning all run in </a:t>
            </a: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1950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NB_SCAN </a:t>
            </a: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</a:t>
            </a:r>
            <a:r>
              <a:rPr lang="en-US" sz="1950" dirty="0">
                <a:solidFill>
                  <a:srgbClr val="6B7A93"/>
                </a:solidFill>
                <a:highlight>
                  <a:srgbClr val="F6F8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independent per-edge ops, parallelizable on FPGA.</a:t>
            </a:r>
            <a:endParaRPr lang="en-US" sz="1950" dirty="0"/>
          </a:p>
        </p:txBody>
      </p:sp>
      <p:sp>
        <p:nvSpPr>
          <p:cNvPr id="330" name="Shape 324"/>
          <p:cNvSpPr/>
          <p:nvPr/>
        </p:nvSpPr>
        <p:spPr>
          <a:xfrm>
            <a:off x="20046951" y="6653213"/>
            <a:ext cx="9623425" cy="10747574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31" name="Shape 325"/>
          <p:cNvSpPr/>
          <p:nvPr/>
        </p:nvSpPr>
        <p:spPr>
          <a:xfrm>
            <a:off x="20383500" y="7383463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332" name="Text 326"/>
          <p:cNvSpPr/>
          <p:nvPr/>
        </p:nvSpPr>
        <p:spPr>
          <a:xfrm>
            <a:off x="20383500" y="6704013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Results — It Fits, and It Learns</a:t>
            </a:r>
            <a:endParaRPr lang="en-US" sz="3750" dirty="0"/>
          </a:p>
        </p:txBody>
      </p:sp>
      <p:sp>
        <p:nvSpPr>
          <p:cNvPr id="333" name="Shape 327"/>
          <p:cNvSpPr/>
          <p:nvPr/>
        </p:nvSpPr>
        <p:spPr>
          <a:xfrm>
            <a:off x="20383500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34" name="Text 328"/>
          <p:cNvSpPr/>
          <p:nvPr/>
        </p:nvSpPr>
        <p:spPr>
          <a:xfrm>
            <a:off x="20593050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38%</a:t>
            </a:r>
            <a:endParaRPr lang="en-US" sz="3300" dirty="0"/>
          </a:p>
        </p:txBody>
      </p:sp>
      <p:sp>
        <p:nvSpPr>
          <p:cNvPr id="335" name="Text 329"/>
          <p:cNvSpPr/>
          <p:nvPr/>
        </p:nvSpPr>
        <p:spPr>
          <a:xfrm>
            <a:off x="20593050" y="8202613"/>
            <a:ext cx="1780381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· 3,205/8,640</a:t>
            </a:r>
            <a:endParaRPr lang="en-US" sz="1800" dirty="0"/>
          </a:p>
        </p:txBody>
      </p:sp>
      <p:sp>
        <p:nvSpPr>
          <p:cNvPr id="336" name="Shape 330"/>
          <p:cNvSpPr/>
          <p:nvPr/>
        </p:nvSpPr>
        <p:spPr>
          <a:xfrm>
            <a:off x="22659182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37" name="Text 331"/>
          <p:cNvSpPr/>
          <p:nvPr/>
        </p:nvSpPr>
        <p:spPr>
          <a:xfrm>
            <a:off x="22868732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3300" dirty="0"/>
          </a:p>
        </p:txBody>
      </p:sp>
      <p:sp>
        <p:nvSpPr>
          <p:cNvPr id="338" name="Text 332"/>
          <p:cNvSpPr/>
          <p:nvPr/>
        </p:nvSpPr>
        <p:spPr>
          <a:xfrm>
            <a:off x="22868732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 · 1,408/6,693</a:t>
            </a:r>
            <a:endParaRPr lang="en-US" sz="1800" dirty="0"/>
          </a:p>
        </p:txBody>
      </p:sp>
      <p:sp>
        <p:nvSpPr>
          <p:cNvPr id="339" name="Shape 333"/>
          <p:cNvSpPr/>
          <p:nvPr/>
        </p:nvSpPr>
        <p:spPr>
          <a:xfrm>
            <a:off x="24934864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40" name="Text 334"/>
          <p:cNvSpPr/>
          <p:nvPr/>
        </p:nvSpPr>
        <p:spPr>
          <a:xfrm>
            <a:off x="25144414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24%</a:t>
            </a:r>
            <a:endParaRPr lang="en-US" sz="3300" dirty="0"/>
          </a:p>
        </p:txBody>
      </p:sp>
      <p:sp>
        <p:nvSpPr>
          <p:cNvPr id="341" name="Text 335"/>
          <p:cNvSpPr/>
          <p:nvPr/>
        </p:nvSpPr>
        <p:spPr>
          <a:xfrm>
            <a:off x="25144414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BSRAM · 6/26</a:t>
            </a:r>
            <a:endParaRPr lang="en-US" sz="1800" dirty="0"/>
          </a:p>
        </p:txBody>
      </p:sp>
      <p:sp>
        <p:nvSpPr>
          <p:cNvPr id="342" name="Shape 336"/>
          <p:cNvSpPr/>
          <p:nvPr/>
        </p:nvSpPr>
        <p:spPr>
          <a:xfrm>
            <a:off x="27210544" y="7504113"/>
            <a:ext cx="2123281" cy="1447800"/>
          </a:xfrm>
          <a:prstGeom prst="roundRect">
            <a:avLst>
              <a:gd name="adj" fmla="val 9211"/>
            </a:avLst>
          </a:prstGeom>
          <a:solidFill>
            <a:srgbClr val="F0F5FC"/>
          </a:solidFill>
          <a:ln/>
        </p:spPr>
      </p:sp>
      <p:sp>
        <p:nvSpPr>
          <p:cNvPr id="343" name="Text 337"/>
          <p:cNvSpPr/>
          <p:nvPr/>
        </p:nvSpPr>
        <p:spPr>
          <a:xfrm>
            <a:off x="27420094" y="7694613"/>
            <a:ext cx="1874599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3300" dirty="0"/>
          </a:p>
        </p:txBody>
      </p:sp>
      <p:sp>
        <p:nvSpPr>
          <p:cNvPr id="344" name="Text 338"/>
          <p:cNvSpPr/>
          <p:nvPr/>
        </p:nvSpPr>
        <p:spPr>
          <a:xfrm>
            <a:off x="27420094" y="8202613"/>
            <a:ext cx="18745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· 5/10</a:t>
            </a:r>
            <a:endParaRPr lang="en-US" sz="1800" dirty="0"/>
          </a:p>
        </p:txBody>
      </p:sp>
      <p:sp>
        <p:nvSpPr>
          <p:cNvPr id="345" name="Text 339"/>
          <p:cNvSpPr/>
          <p:nvPr/>
        </p:nvSpPr>
        <p:spPr>
          <a:xfrm>
            <a:off x="20383500" y="9047163"/>
            <a:ext cx="9218835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Place-and-route on Gowin GW1NR-LV9QN88PC6 (Gowin EDA V1.9.12.01) — </a:t>
            </a: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LUT and 76% BRAM headroom 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for application logic.</a:t>
            </a:r>
            <a:endParaRPr lang="en-US" sz="2100" dirty="0"/>
          </a:p>
        </p:txBody>
      </p:sp>
      <p:sp>
        <p:nvSpPr>
          <p:cNvPr id="346" name="Shape 340"/>
          <p:cNvSpPr/>
          <p:nvPr/>
        </p:nvSpPr>
        <p:spPr>
          <a:xfrm>
            <a:off x="20383500" y="9967913"/>
            <a:ext cx="4427538" cy="3537545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0502" y="10094913"/>
            <a:ext cx="4173538" cy="3283546"/>
          </a:xfrm>
          <a:prstGeom prst="rect">
            <a:avLst/>
          </a:prstGeom>
        </p:spPr>
      </p:pic>
      <p:sp>
        <p:nvSpPr>
          <p:cNvPr id="348" name="Shape 341"/>
          <p:cNvSpPr/>
          <p:nvPr/>
        </p:nvSpPr>
        <p:spPr>
          <a:xfrm>
            <a:off x="24906289" y="9967913"/>
            <a:ext cx="4427538" cy="3537545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3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33288" y="10094913"/>
            <a:ext cx="4173538" cy="3283546"/>
          </a:xfrm>
          <a:prstGeom prst="rect">
            <a:avLst/>
          </a:prstGeom>
        </p:spPr>
      </p:pic>
      <p:sp>
        <p:nvSpPr>
          <p:cNvPr id="350" name="Text 342"/>
          <p:cNvSpPr/>
          <p:nvPr/>
        </p:nvSpPr>
        <p:spPr>
          <a:xfrm>
            <a:off x="20383500" y="13600708"/>
            <a:ext cx="9218835" cy="1258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Topologies learned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FPGA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streamed via UART snapshots. Left: Two Moons (epoch 32). Right: Concentric Circles (epoch 64). 100 samples each, N</a:t>
            </a:r>
            <a:r>
              <a:rPr lang="en-US" sz="1688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40.</a:t>
            </a:r>
            <a:endParaRPr lang="en-US" sz="2025" dirty="0"/>
          </a:p>
        </p:txBody>
      </p:sp>
      <p:sp>
        <p:nvSpPr>
          <p:cNvPr id="351" name="Shape 343"/>
          <p:cNvSpPr/>
          <p:nvPr/>
        </p:nvSpPr>
        <p:spPr>
          <a:xfrm>
            <a:off x="20383500" y="14916548"/>
            <a:ext cx="4398963" cy="1117600"/>
          </a:xfrm>
          <a:prstGeom prst="roundRect">
            <a:avLst>
              <a:gd name="adj" fmla="val 11932"/>
            </a:avLst>
          </a:prstGeom>
          <a:solidFill>
            <a:srgbClr val="F0F5FC"/>
          </a:solidFill>
          <a:ln/>
        </p:spPr>
      </p:sp>
      <p:sp>
        <p:nvSpPr>
          <p:cNvPr id="352" name="Text 344"/>
          <p:cNvSpPr/>
          <p:nvPr/>
        </p:nvSpPr>
        <p:spPr>
          <a:xfrm>
            <a:off x="20631150" y="15126098"/>
            <a:ext cx="429402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 (final)</a:t>
            </a:r>
            <a:endParaRPr lang="en-US" sz="1875" dirty="0"/>
          </a:p>
        </p:txBody>
      </p:sp>
      <p:sp>
        <p:nvSpPr>
          <p:cNvPr id="353" name="Text 345"/>
          <p:cNvSpPr/>
          <p:nvPr/>
        </p:nvSpPr>
        <p:spPr>
          <a:xfrm>
            <a:off x="20631150" y="15443597"/>
            <a:ext cx="42940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0.146 </a:t>
            </a: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2250" dirty="0"/>
          </a:p>
        </p:txBody>
      </p:sp>
      <p:sp>
        <p:nvSpPr>
          <p:cNvPr id="354" name="Shape 346"/>
          <p:cNvSpPr/>
          <p:nvPr/>
        </p:nvSpPr>
        <p:spPr>
          <a:xfrm>
            <a:off x="24934864" y="14916548"/>
            <a:ext cx="4398963" cy="1117600"/>
          </a:xfrm>
          <a:prstGeom prst="roundRect">
            <a:avLst>
              <a:gd name="adj" fmla="val 11932"/>
            </a:avLst>
          </a:prstGeom>
          <a:solidFill>
            <a:srgbClr val="F0F5FC"/>
          </a:solidFill>
          <a:ln/>
        </p:spPr>
      </p:sp>
      <p:sp>
        <p:nvSpPr>
          <p:cNvPr id="355" name="Text 347"/>
          <p:cNvSpPr/>
          <p:nvPr/>
        </p:nvSpPr>
        <p:spPr>
          <a:xfrm>
            <a:off x="25182514" y="15126098"/>
            <a:ext cx="429402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 (final)</a:t>
            </a:r>
            <a:endParaRPr lang="en-US" sz="1875" dirty="0"/>
          </a:p>
        </p:txBody>
      </p:sp>
      <p:sp>
        <p:nvSpPr>
          <p:cNvPr id="356" name="Text 348"/>
          <p:cNvSpPr/>
          <p:nvPr/>
        </p:nvSpPr>
        <p:spPr>
          <a:xfrm>
            <a:off x="25182514" y="15443597"/>
            <a:ext cx="42940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0.196 </a:t>
            </a:r>
            <a:r>
              <a:rPr lang="en-US" sz="225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 </a:t>
            </a:r>
            <a:r>
              <a:rPr lang="en-US" sz="22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</a:t>
            </a:r>
            <a:endParaRPr lang="en-US" sz="2250" dirty="0"/>
          </a:p>
        </p:txBody>
      </p:sp>
      <p:sp>
        <p:nvSpPr>
          <p:cNvPr id="357" name="Text 349"/>
          <p:cNvSpPr/>
          <p:nvPr/>
        </p:nvSpPr>
        <p:spPr>
          <a:xfrm>
            <a:off x="20383500" y="16129397"/>
            <a:ext cx="9218835" cy="1258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(quantization error) drops steadily on both datasets and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(topological error) stays near zero — the integer engine matches floating-point GNG quality. TE drifts slightly on Circles only after N </a:t>
            </a:r>
            <a:r>
              <a:rPr lang="en-US" sz="1688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20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saturates.</a:t>
            </a:r>
            <a:endParaRPr lang="en-US" sz="2025" dirty="0"/>
          </a:p>
        </p:txBody>
      </p:sp>
      <p:sp>
        <p:nvSpPr>
          <p:cNvPr id="358" name="Shape 350"/>
          <p:cNvSpPr/>
          <p:nvPr/>
        </p:nvSpPr>
        <p:spPr>
          <a:xfrm>
            <a:off x="20046951" y="17496037"/>
            <a:ext cx="9623425" cy="4018955"/>
          </a:xfrm>
          <a:prstGeom prst="roundRect">
            <a:avLst>
              <a:gd name="adj" fmla="val 521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59" name="Shape 351"/>
          <p:cNvSpPr/>
          <p:nvPr/>
        </p:nvSpPr>
        <p:spPr>
          <a:xfrm>
            <a:off x="20383500" y="18226286"/>
            <a:ext cx="8950325" cy="25400"/>
          </a:xfrm>
          <a:prstGeom prst="rect">
            <a:avLst/>
          </a:prstGeom>
          <a:solidFill>
            <a:srgbClr val="DBE6F5"/>
          </a:solidFill>
          <a:ln/>
        </p:spPr>
      </p:sp>
      <p:sp>
        <p:nvSpPr>
          <p:cNvPr id="360" name="Text 352"/>
          <p:cNvSpPr/>
          <p:nvPr/>
        </p:nvSpPr>
        <p:spPr>
          <a:xfrm>
            <a:off x="20383500" y="17546836"/>
            <a:ext cx="984535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Deterministic Real-Time Throughput</a:t>
            </a:r>
            <a:endParaRPr lang="en-US" sz="3750" dirty="0"/>
          </a:p>
        </p:txBody>
      </p:sp>
      <p:sp>
        <p:nvSpPr>
          <p:cNvPr id="361" name="Shape 353"/>
          <p:cNvSpPr/>
          <p:nvPr/>
        </p:nvSpPr>
        <p:spPr>
          <a:xfrm>
            <a:off x="20383500" y="18404086"/>
            <a:ext cx="2919810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2" name="Text 354"/>
          <p:cNvSpPr/>
          <p:nvPr/>
        </p:nvSpPr>
        <p:spPr>
          <a:xfrm>
            <a:off x="20612100" y="18613636"/>
            <a:ext cx="270887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~625 µs</a:t>
            </a:r>
            <a:endParaRPr lang="en-US" sz="3150" dirty="0"/>
          </a:p>
        </p:txBody>
      </p:sp>
      <p:sp>
        <p:nvSpPr>
          <p:cNvPr id="363" name="Text 355"/>
          <p:cNvSpPr/>
          <p:nvPr/>
        </p:nvSpPr>
        <p:spPr>
          <a:xfrm>
            <a:off x="20612100" y="19096237"/>
            <a:ext cx="270887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sample</a:t>
            </a:r>
            <a:endParaRPr lang="en-US" sz="1875" dirty="0"/>
          </a:p>
        </p:txBody>
      </p:sp>
      <p:sp>
        <p:nvSpPr>
          <p:cNvPr id="364" name="Shape 356"/>
          <p:cNvSpPr/>
          <p:nvPr/>
        </p:nvSpPr>
        <p:spPr>
          <a:xfrm>
            <a:off x="23398560" y="18404086"/>
            <a:ext cx="2920008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5" name="Text 357"/>
          <p:cNvSpPr/>
          <p:nvPr/>
        </p:nvSpPr>
        <p:spPr>
          <a:xfrm>
            <a:off x="23627160" y="18613636"/>
            <a:ext cx="27090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~16.9k</a:t>
            </a:r>
            <a:endParaRPr lang="en-US" sz="3150" dirty="0"/>
          </a:p>
        </p:txBody>
      </p:sp>
      <p:sp>
        <p:nvSpPr>
          <p:cNvPr id="366" name="Text 358"/>
          <p:cNvSpPr/>
          <p:nvPr/>
        </p:nvSpPr>
        <p:spPr>
          <a:xfrm>
            <a:off x="23627160" y="19096237"/>
            <a:ext cx="270908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@ 27 MHz</a:t>
            </a:r>
            <a:endParaRPr lang="en-US" sz="1875" dirty="0"/>
          </a:p>
        </p:txBody>
      </p:sp>
      <p:sp>
        <p:nvSpPr>
          <p:cNvPr id="367" name="Shape 359"/>
          <p:cNvSpPr/>
          <p:nvPr/>
        </p:nvSpPr>
        <p:spPr>
          <a:xfrm>
            <a:off x="26413818" y="18404086"/>
            <a:ext cx="2920008" cy="1193800"/>
          </a:xfrm>
          <a:prstGeom prst="roundRect">
            <a:avLst>
              <a:gd name="adj" fmla="val 11170"/>
            </a:avLst>
          </a:prstGeom>
          <a:solidFill>
            <a:srgbClr val="F0F5FC"/>
          </a:solidFill>
          <a:ln/>
        </p:spPr>
      </p:sp>
      <p:sp>
        <p:nvSpPr>
          <p:cNvPr id="368" name="Text 360"/>
          <p:cNvSpPr/>
          <p:nvPr/>
        </p:nvSpPr>
        <p:spPr>
          <a:xfrm>
            <a:off x="26642418" y="18613636"/>
            <a:ext cx="27090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~1,600</a:t>
            </a:r>
            <a:endParaRPr lang="en-US" sz="3150" dirty="0"/>
          </a:p>
        </p:txBody>
      </p:sp>
      <p:sp>
        <p:nvSpPr>
          <p:cNvPr id="369" name="Text 361"/>
          <p:cNvSpPr/>
          <p:nvPr/>
        </p:nvSpPr>
        <p:spPr>
          <a:xfrm>
            <a:off x="26642418" y="19096237"/>
            <a:ext cx="270908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/ s</a:t>
            </a:r>
            <a:endParaRPr lang="en-US" sz="1875" dirty="0"/>
          </a:p>
        </p:txBody>
      </p:sp>
      <p:sp>
        <p:nvSpPr>
          <p:cNvPr id="370" name="Text 362"/>
          <p:cNvSpPr/>
          <p:nvPr/>
        </p:nvSpPr>
        <p:spPr>
          <a:xfrm>
            <a:off x="20383500" y="19750287"/>
            <a:ext cx="9218835" cy="1752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from an on-chip 32-bit cycle counter embedded in every debug frame — Two Moons: 16,852 cycles (624.1 µs); Circles: 16,931 cycles (627.1 µs). Latency is dominated by the two O(N </a:t>
            </a:r>
            <a:r>
              <a:rPr lang="en-US" sz="1750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BRAM scans — </a:t>
            </a:r>
            <a:r>
              <a:rPr lang="en-US" sz="2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and near-identical across datasets </a:t>
            </a:r>
            <a:r>
              <a:rPr lang="en-US" sz="2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371" name="Shape 363"/>
          <p:cNvSpPr/>
          <p:nvPr/>
        </p:nvSpPr>
        <p:spPr>
          <a:xfrm>
            <a:off x="20046951" y="21610241"/>
            <a:ext cx="9623425" cy="18688448"/>
          </a:xfrm>
          <a:prstGeom prst="roundRect">
            <a:avLst>
              <a:gd name="adj" fmla="val 2177"/>
            </a:avLst>
          </a:prstGeom>
          <a:solidFill>
            <a:srgbClr val="1C3357"/>
          </a:solidFill>
          <a:ln/>
          <a:effectLst>
            <a:outerShdw blurRad="323850" dist="95250" dir="5400000" algn="bl" rotWithShape="0">
              <a:srgbClr val="1C3357">
                <a:alpha val="25000"/>
              </a:srgbClr>
            </a:outerShdw>
          </a:effectLst>
        </p:spPr>
      </p:sp>
      <p:sp>
        <p:nvSpPr>
          <p:cNvPr id="372" name="Text 364"/>
          <p:cNvSpPr/>
          <p:nvPr/>
        </p:nvSpPr>
        <p:spPr>
          <a:xfrm>
            <a:off x="20370801" y="21648341"/>
            <a:ext cx="987329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Takeaway &amp; Future Work</a:t>
            </a:r>
            <a:endParaRPr lang="en-US" sz="3750" dirty="0"/>
          </a:p>
        </p:txBody>
      </p:sp>
      <p:sp>
        <p:nvSpPr>
          <p:cNvPr id="373" name="Text 365"/>
          <p:cNvSpPr/>
          <p:nvPr/>
        </p:nvSpPr>
        <p:spPr>
          <a:xfrm>
            <a:off x="20370801" y="22346841"/>
            <a:ext cx="9244997" cy="245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Self-organizing clustering with dynamic topology is feasible on a sub-10K-LUT FPGA </a:t>
            </a:r>
            <a:r>
              <a:rPr lang="en-US" sz="2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when memory layout and arithmetic format are treated as first-class design concerns. Bounded state + incremental updates make this a hardware substrate for </a:t>
            </a:r>
            <a:r>
              <a:rPr lang="en-US" sz="2400" b="1" dirty="0">
                <a:solidFill>
                  <a:srgbClr val="9C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 learning at the edge </a:t>
            </a:r>
            <a:r>
              <a:rPr lang="en-US" sz="2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374" name="Text 366"/>
          <p:cNvSpPr/>
          <p:nvPr/>
        </p:nvSpPr>
        <p:spPr>
          <a:xfrm>
            <a:off x="20370801" y="24911447"/>
            <a:ext cx="98732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9C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APPLICATIONS</a:t>
            </a:r>
            <a:endParaRPr lang="en-US" sz="1800" dirty="0"/>
          </a:p>
        </p:txBody>
      </p:sp>
      <p:sp>
        <p:nvSpPr>
          <p:cNvPr id="375" name="Shape 367"/>
          <p:cNvSpPr/>
          <p:nvPr/>
        </p:nvSpPr>
        <p:spPr>
          <a:xfrm>
            <a:off x="20370801" y="25254347"/>
            <a:ext cx="2158206" cy="939800"/>
          </a:xfrm>
          <a:prstGeom prst="roundRect">
            <a:avLst>
              <a:gd name="adj" fmla="val 10135"/>
            </a:avLst>
          </a:prstGeom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76" name="Image 6" descr="preencoded.png"/>
          <p:cNvPicPr>
            <a:picLocks noChangeAspect="1"/>
          </p:cNvPicPr>
          <p:nvPr/>
        </p:nvPicPr>
        <p:blipFill>
          <a:blip r:embed="rId9"/>
          <a:srcRect t="29842" b="29842"/>
          <a:stretch/>
        </p:blipFill>
        <p:spPr>
          <a:xfrm>
            <a:off x="20383500" y="25267048"/>
            <a:ext cx="2132806" cy="914400"/>
          </a:xfrm>
          <a:prstGeom prst="rect">
            <a:avLst/>
          </a:prstGeom>
        </p:spPr>
      </p:pic>
      <p:sp>
        <p:nvSpPr>
          <p:cNvPr id="377" name="Text 368"/>
          <p:cNvSpPr/>
          <p:nvPr/>
        </p:nvSpPr>
        <p:spPr>
          <a:xfrm>
            <a:off x="20262890" y="26251298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robot</a:t>
            </a:r>
            <a:endParaRPr lang="en-US" sz="1575" dirty="0"/>
          </a:p>
        </p:txBody>
      </p:sp>
      <p:sp>
        <p:nvSpPr>
          <p:cNvPr id="378" name="Shape 369"/>
          <p:cNvSpPr/>
          <p:nvPr/>
        </p:nvSpPr>
        <p:spPr>
          <a:xfrm>
            <a:off x="22643306" y="25254347"/>
            <a:ext cx="2158206" cy="939800"/>
          </a:xfrm>
          <a:prstGeom prst="roundRect">
            <a:avLst>
              <a:gd name="adj" fmla="val 10135"/>
            </a:avLst>
          </a:prstGeom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79" name="Image 7" descr="preencoded.png"/>
          <p:cNvPicPr>
            <a:picLocks noChangeAspect="1"/>
          </p:cNvPicPr>
          <p:nvPr/>
        </p:nvPicPr>
        <p:blipFill>
          <a:blip r:embed="rId10"/>
          <a:srcRect t="23763" b="23763"/>
          <a:stretch/>
        </p:blipFill>
        <p:spPr>
          <a:xfrm>
            <a:off x="22656008" y="25267048"/>
            <a:ext cx="2132806" cy="914400"/>
          </a:xfrm>
          <a:prstGeom prst="rect">
            <a:avLst/>
          </a:prstGeom>
        </p:spPr>
      </p:pic>
      <p:sp>
        <p:nvSpPr>
          <p:cNvPr id="380" name="Text 370"/>
          <p:cNvSpPr/>
          <p:nvPr/>
        </p:nvSpPr>
        <p:spPr>
          <a:xfrm>
            <a:off x="22535396" y="26251298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Bio-inspired robot</a:t>
            </a:r>
            <a:endParaRPr lang="en-US" sz="1575" dirty="0"/>
          </a:p>
        </p:txBody>
      </p:sp>
      <p:sp>
        <p:nvSpPr>
          <p:cNvPr id="381" name="Shape 371"/>
          <p:cNvSpPr/>
          <p:nvPr/>
        </p:nvSpPr>
        <p:spPr>
          <a:xfrm>
            <a:off x="24915814" y="25254347"/>
            <a:ext cx="2158206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82" name="Image 8" descr="preencoded.png"/>
          <p:cNvPicPr>
            <a:picLocks noChangeAspect="1"/>
          </p:cNvPicPr>
          <p:nvPr/>
        </p:nvPicPr>
        <p:blipFill>
          <a:blip r:embed="rId11"/>
          <a:srcRect t="21699" b="21699"/>
          <a:stretch/>
        </p:blipFill>
        <p:spPr>
          <a:xfrm>
            <a:off x="24928513" y="25267048"/>
            <a:ext cx="2132806" cy="914400"/>
          </a:xfrm>
          <a:prstGeom prst="rect">
            <a:avLst/>
          </a:prstGeom>
        </p:spPr>
      </p:pic>
      <p:sp>
        <p:nvSpPr>
          <p:cNvPr id="383" name="Text 372"/>
          <p:cNvSpPr/>
          <p:nvPr/>
        </p:nvSpPr>
        <p:spPr>
          <a:xfrm>
            <a:off x="24807904" y="26251298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swarm</a:t>
            </a:r>
            <a:endParaRPr lang="en-US" sz="1575" dirty="0"/>
          </a:p>
        </p:txBody>
      </p:sp>
      <p:sp>
        <p:nvSpPr>
          <p:cNvPr id="384" name="Shape 373"/>
          <p:cNvSpPr/>
          <p:nvPr/>
        </p:nvSpPr>
        <p:spPr>
          <a:xfrm>
            <a:off x="27188320" y="25254347"/>
            <a:ext cx="2158206" cy="939800"/>
          </a:xfrm>
          <a:prstGeom prst="roundRect">
            <a:avLst>
              <a:gd name="adj" fmla="val 10135"/>
            </a:avLst>
          </a:prstGeom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85" name="Image 9" descr="preencoded.png"/>
          <p:cNvPicPr>
            <a:picLocks noChangeAspect="1"/>
          </p:cNvPicPr>
          <p:nvPr/>
        </p:nvPicPr>
        <p:blipFill>
          <a:blip r:embed="rId12"/>
          <a:srcRect t="19393" b="19393"/>
          <a:stretch/>
        </p:blipFill>
        <p:spPr>
          <a:xfrm>
            <a:off x="27201019" y="25267048"/>
            <a:ext cx="2132806" cy="914400"/>
          </a:xfrm>
          <a:prstGeom prst="rect">
            <a:avLst/>
          </a:prstGeom>
        </p:spPr>
      </p:pic>
      <p:sp>
        <p:nvSpPr>
          <p:cNvPr id="386" name="Text 374"/>
          <p:cNvSpPr/>
          <p:nvPr/>
        </p:nvSpPr>
        <p:spPr>
          <a:xfrm>
            <a:off x="27080409" y="26251298"/>
            <a:ext cx="2374027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75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robot</a:t>
            </a:r>
            <a:endParaRPr lang="en-US" sz="1575" dirty="0"/>
          </a:p>
        </p:txBody>
      </p:sp>
      <p:sp>
        <p:nvSpPr>
          <p:cNvPr id="387" name="Shape 375"/>
          <p:cNvSpPr/>
          <p:nvPr/>
        </p:nvSpPr>
        <p:spPr>
          <a:xfrm>
            <a:off x="20370801" y="2665372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8" name="Text 376"/>
          <p:cNvSpPr/>
          <p:nvPr/>
        </p:nvSpPr>
        <p:spPr>
          <a:xfrm>
            <a:off x="20580351" y="2682517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sensor input — adapt continuously without restart</a:t>
            </a:r>
            <a:endParaRPr lang="en-US" sz="2025" dirty="0"/>
          </a:p>
        </p:txBody>
      </p:sp>
      <p:sp>
        <p:nvSpPr>
          <p:cNvPr id="389" name="Shape 377"/>
          <p:cNvSpPr/>
          <p:nvPr/>
        </p:nvSpPr>
        <p:spPr>
          <a:xfrm>
            <a:off x="24925339" y="2665372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0" name="Text 378"/>
          <p:cNvSpPr/>
          <p:nvPr/>
        </p:nvSpPr>
        <p:spPr>
          <a:xfrm>
            <a:off x="25134889" y="2682517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Pipelined O(log N) winner-search tree</a:t>
            </a:r>
            <a:endParaRPr lang="en-US" sz="2025" dirty="0"/>
          </a:p>
        </p:txBody>
      </p:sp>
      <p:sp>
        <p:nvSpPr>
          <p:cNvPr id="391" name="Shape 379"/>
          <p:cNvSpPr/>
          <p:nvPr/>
        </p:nvSpPr>
        <p:spPr>
          <a:xfrm>
            <a:off x="20370801" y="2784990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2" name="Text 380"/>
          <p:cNvSpPr/>
          <p:nvPr/>
        </p:nvSpPr>
        <p:spPr>
          <a:xfrm>
            <a:off x="20580351" y="2802135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Q-format precision via VHDL generics</a:t>
            </a:r>
            <a:endParaRPr lang="en-US" sz="2025" dirty="0"/>
          </a:p>
        </p:txBody>
      </p:sp>
      <p:sp>
        <p:nvSpPr>
          <p:cNvPr id="393" name="Shape 381"/>
          <p:cNvSpPr/>
          <p:nvPr/>
        </p:nvSpPr>
        <p:spPr>
          <a:xfrm>
            <a:off x="24925339" y="27849909"/>
            <a:ext cx="4421188" cy="1062831"/>
          </a:xfrm>
          <a:prstGeom prst="roundRect">
            <a:avLst>
              <a:gd name="adj" fmla="val 1075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4" name="Text 382"/>
          <p:cNvSpPr/>
          <p:nvPr/>
        </p:nvSpPr>
        <p:spPr>
          <a:xfrm>
            <a:off x="25134889" y="28021359"/>
            <a:ext cx="41347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Multi-stream on-board unsupervised mapping</a:t>
            </a:r>
            <a:endParaRPr lang="en-US" sz="2025" dirty="0"/>
          </a:p>
        </p:txBody>
      </p:sp>
      <p:sp>
        <p:nvSpPr>
          <p:cNvPr id="395" name="Shape 383"/>
          <p:cNvSpPr/>
          <p:nvPr/>
        </p:nvSpPr>
        <p:spPr>
          <a:xfrm>
            <a:off x="609600" y="40393939"/>
            <a:ext cx="29060775" cy="1916113"/>
          </a:xfrm>
          <a:prstGeom prst="roundRect">
            <a:avLst>
              <a:gd name="adj" fmla="val 109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285750" dist="76200" dir="5400000" algn="bl" rotWithShape="0">
              <a:srgbClr val="1C3357">
                <a:alpha val="7000"/>
              </a:srgbClr>
            </a:outerShdw>
          </a:effectLst>
        </p:spPr>
      </p:sp>
      <p:sp>
        <p:nvSpPr>
          <p:cNvPr id="396" name="Text 384"/>
          <p:cNvSpPr/>
          <p:nvPr/>
        </p:nvSpPr>
        <p:spPr>
          <a:xfrm>
            <a:off x="1060450" y="40463791"/>
            <a:ext cx="3097498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2700" dirty="0"/>
          </a:p>
        </p:txBody>
      </p:sp>
      <p:sp>
        <p:nvSpPr>
          <p:cNvPr id="397" name="Text 385"/>
          <p:cNvSpPr/>
          <p:nvPr/>
        </p:nvSpPr>
        <p:spPr>
          <a:xfrm>
            <a:off x="1060450" y="40933688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Fritzke, “A growing neural gas network learns topologies,”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1994.</a:t>
            </a:r>
            <a:endParaRPr lang="en-US" sz="1650" dirty="0"/>
          </a:p>
        </p:txBody>
      </p:sp>
      <p:sp>
        <p:nvSpPr>
          <p:cNvPr id="398" name="Text 386"/>
          <p:cNvSpPr/>
          <p:nvPr/>
        </p:nvSpPr>
        <p:spPr>
          <a:xfrm>
            <a:off x="10586442" y="40933688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Kohonen, “Self-organized formation of topologically correct feature maps,”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Biol. Cybern.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1982.</a:t>
            </a:r>
            <a:endParaRPr lang="en-US" sz="1650" dirty="0"/>
          </a:p>
        </p:txBody>
      </p:sp>
      <p:sp>
        <p:nvSpPr>
          <p:cNvPr id="399" name="Text 387"/>
          <p:cNvSpPr/>
          <p:nvPr/>
        </p:nvSpPr>
        <p:spPr>
          <a:xfrm>
            <a:off x="20112435" y="40933688"/>
            <a:ext cx="9380099" cy="637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Holmström, “Growing neural gas with utility,”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2002.</a:t>
            </a:r>
            <a:endParaRPr lang="en-US" sz="1650" dirty="0"/>
          </a:p>
        </p:txBody>
      </p:sp>
      <p:sp>
        <p:nvSpPr>
          <p:cNvPr id="400" name="Text 388"/>
          <p:cNvSpPr/>
          <p:nvPr/>
        </p:nvSpPr>
        <p:spPr>
          <a:xfrm>
            <a:off x="1060450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Coelho et al., “FPGA implementation of self-organizing maps using fixed-point arithmetic,” </a:t>
            </a:r>
            <a:r>
              <a:rPr lang="en-US" sz="1650" i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Signal Process. Syst.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2020.</a:t>
            </a:r>
            <a:endParaRPr lang="en-US" sz="1650" dirty="0"/>
          </a:p>
        </p:txBody>
      </p:sp>
      <p:sp>
        <p:nvSpPr>
          <p:cNvPr id="401" name="Text 389"/>
          <p:cNvSpPr/>
          <p:nvPr/>
        </p:nvSpPr>
        <p:spPr>
          <a:xfrm>
            <a:off x="10586442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[25]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Piyasena et al., dynamically growing SO network (GWR-like) on FPGA for lifelong learning at the edge.</a:t>
            </a:r>
            <a:endParaRPr lang="en-US" sz="1650" dirty="0"/>
          </a:p>
        </p:txBody>
      </p:sp>
      <p:sp>
        <p:nvSpPr>
          <p:cNvPr id="402" name="Text 390"/>
          <p:cNvSpPr/>
          <p:nvPr/>
        </p:nvSpPr>
        <p:spPr>
          <a:xfrm>
            <a:off x="20112435" y="41628222"/>
            <a:ext cx="9380099" cy="650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[26] </a:t>
            </a:r>
            <a:r>
              <a:rPr lang="en-US" sz="165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Firmli et al., compressed sparse row (CSR++) for low-degree-graph memory reduction.</a:t>
            </a:r>
            <a:endParaRPr lang="en-US" sz="1650" dirty="0"/>
          </a:p>
        </p:txBody>
      </p:sp>
      <p:sp>
        <p:nvSpPr>
          <p:cNvPr id="403" name="Text 391"/>
          <p:cNvSpPr/>
          <p:nvPr/>
        </p:nvSpPr>
        <p:spPr>
          <a:xfrm>
            <a:off x="723900" y="42424350"/>
            <a:ext cx="11713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E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Japan Science and Technology Agency (JST), Moonshot R&amp;D Program, grant JPMJMS2034.</a:t>
            </a:r>
            <a:endParaRPr lang="en-US" sz="1800" dirty="0"/>
          </a:p>
        </p:txBody>
      </p:sp>
      <p:sp>
        <p:nvSpPr>
          <p:cNvPr id="404" name="Text 392">
            <a:hlinkClick r:id="rId13"/>
          </p:cNvPr>
          <p:cNvSpPr/>
          <p:nvPr/>
        </p:nvSpPr>
        <p:spPr>
          <a:xfrm>
            <a:off x="27224236" y="42449753"/>
            <a:ext cx="2565023" cy="330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u="sng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</Words>
  <Application>Microsoft Office PowerPoint</Application>
  <PresentationFormat>Custom</PresentationFormat>
  <Paragraphs>242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 New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Teuku Zikri Fatahillah</cp:lastModifiedBy>
  <cp:revision>3</cp:revision>
  <dcterms:created xsi:type="dcterms:W3CDTF">2026-06-18T08:43:33Z</dcterms:created>
  <dcterms:modified xsi:type="dcterms:W3CDTF">2026-06-18T08:53:48Z</dcterms:modified>
</cp:coreProperties>
</file>